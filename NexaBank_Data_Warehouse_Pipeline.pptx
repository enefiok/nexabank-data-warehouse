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day everyone. Today I'm presenting my Data Engineering capstone project: the NexaBank Data Warehouse and Analytics Pipeline. In short, I took messy banking data spread across several raw files and turned it into a clean, centralized warehouse that a Board of Directors can actually use to make decisions. Over the next few minutes I'll walk through the problem, the architecture, the pipeline, the business insights it produces, and where it can go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NexaBank is a multinational bank with 15 branches across 6 countries: Nigeria, Ghana, Kenya, South Africa, the UK and the UAE. Their data lives in five separate raw files, and it is extremely dirty. Dates come in three different formats, numbers contain commas, statuses are misspelled or randomly capitalized, and many values are blank. The result is that the Board has no central, trustworthy source of truth. Hiring analysts to clean this in Excel is slow, error-prone and simply doesn't scale, which is exactly the gap this project fills.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solution is an automated ETL pipeline, built entirely in MySQL. It ingests the raw CSV and TSV files, cleans the messy data, and loads it into a centralized star schema data warehouse called nexabank_dw. It automatically handles more than 20,000 transactions, over 3,000 loans, over 2,000 customers, 1,350 branch performance records and 10 FX rates. There is also an archiving system, the nexabank_history database, which keeps a snapshot of the previous analysis before every reload so nothing is ever lost.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warehouse uses a star schema. Fact tables hold the measurable, quantitative data: fct_transactions with 20,000 rows, fct_loans with 3,000 rows, and fct_branch_daily_metrics with 1,350 rows. Dimension tables hold the descriptive context: dim_customers with 2,000 customers, dim_branches with 15 branches across 6 countries, and dim_fx_rates with 10 exchange rates for multi-currency conversion. Every fact table connects to its dimensions through foreign keys, which keeps queries fast and the data consistent.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follows four steps. Step one, Extract: raw files are loaded into staging tables using LOAD DATA LOCAL INFILE. Staging tables accept everything as VARCHAR text, so a bad value can never break the load. Step two, Transform: SQL cleans the data. REPLACE strips the commas from numbers, STR_TO_DATE with multiple format fallbacks standardizes dates, COALESCE replaces null dates with a 1970-01-01 default, text casing is standardized, and local currencies are converted to USD using the FX rates. Step three, Load: the clean data goes into the production dimension and fact tables with strict data types. Step four, Archive: before each reload, the previous data is copied into nexabank_history with timestamps.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Real-world data is never clean, so the heart of this project is the data quality work. Numbers with commas like 1,500.00 are rejected by MySQL, so I strip them with REPLACE. The same date column contained three different formats, which I handle with regex pattern matching and STR_TO_DATE. Blank dates would crash the load, so COALESCE supplies a safe fallback. Inconsistent casing and spelling in statuses, channels and names is normalized with UPPER, LOWER and TRIM. Finally, multi-currency amounts are converted to USD by joining with the FX rates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to the business intelligence layer. Query 4.1, Branch Revenue Intelligence, shows which branches generate the most revenue. For each branch it compares total credits against total debits and calculates the net position, which is credits minus debits. The top performers are London Canary Wharf, New York Midtown and Dubai DIFC. This gives the Board clear evidence for where to invest more resources.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Query 4.2 is the Loan Portfolio Risk Dashboard. It tracks every loan by status: Active, Fully Paid, Defaulted, Written Off and Restructured. It calculates the recovery rate, meaning how much of the lent money has been repaid, and it flags any branch whose Non-Performing Loan ratio is above 15 percent. With this, the Board can freeze lending in risky branches before the bank loses millions.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Query 4.3 segments customers using the PERCENT_RANK window function. The top 5 percent are Whales, our highest-value customers who deserve premium treatment. The next group, up to the top 25 percent, are Premium customers, ideal for targeted offers. The middle 50 percent are Standard customers, and the bottom 25 percent are Entry-Level, meaning new or low-activity customers. The bar shows the relative size of each tier. This lets the marketing team match the right customers with the right products.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Query 4.4 looks at channel performance, in other words how customers bank: ATM, POS terminal, USSD, mobile and branch. For each channel it calculates the volume share percentage and the average transaction size. This tells leadership which channels customers actually prefer, and therefore where it makes sense to invest in digital infrastructure.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more queries support day-to-day operations. Query 4.7, ATM Downtime Impact, tracks ATM downtime in minutes per branch per month and flags any branch averaging more than 60 minutes as Critical Downtime. Operations can use this to replace underperforming maintenance vendors or upgrade machines. Query 4.8, FX Currency Exposure, shows which currencies the bank handles the most, so the treasury department can manage its currency reserves and avoid losses from exchange-rate movements.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technology stack is deliberately simple. The database is MySQL 8.0. I wrote the code in VS Code with the SQLTools extension, and I execute it in MySQL Workbench because it supports loading files from disk. The whole pipeline is written in SQL, 100 percent. The inputs are five raw files, four CSV and one TSV, and in total the pipeline processes more than 26,360 records across six tables.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Automation is what makes this a pipeline rather than a one-off script. A single Master Script, master_pipeline.sql, does everything in one click. When new data arrives, you drop the new CSV files into the input folder, replacing the old ones, keep exactly the same file names, and run the script in MySQL Workbench. The script archives the old data, wipes the database, loads the new files, cleans the data and runs the analytics. In production, this would be scheduled to run every night at 2:00 AM using a cron job or a scheduler.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 a clear roadmap for improvement. First, Slowly Changing Dimensions Type 2: instead of overwriting a customer's record, keep the history. For example, if income changes from 50 thousand to 80 thousand dollars, keep both records with start and end dates. Second, automated scheduling with nightly cron jobs. Third, a Tableau or Power BI dashboard connected to the warehouse for real-time views. Fourth, a data validation layer that rejects files failing quality checks before they load. And fifth, migrating from local MySQL to AWS RDS or Google Cloud SQL for scalability.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I built a production-ready ETL pipeline that handles real-world messy data. It automatically processed more than 26,360 records from five different sources and delivered eight business intelligence queries covering revenue, risk, customers, channels and operations. It saves the bank from hiring multiple analysts for manual cleaning, and it turns raw, unusable data into a strategic competitive advantage. Thank you for listening, and I'm happy to take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slideLayout" Target="../slideLayouts/slideLayout1.xml"/><Relationship Id="rId1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1.xml"/><Relationship Id="rId7"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F0C"/>
        </a:solidFill>
      </p:bgPr>
    </p:bg>
    <p:spTree>
      <p:nvGrpSpPr>
        <p:cNvPr id="1" name=""/>
        <p:cNvGrpSpPr/>
        <p:nvPr/>
      </p:nvGrpSpPr>
      <p:grpSpPr>
        <a:xfrm>
          <a:off x="0" y="0"/>
          <a:ext cx="0" cy="0"/>
          <a:chOff x="0" y="0"/>
          <a:chExt cx="0" cy="0"/>
        </a:xfrm>
      </p:grpSpPr>
      <p:sp>
        <p:nvSpPr>
          <p:cNvPr id="2" name="Text 0"/>
          <p:cNvSpPr txBox="1"/>
          <p:nvPr/>
        </p:nvSpPr>
        <p:spPr>
          <a:xfrm>
            <a:off x="548640" y="685800"/>
            <a:ext cx="5120640" cy="274320"/>
          </a:xfrm>
          <a:prstGeom prst="rect">
            <a:avLst/>
          </a:prstGeom>
          <a:noFill/>
          <a:ln/>
        </p:spPr>
        <p:txBody>
          <a:bodyPr wrap="square" lIns="0" tIns="0" rIns="0" bIns="0" rtlCol="0" anchor="t"/>
          <a:lstStyle/>
          <a:p>
            <a:pPr indent="0" marL="0">
              <a:buNone/>
            </a:pPr>
            <a:r>
              <a:rPr lang="en-US" sz="1200" b="1" spc="300" kern="0" dirty="0">
                <a:solidFill>
                  <a:srgbClr val="22C55E"/>
                </a:solidFill>
                <a:latin typeface="Calibri" pitchFamily="34" charset="0"/>
                <a:ea typeface="Calibri" pitchFamily="34" charset="-122"/>
                <a:cs typeface="Calibri" pitchFamily="34" charset="-120"/>
              </a:rPr>
              <a:t>DATA ENGINEERING CAPSTONE PROJECT</a:t>
            </a:r>
            <a:endParaRPr lang="en-US" sz="1200" dirty="0"/>
          </a:p>
        </p:txBody>
      </p:sp>
      <p:sp>
        <p:nvSpPr>
          <p:cNvPr id="3" name="Text 1"/>
          <p:cNvSpPr txBox="1"/>
          <p:nvPr/>
        </p:nvSpPr>
        <p:spPr>
          <a:xfrm>
            <a:off x="548640" y="1097280"/>
            <a:ext cx="5120640" cy="169164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NexaBank Data Warehouse &amp; Analytics Pipeline</a:t>
            </a:r>
            <a:endParaRPr lang="en-US" sz="3400" dirty="0"/>
          </a:p>
        </p:txBody>
      </p:sp>
      <p:sp>
        <p:nvSpPr>
          <p:cNvPr id="4" name="Text 2"/>
          <p:cNvSpPr txBox="1"/>
          <p:nvPr/>
        </p:nvSpPr>
        <p:spPr>
          <a:xfrm>
            <a:off x="548640" y="2926080"/>
            <a:ext cx="4846320" cy="777240"/>
          </a:xfrm>
          <a:prstGeom prst="rect">
            <a:avLst/>
          </a:prstGeom>
          <a:noFill/>
          <a:ln/>
        </p:spPr>
        <p:txBody>
          <a:bodyPr wrap="square" lIns="0" tIns="0" rIns="0" bIns="0" rtlCol="0" anchor="t"/>
          <a:lstStyle/>
          <a:p>
            <a:pPr indent="0" marL="0">
              <a:buNone/>
            </a:pPr>
            <a:r>
              <a:rPr lang="en-US" sz="1600" dirty="0">
                <a:solidFill>
                  <a:srgbClr val="86D19B"/>
                </a:solidFill>
                <a:latin typeface="Calibri" pitchFamily="34" charset="0"/>
                <a:ea typeface="Calibri" pitchFamily="34" charset="-122"/>
                <a:cs typeface="Calibri" pitchFamily="34" charset="-120"/>
              </a:rPr>
              <a:t>Transforming Messy, Multi-Source Banking Data into Actionable Business Intelligence</a:t>
            </a:r>
            <a:endParaRPr lang="en-US" sz="1600" dirty="0"/>
          </a:p>
        </p:txBody>
      </p:sp>
      <p:sp>
        <p:nvSpPr>
          <p:cNvPr id="5" name="Text 3"/>
          <p:cNvSpPr txBox="1"/>
          <p:nvPr/>
        </p:nvSpPr>
        <p:spPr>
          <a:xfrm>
            <a:off x="548640" y="4343400"/>
            <a:ext cx="5120640" cy="2743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Data Engineering Capstone   |   September 2026</a:t>
            </a:r>
            <a:endParaRPr lang="en-US" sz="1300" dirty="0"/>
          </a:p>
        </p:txBody>
      </p:sp>
      <p:sp>
        <p:nvSpPr>
          <p:cNvPr id="6" name="Shape 4"/>
          <p:cNvSpPr/>
          <p:nvPr/>
        </p:nvSpPr>
        <p:spPr>
          <a:xfrm>
            <a:off x="5806440" y="1371600"/>
            <a:ext cx="1371600" cy="1188720"/>
          </a:xfrm>
          <a:prstGeom prst="line">
            <a:avLst/>
          </a:prstGeom>
          <a:noFill/>
          <a:ln w="25400">
            <a:solidFill>
              <a:srgbClr val="16A34A"/>
            </a:solidFill>
            <a:prstDash val="solid"/>
          </a:ln>
        </p:spPr>
      </p:sp>
      <p:sp>
        <p:nvSpPr>
          <p:cNvPr id="7" name="Shape 5"/>
          <p:cNvSpPr/>
          <p:nvPr/>
        </p:nvSpPr>
        <p:spPr>
          <a:xfrm flipH="1">
            <a:off x="7178040" y="1371600"/>
            <a:ext cx="1371600" cy="1188720"/>
          </a:xfrm>
          <a:prstGeom prst="line">
            <a:avLst/>
          </a:prstGeom>
          <a:noFill/>
          <a:ln w="25400">
            <a:solidFill>
              <a:srgbClr val="16A34A"/>
            </a:solidFill>
            <a:prstDash val="solid"/>
          </a:ln>
        </p:spPr>
      </p:sp>
      <p:sp>
        <p:nvSpPr>
          <p:cNvPr id="8" name="Shape 6"/>
          <p:cNvSpPr/>
          <p:nvPr/>
        </p:nvSpPr>
        <p:spPr>
          <a:xfrm flipV="1">
            <a:off x="5806440" y="2560320"/>
            <a:ext cx="1371600" cy="1188720"/>
          </a:xfrm>
          <a:prstGeom prst="line">
            <a:avLst/>
          </a:prstGeom>
          <a:noFill/>
          <a:ln w="25400">
            <a:solidFill>
              <a:srgbClr val="16A34A"/>
            </a:solidFill>
            <a:prstDash val="solid"/>
          </a:ln>
        </p:spPr>
      </p:sp>
      <p:sp>
        <p:nvSpPr>
          <p:cNvPr id="9" name="Shape 7"/>
          <p:cNvSpPr/>
          <p:nvPr/>
        </p:nvSpPr>
        <p:spPr>
          <a:xfrm>
            <a:off x="7178040" y="2560320"/>
            <a:ext cx="1371600" cy="1188720"/>
          </a:xfrm>
          <a:prstGeom prst="line">
            <a:avLst/>
          </a:prstGeom>
          <a:noFill/>
          <a:ln w="25400">
            <a:solidFill>
              <a:srgbClr val="16A34A"/>
            </a:solidFill>
            <a:prstDash val="solid"/>
          </a:ln>
        </p:spPr>
      </p:sp>
      <p:sp>
        <p:nvSpPr>
          <p:cNvPr id="10" name="Shape 8"/>
          <p:cNvSpPr/>
          <p:nvPr/>
        </p:nvSpPr>
        <p:spPr>
          <a:xfrm>
            <a:off x="6583680" y="1965960"/>
            <a:ext cx="1188720" cy="1188720"/>
          </a:xfrm>
          <a:prstGeom prst="ellipse">
            <a:avLst/>
          </a:prstGeom>
          <a:solidFill>
            <a:srgbClr val="16A34A"/>
          </a:solidFill>
          <a:ln/>
        </p:spPr>
      </p:sp>
      <p:pic>
        <p:nvPicPr>
          <p:cNvPr id="11" name="Image 0" descr="preencoded.png">    </p:cNvPr>
          <p:cNvPicPr>
            <a:picLocks noChangeAspect="1"/>
          </p:cNvPicPr>
          <p:nvPr/>
        </p:nvPicPr>
        <p:blipFill>
          <a:blip r:embed="rId1"/>
          <a:stretch>
            <a:fillRect/>
          </a:stretch>
        </p:blipFill>
        <p:spPr>
          <a:xfrm>
            <a:off x="6880860" y="2263140"/>
            <a:ext cx="594360" cy="594360"/>
          </a:xfrm>
          <a:prstGeom prst="rect">
            <a:avLst/>
          </a:prstGeom>
        </p:spPr>
      </p:pic>
      <p:sp>
        <p:nvSpPr>
          <p:cNvPr id="12" name="Shape 9"/>
          <p:cNvSpPr/>
          <p:nvPr/>
        </p:nvSpPr>
        <p:spPr>
          <a:xfrm>
            <a:off x="5413248" y="978408"/>
            <a:ext cx="786384" cy="786384"/>
          </a:xfrm>
          <a:prstGeom prst="ellipse">
            <a:avLst/>
          </a:prstGeom>
          <a:solidFill>
            <a:srgbClr val="17201A"/>
          </a:solidFill>
          <a:ln/>
        </p:spPr>
      </p:sp>
      <p:pic>
        <p:nvPicPr>
          <p:cNvPr id="13" name="Image 1" descr="preencoded.png">    </p:cNvPr>
          <p:cNvPicPr>
            <a:picLocks noChangeAspect="1"/>
          </p:cNvPicPr>
          <p:nvPr/>
        </p:nvPicPr>
        <p:blipFill>
          <a:blip r:embed="rId2"/>
          <a:stretch>
            <a:fillRect/>
          </a:stretch>
        </p:blipFill>
        <p:spPr>
          <a:xfrm>
            <a:off x="5609844" y="1175004"/>
            <a:ext cx="393192" cy="393192"/>
          </a:xfrm>
          <a:prstGeom prst="rect">
            <a:avLst/>
          </a:prstGeom>
        </p:spPr>
      </p:pic>
      <p:sp>
        <p:nvSpPr>
          <p:cNvPr id="14" name="Shape 10"/>
          <p:cNvSpPr/>
          <p:nvPr/>
        </p:nvSpPr>
        <p:spPr>
          <a:xfrm>
            <a:off x="8156448" y="978408"/>
            <a:ext cx="786384" cy="786384"/>
          </a:xfrm>
          <a:prstGeom prst="ellipse">
            <a:avLst/>
          </a:prstGeom>
          <a:solidFill>
            <a:srgbClr val="17201A"/>
          </a:solidFill>
          <a:ln/>
        </p:spPr>
      </p:sp>
      <p:pic>
        <p:nvPicPr>
          <p:cNvPr id="15" name="Image 2" descr="preencoded.png">    </p:cNvPr>
          <p:cNvPicPr>
            <a:picLocks noChangeAspect="1"/>
          </p:cNvPicPr>
          <p:nvPr/>
        </p:nvPicPr>
        <p:blipFill>
          <a:blip r:embed="rId3"/>
          <a:stretch>
            <a:fillRect/>
          </a:stretch>
        </p:blipFill>
        <p:spPr>
          <a:xfrm>
            <a:off x="8353044" y="1175004"/>
            <a:ext cx="393192" cy="393192"/>
          </a:xfrm>
          <a:prstGeom prst="rect">
            <a:avLst/>
          </a:prstGeom>
        </p:spPr>
      </p:pic>
      <p:sp>
        <p:nvSpPr>
          <p:cNvPr id="16" name="Shape 11"/>
          <p:cNvSpPr/>
          <p:nvPr/>
        </p:nvSpPr>
        <p:spPr>
          <a:xfrm>
            <a:off x="5413248" y="3355848"/>
            <a:ext cx="786384" cy="786384"/>
          </a:xfrm>
          <a:prstGeom prst="ellipse">
            <a:avLst/>
          </a:prstGeom>
          <a:solidFill>
            <a:srgbClr val="17201A"/>
          </a:solidFill>
          <a:ln/>
        </p:spPr>
      </p:sp>
      <p:pic>
        <p:nvPicPr>
          <p:cNvPr id="17" name="Image 3" descr="preencoded.png">    </p:cNvPr>
          <p:cNvPicPr>
            <a:picLocks noChangeAspect="1"/>
          </p:cNvPicPr>
          <p:nvPr/>
        </p:nvPicPr>
        <p:blipFill>
          <a:blip r:embed="rId4"/>
          <a:stretch>
            <a:fillRect/>
          </a:stretch>
        </p:blipFill>
        <p:spPr>
          <a:xfrm>
            <a:off x="5609844" y="3552444"/>
            <a:ext cx="393192" cy="393192"/>
          </a:xfrm>
          <a:prstGeom prst="rect">
            <a:avLst/>
          </a:prstGeom>
        </p:spPr>
      </p:pic>
      <p:sp>
        <p:nvSpPr>
          <p:cNvPr id="18" name="Shape 12"/>
          <p:cNvSpPr/>
          <p:nvPr/>
        </p:nvSpPr>
        <p:spPr>
          <a:xfrm>
            <a:off x="8156448" y="3355848"/>
            <a:ext cx="786384" cy="786384"/>
          </a:xfrm>
          <a:prstGeom prst="ellipse">
            <a:avLst/>
          </a:prstGeom>
          <a:solidFill>
            <a:srgbClr val="17201A"/>
          </a:solidFill>
          <a:ln/>
        </p:spPr>
      </p:sp>
      <p:pic>
        <p:nvPicPr>
          <p:cNvPr id="19" name="Image 4" descr="preencoded.png">    </p:cNvPr>
          <p:cNvPicPr>
            <a:picLocks noChangeAspect="1"/>
          </p:cNvPicPr>
          <p:nvPr/>
        </p:nvPicPr>
        <p:blipFill>
          <a:blip r:embed="rId5"/>
          <a:stretch>
            <a:fillRect/>
          </a:stretch>
        </p:blipFill>
        <p:spPr>
          <a:xfrm>
            <a:off x="8353044" y="3552444"/>
            <a:ext cx="393192" cy="39319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100" b="1" spc="300" kern="0" dirty="0">
                <a:solidFill>
                  <a:srgbClr val="16A34A"/>
                </a:solidFill>
                <a:latin typeface="Calibri" pitchFamily="34" charset="0"/>
                <a:ea typeface="Calibri" pitchFamily="34" charset="-122"/>
                <a:cs typeface="Calibri" pitchFamily="34" charset="-120"/>
              </a:rPr>
              <a:t>THE PROBLEM</a:t>
            </a:r>
            <a:endParaRPr lang="en-US" sz="11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3200" b="1" dirty="0">
                <a:solidFill>
                  <a:srgbClr val="0A0F0C"/>
                </a:solidFill>
                <a:latin typeface="Cambria" pitchFamily="34" charset="0"/>
                <a:ea typeface="Cambria" pitchFamily="34" charset="-122"/>
                <a:cs typeface="Cambria" pitchFamily="34" charset="-120"/>
              </a:rPr>
              <a:t>The Business Challenge</a:t>
            </a:r>
            <a:endParaRPr lang="en-US" sz="3200" dirty="0"/>
          </a:p>
        </p:txBody>
      </p:sp>
      <p:sp>
        <p:nvSpPr>
          <p:cNvPr id="4" name="Text 2"/>
          <p:cNvSpPr txBox="1"/>
          <p:nvPr/>
        </p:nvSpPr>
        <p:spPr>
          <a:xfrm>
            <a:off x="457200" y="4800600"/>
            <a:ext cx="82296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NexaBank Data Warehouse &amp; Analytics Pipeline   |   2</a:t>
            </a:r>
            <a:endParaRPr lang="en-US" sz="900" dirty="0"/>
          </a:p>
        </p:txBody>
      </p:sp>
      <p:sp>
        <p:nvSpPr>
          <p:cNvPr id="5" name="Shape 3"/>
          <p:cNvSpPr/>
          <p:nvPr/>
        </p:nvSpPr>
        <p:spPr>
          <a:xfrm>
            <a:off x="457200" y="1371600"/>
            <a:ext cx="2560320" cy="868680"/>
          </a:xfrm>
          <a:prstGeom prst="roundRect">
            <a:avLst>
              <a:gd name="adj" fmla="val 8421"/>
            </a:avLst>
          </a:prstGeom>
          <a:solidFill>
            <a:srgbClr val="0A0F0C"/>
          </a:solidFill>
          <a:ln/>
        </p:spPr>
      </p:sp>
      <p:sp>
        <p:nvSpPr>
          <p:cNvPr id="6" name="Text 4"/>
          <p:cNvSpPr txBox="1"/>
          <p:nvPr/>
        </p:nvSpPr>
        <p:spPr>
          <a:xfrm>
            <a:off x="685800" y="1371600"/>
            <a:ext cx="914400" cy="868680"/>
          </a:xfrm>
          <a:prstGeom prst="rect">
            <a:avLst/>
          </a:prstGeom>
          <a:noFill/>
          <a:ln/>
        </p:spPr>
        <p:txBody>
          <a:bodyPr wrap="square" lIns="0" tIns="0" rIns="0" bIns="0" rtlCol="0" anchor="ctr"/>
          <a:lstStyle/>
          <a:p>
            <a:pPr indent="0" marL="0">
              <a:buNone/>
            </a:pPr>
            <a:r>
              <a:rPr lang="en-US" sz="3800" b="1" dirty="0">
                <a:solidFill>
                  <a:srgbClr val="22C55E"/>
                </a:solidFill>
                <a:latin typeface="Cambria" pitchFamily="34" charset="0"/>
                <a:ea typeface="Cambria" pitchFamily="34" charset="-122"/>
                <a:cs typeface="Cambria" pitchFamily="34" charset="-120"/>
              </a:rPr>
              <a:t>15</a:t>
            </a:r>
            <a:endParaRPr lang="en-US" sz="3800" dirty="0"/>
          </a:p>
        </p:txBody>
      </p:sp>
      <p:sp>
        <p:nvSpPr>
          <p:cNvPr id="7" name="Text 5"/>
          <p:cNvSpPr txBox="1"/>
          <p:nvPr/>
        </p:nvSpPr>
        <p:spPr>
          <a:xfrm>
            <a:off x="1371600" y="1371600"/>
            <a:ext cx="1554480" cy="86868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branches</a:t>
            </a:r>
            <a:endParaRPr lang="en-US" sz="1400" dirty="0"/>
          </a:p>
        </p:txBody>
      </p:sp>
      <p:sp>
        <p:nvSpPr>
          <p:cNvPr id="8" name="Shape 6"/>
          <p:cNvSpPr/>
          <p:nvPr/>
        </p:nvSpPr>
        <p:spPr>
          <a:xfrm>
            <a:off x="3291840" y="1371600"/>
            <a:ext cx="2560320" cy="868680"/>
          </a:xfrm>
          <a:prstGeom prst="roundRect">
            <a:avLst>
              <a:gd name="adj" fmla="val 8421"/>
            </a:avLst>
          </a:prstGeom>
          <a:solidFill>
            <a:srgbClr val="0A0F0C"/>
          </a:solidFill>
          <a:ln/>
        </p:spPr>
      </p:sp>
      <p:sp>
        <p:nvSpPr>
          <p:cNvPr id="9" name="Text 7"/>
          <p:cNvSpPr txBox="1"/>
          <p:nvPr/>
        </p:nvSpPr>
        <p:spPr>
          <a:xfrm>
            <a:off x="3520440" y="1371600"/>
            <a:ext cx="914400" cy="868680"/>
          </a:xfrm>
          <a:prstGeom prst="rect">
            <a:avLst/>
          </a:prstGeom>
          <a:noFill/>
          <a:ln/>
        </p:spPr>
        <p:txBody>
          <a:bodyPr wrap="square" lIns="0" tIns="0" rIns="0" bIns="0" rtlCol="0" anchor="ctr"/>
          <a:lstStyle/>
          <a:p>
            <a:pPr indent="0" marL="0">
              <a:buNone/>
            </a:pPr>
            <a:r>
              <a:rPr lang="en-US" sz="3800" b="1" dirty="0">
                <a:solidFill>
                  <a:srgbClr val="22C55E"/>
                </a:solidFill>
                <a:latin typeface="Cambria" pitchFamily="34" charset="0"/>
                <a:ea typeface="Cambria" pitchFamily="34" charset="-122"/>
                <a:cs typeface="Cambria" pitchFamily="34" charset="-120"/>
              </a:rPr>
              <a:t>6</a:t>
            </a:r>
            <a:endParaRPr lang="en-US" sz="3800" dirty="0"/>
          </a:p>
        </p:txBody>
      </p:sp>
      <p:sp>
        <p:nvSpPr>
          <p:cNvPr id="10" name="Text 8"/>
          <p:cNvSpPr txBox="1"/>
          <p:nvPr/>
        </p:nvSpPr>
        <p:spPr>
          <a:xfrm>
            <a:off x="4206240" y="1371600"/>
            <a:ext cx="1554480" cy="86868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countries</a:t>
            </a:r>
            <a:endParaRPr lang="en-US" sz="1400" dirty="0"/>
          </a:p>
        </p:txBody>
      </p:sp>
      <p:sp>
        <p:nvSpPr>
          <p:cNvPr id="11" name="Shape 9"/>
          <p:cNvSpPr/>
          <p:nvPr/>
        </p:nvSpPr>
        <p:spPr>
          <a:xfrm>
            <a:off x="6126480" y="1371600"/>
            <a:ext cx="2560320" cy="868680"/>
          </a:xfrm>
          <a:prstGeom prst="roundRect">
            <a:avLst>
              <a:gd name="adj" fmla="val 8421"/>
            </a:avLst>
          </a:prstGeom>
          <a:solidFill>
            <a:srgbClr val="0A0F0C"/>
          </a:solidFill>
          <a:ln/>
        </p:spPr>
      </p:sp>
      <p:sp>
        <p:nvSpPr>
          <p:cNvPr id="12" name="Text 10"/>
          <p:cNvSpPr txBox="1"/>
          <p:nvPr/>
        </p:nvSpPr>
        <p:spPr>
          <a:xfrm>
            <a:off x="6355080" y="1371600"/>
            <a:ext cx="914400" cy="868680"/>
          </a:xfrm>
          <a:prstGeom prst="rect">
            <a:avLst/>
          </a:prstGeom>
          <a:noFill/>
          <a:ln/>
        </p:spPr>
        <p:txBody>
          <a:bodyPr wrap="square" lIns="0" tIns="0" rIns="0" bIns="0" rtlCol="0" anchor="ctr"/>
          <a:lstStyle/>
          <a:p>
            <a:pPr indent="0" marL="0">
              <a:buNone/>
            </a:pPr>
            <a:r>
              <a:rPr lang="en-US" sz="3800" b="1" dirty="0">
                <a:solidFill>
                  <a:srgbClr val="22C55E"/>
                </a:solidFill>
                <a:latin typeface="Cambria" pitchFamily="34" charset="0"/>
                <a:ea typeface="Cambria" pitchFamily="34" charset="-122"/>
                <a:cs typeface="Cambria" pitchFamily="34" charset="-120"/>
              </a:rPr>
              <a:t>5</a:t>
            </a:r>
            <a:endParaRPr lang="en-US" sz="3800" dirty="0"/>
          </a:p>
        </p:txBody>
      </p:sp>
      <p:sp>
        <p:nvSpPr>
          <p:cNvPr id="13" name="Text 11"/>
          <p:cNvSpPr txBox="1"/>
          <p:nvPr/>
        </p:nvSpPr>
        <p:spPr>
          <a:xfrm>
            <a:off x="7040880" y="1371600"/>
            <a:ext cx="1554480" cy="86868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messy raw files</a:t>
            </a:r>
            <a:endParaRPr lang="en-US" sz="1400" dirty="0"/>
          </a:p>
        </p:txBody>
      </p:sp>
      <p:sp>
        <p:nvSpPr>
          <p:cNvPr id="14" name="Text 12"/>
          <p:cNvSpPr txBox="1"/>
          <p:nvPr/>
        </p:nvSpPr>
        <p:spPr>
          <a:xfrm>
            <a:off x="457200" y="2377440"/>
            <a:ext cx="8229600" cy="274320"/>
          </a:xfrm>
          <a:prstGeom prst="rect">
            <a:avLst/>
          </a:prstGeom>
          <a:noFill/>
          <a:ln/>
        </p:spPr>
        <p:txBody>
          <a:bodyPr wrap="square" lIns="0" tIns="0" rIns="0" bIns="0" rtlCol="0" anchor="t"/>
          <a:lstStyle/>
          <a:p>
            <a:pPr indent="0" marL="0">
              <a:buNone/>
            </a:pPr>
            <a:r>
              <a:rPr lang="en-US" sz="1200" b="1" dirty="0">
                <a:solidFill>
                  <a:srgbClr val="0F6B32"/>
                </a:solidFill>
                <a:latin typeface="Calibri" pitchFamily="34" charset="0"/>
                <a:ea typeface="Calibri" pitchFamily="34" charset="-122"/>
                <a:cs typeface="Calibri" pitchFamily="34" charset="-120"/>
              </a:rPr>
              <a:t>Data trapped in: </a:t>
            </a:r>
            <a:pPr indent="0" marL="0">
              <a:buNone/>
            </a:pPr>
            <a:r>
              <a:rPr lang="en-US" sz="1200" dirty="0">
                <a:solidFill>
                  <a:srgbClr val="4B5563"/>
                </a:solidFill>
                <a:latin typeface="Calibri" pitchFamily="34" charset="0"/>
                <a:ea typeface="Calibri" pitchFamily="34" charset="-122"/>
                <a:cs typeface="Calibri" pitchFamily="34" charset="-120"/>
              </a:rPr>
              <a:t>Core Transactions  ·  Loan Portfolio  ·  Customer KYC  ·  Branch Performance  ·  FX Reference Rates</a:t>
            </a:r>
            <a:endParaRPr lang="en-US" sz="1200" dirty="0"/>
          </a:p>
        </p:txBody>
      </p:sp>
      <p:sp>
        <p:nvSpPr>
          <p:cNvPr id="15" name="Shape 13"/>
          <p:cNvSpPr/>
          <p:nvPr/>
        </p:nvSpPr>
        <p:spPr>
          <a:xfrm>
            <a:off x="457200" y="2788920"/>
            <a:ext cx="5120640" cy="1828800"/>
          </a:xfrm>
          <a:prstGeom prst="roundRect">
            <a:avLst>
              <a:gd name="adj" fmla="val 4000"/>
            </a:avLst>
          </a:prstGeom>
          <a:solidFill>
            <a:srgbClr val="E8F5EC"/>
          </a:solidFill>
          <a:ln/>
        </p:spPr>
      </p:sp>
      <p:sp>
        <p:nvSpPr>
          <p:cNvPr id="16" name="Shape 14"/>
          <p:cNvSpPr/>
          <p:nvPr/>
        </p:nvSpPr>
        <p:spPr>
          <a:xfrm>
            <a:off x="640080" y="2926080"/>
            <a:ext cx="384048" cy="384048"/>
          </a:xfrm>
          <a:prstGeom prst="ellipse">
            <a:avLst/>
          </a:prstGeom>
          <a:solidFill>
            <a:srgbClr val="16A34A"/>
          </a:solidFill>
          <a:ln/>
        </p:spPr>
      </p:sp>
      <p:pic>
        <p:nvPicPr>
          <p:cNvPr id="17" name="Image 0" descr="preencoded.png">    </p:cNvPr>
          <p:cNvPicPr>
            <a:picLocks noChangeAspect="1"/>
          </p:cNvPicPr>
          <p:nvPr/>
        </p:nvPicPr>
        <p:blipFill>
          <a:blip r:embed="rId1"/>
          <a:stretch>
            <a:fillRect/>
          </a:stretch>
        </p:blipFill>
        <p:spPr>
          <a:xfrm>
            <a:off x="736092" y="3022092"/>
            <a:ext cx="192024" cy="192024"/>
          </a:xfrm>
          <a:prstGeom prst="rect">
            <a:avLst/>
          </a:prstGeom>
        </p:spPr>
      </p:pic>
      <p:sp>
        <p:nvSpPr>
          <p:cNvPr id="18" name="Text 15"/>
          <p:cNvSpPr txBox="1"/>
          <p:nvPr/>
        </p:nvSpPr>
        <p:spPr>
          <a:xfrm>
            <a:off x="1143000" y="2926080"/>
            <a:ext cx="4114800" cy="384048"/>
          </a:xfrm>
          <a:prstGeom prst="rect">
            <a:avLst/>
          </a:prstGeom>
          <a:noFill/>
          <a:ln/>
        </p:spPr>
        <p:txBody>
          <a:bodyPr wrap="square" lIns="0" tIns="0" rIns="0" bIns="0" rtlCol="0" anchor="ctr"/>
          <a:lstStyle/>
          <a:p>
            <a:pPr indent="0" marL="0">
              <a:buNone/>
            </a:pPr>
            <a:r>
              <a:rPr lang="en-US" sz="1500" b="1" dirty="0">
                <a:solidFill>
                  <a:srgbClr val="0F6B32"/>
                </a:solidFill>
                <a:latin typeface="Calibri" pitchFamily="34" charset="0"/>
                <a:ea typeface="Calibri" pitchFamily="34" charset="-122"/>
                <a:cs typeface="Calibri" pitchFamily="34" charset="-120"/>
              </a:rPr>
              <a:t>Extremely dirty data</a:t>
            </a:r>
            <a:endParaRPr lang="en-US" sz="1500" dirty="0"/>
          </a:p>
        </p:txBody>
      </p:sp>
      <p:sp>
        <p:nvSpPr>
          <p:cNvPr id="19" name="Text 16"/>
          <p:cNvSpPr txBox="1"/>
          <p:nvPr/>
        </p:nvSpPr>
        <p:spPr>
          <a:xfrm>
            <a:off x="685800" y="3474720"/>
            <a:ext cx="4754880" cy="109728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rgbClr val="0A0F0C"/>
                </a:solidFill>
                <a:latin typeface="Calibri" pitchFamily="34" charset="0"/>
                <a:ea typeface="Calibri" pitchFamily="34" charset="-122"/>
                <a:cs typeface="Calibri" pitchFamily="34" charset="-120"/>
              </a:rPr>
              <a:t>Mixed date formats: YYYY-MM-DD, DD-Mon-YYYY, MM/DD/YYYY</a:t>
            </a:r>
            <a:endParaRPr lang="en-US" sz="1200" dirty="0"/>
          </a:p>
          <a:p>
            <a:pPr marL="177800" indent="-177800">
              <a:spcAft>
                <a:spcPts val="500"/>
              </a:spcAft>
              <a:buSzPct val="100000"/>
              <a:buChar char="•"/>
            </a:pPr>
            <a:r>
              <a:rPr lang="en-US" sz="1200" dirty="0">
                <a:solidFill>
                  <a:srgbClr val="0A0F0C"/>
                </a:solidFill>
                <a:latin typeface="Calibri" pitchFamily="34" charset="0"/>
                <a:ea typeface="Calibri" pitchFamily="34" charset="-122"/>
                <a:cs typeface="Calibri" pitchFamily="34" charset="-120"/>
              </a:rPr>
              <a:t>Numbers stored as text with commas, e.g. "1,500.00"</a:t>
            </a:r>
            <a:endParaRPr lang="en-US" sz="1200" dirty="0"/>
          </a:p>
          <a:p>
            <a:pPr marL="177800" indent="-177800">
              <a:spcAft>
                <a:spcPts val="500"/>
              </a:spcAft>
              <a:buSzPct val="100000"/>
              <a:buChar char="•"/>
            </a:pPr>
            <a:r>
              <a:rPr lang="en-US" sz="1200" dirty="0">
                <a:solidFill>
                  <a:srgbClr val="0A0F0C"/>
                </a:solidFill>
                <a:latin typeface="Calibri" pitchFamily="34" charset="0"/>
                <a:ea typeface="Calibri" pitchFamily="34" charset="-122"/>
                <a:cs typeface="Calibri" pitchFamily="34" charset="-120"/>
              </a:rPr>
              <a:t>Misspelled statuses: vErIfIeD, FAILED, under review</a:t>
            </a:r>
            <a:endParaRPr lang="en-US" sz="1200" dirty="0"/>
          </a:p>
          <a:p>
            <a:pPr marL="177800" indent="-177800">
              <a:spcAft>
                <a:spcPts val="500"/>
              </a:spcAft>
              <a:buSzPct val="100000"/>
              <a:buChar char="•"/>
            </a:pPr>
            <a:r>
              <a:rPr lang="en-US" sz="1200" dirty="0">
                <a:solidFill>
                  <a:srgbClr val="0A0F0C"/>
                </a:solidFill>
                <a:latin typeface="Calibri" pitchFamily="34" charset="0"/>
                <a:ea typeface="Calibri" pitchFamily="34" charset="-122"/>
                <a:cs typeface="Calibri" pitchFamily="34" charset="-120"/>
              </a:rPr>
              <a:t>Blank and null values</a:t>
            </a:r>
            <a:endParaRPr lang="en-US" sz="1200" dirty="0"/>
          </a:p>
        </p:txBody>
      </p:sp>
      <p:sp>
        <p:nvSpPr>
          <p:cNvPr id="20" name="Shape 17"/>
          <p:cNvSpPr/>
          <p:nvPr/>
        </p:nvSpPr>
        <p:spPr>
          <a:xfrm>
            <a:off x="5760720" y="2788920"/>
            <a:ext cx="2926080" cy="1828800"/>
          </a:xfrm>
          <a:prstGeom prst="roundRect">
            <a:avLst>
              <a:gd name="adj" fmla="val 4000"/>
            </a:avLst>
          </a:prstGeom>
          <a:solidFill>
            <a:srgbClr val="0A0F0C"/>
          </a:solidFill>
          <a:ln/>
        </p:spPr>
      </p:sp>
      <p:sp>
        <p:nvSpPr>
          <p:cNvPr id="21" name="Shape 18"/>
          <p:cNvSpPr/>
          <p:nvPr/>
        </p:nvSpPr>
        <p:spPr>
          <a:xfrm>
            <a:off x="5943600" y="2926080"/>
            <a:ext cx="384048" cy="384048"/>
          </a:xfrm>
          <a:prstGeom prst="ellipse">
            <a:avLst/>
          </a:prstGeom>
          <a:solidFill>
            <a:srgbClr val="16A34A"/>
          </a:solidFill>
          <a:ln/>
        </p:spPr>
      </p:sp>
      <p:pic>
        <p:nvPicPr>
          <p:cNvPr id="22" name="Image 1" descr="preencoded.png">    </p:cNvPr>
          <p:cNvPicPr>
            <a:picLocks noChangeAspect="1"/>
          </p:cNvPicPr>
          <p:nvPr/>
        </p:nvPicPr>
        <p:blipFill>
          <a:blip r:embed="rId2"/>
          <a:stretch>
            <a:fillRect/>
          </a:stretch>
        </p:blipFill>
        <p:spPr>
          <a:xfrm>
            <a:off x="6039612" y="3022092"/>
            <a:ext cx="192024" cy="192024"/>
          </a:xfrm>
          <a:prstGeom prst="rect">
            <a:avLst/>
          </a:prstGeom>
        </p:spPr>
      </p:pic>
      <p:sp>
        <p:nvSpPr>
          <p:cNvPr id="23" name="Text 19"/>
          <p:cNvSpPr txBox="1"/>
          <p:nvPr/>
        </p:nvSpPr>
        <p:spPr>
          <a:xfrm>
            <a:off x="6446520" y="2926080"/>
            <a:ext cx="2103120" cy="384048"/>
          </a:xfrm>
          <a:prstGeom prst="rect">
            <a:avLst/>
          </a:prstGeom>
          <a:noFill/>
          <a:ln/>
        </p:spPr>
        <p:txBody>
          <a:bodyPr wrap="square" lIns="0" tIns="0" rIns="0" bIns="0" rtlCol="0" anchor="ctr"/>
          <a:lstStyle/>
          <a:p>
            <a:pPr indent="0" marL="0">
              <a:buNone/>
            </a:pPr>
            <a:r>
              <a:rPr lang="en-US" sz="1500" b="1" dirty="0">
                <a:solidFill>
                  <a:srgbClr val="22C55E"/>
                </a:solidFill>
                <a:latin typeface="Calibri" pitchFamily="34" charset="0"/>
                <a:ea typeface="Calibri" pitchFamily="34" charset="-122"/>
                <a:cs typeface="Calibri" pitchFamily="34" charset="-120"/>
              </a:rPr>
              <a:t>Business impact</a:t>
            </a:r>
            <a:endParaRPr lang="en-US" sz="1500" dirty="0"/>
          </a:p>
        </p:txBody>
      </p:sp>
      <p:sp>
        <p:nvSpPr>
          <p:cNvPr id="24" name="Text 20"/>
          <p:cNvSpPr txBox="1"/>
          <p:nvPr/>
        </p:nvSpPr>
        <p:spPr>
          <a:xfrm>
            <a:off x="5989320" y="3474720"/>
            <a:ext cx="2560320" cy="109728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No single source of truth for the Board</a:t>
            </a:r>
            <a:endParaRPr lang="en-US" sz="1200" dirty="0"/>
          </a:p>
          <a:p>
            <a:pPr marL="177800" indent="-1778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Manual Excel cleaning is slow, error-prone and does not scale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100" b="1" spc="300" kern="0" dirty="0">
                <a:solidFill>
                  <a:srgbClr val="16A34A"/>
                </a:solidFill>
                <a:latin typeface="Calibri" pitchFamily="34" charset="0"/>
                <a:ea typeface="Calibri" pitchFamily="34" charset="-122"/>
                <a:cs typeface="Calibri" pitchFamily="34" charset="-120"/>
              </a:rPr>
              <a:t>THE SOLUTION</a:t>
            </a:r>
            <a:endParaRPr lang="en-US" sz="11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3200" b="1" dirty="0">
                <a:solidFill>
                  <a:srgbClr val="0A0F0C"/>
                </a:solidFill>
                <a:latin typeface="Cambria" pitchFamily="34" charset="0"/>
                <a:ea typeface="Cambria" pitchFamily="34" charset="-122"/>
                <a:cs typeface="Cambria" pitchFamily="34" charset="-120"/>
              </a:rPr>
              <a:t>Solution Overview</a:t>
            </a:r>
            <a:endParaRPr lang="en-US" sz="3200" dirty="0"/>
          </a:p>
        </p:txBody>
      </p:sp>
      <p:sp>
        <p:nvSpPr>
          <p:cNvPr id="4" name="Text 2"/>
          <p:cNvSpPr txBox="1"/>
          <p:nvPr/>
        </p:nvSpPr>
        <p:spPr>
          <a:xfrm>
            <a:off x="457200" y="4800600"/>
            <a:ext cx="82296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NexaBank Data Warehouse &amp; Analytics Pipeline   |   3</a:t>
            </a:r>
            <a:endParaRPr lang="en-US" sz="900" dirty="0"/>
          </a:p>
        </p:txBody>
      </p:sp>
      <p:sp>
        <p:nvSpPr>
          <p:cNvPr id="5" name="Shape 3"/>
          <p:cNvSpPr/>
          <p:nvPr/>
        </p:nvSpPr>
        <p:spPr>
          <a:xfrm>
            <a:off x="457200" y="1371600"/>
            <a:ext cx="1783080" cy="1051560"/>
          </a:xfrm>
          <a:prstGeom prst="roundRect">
            <a:avLst>
              <a:gd name="adj" fmla="val 6957"/>
            </a:avLst>
          </a:prstGeom>
          <a:solidFill>
            <a:srgbClr val="E8F5EC"/>
          </a:solidFill>
          <a:ln/>
        </p:spPr>
      </p:sp>
      <p:sp>
        <p:nvSpPr>
          <p:cNvPr id="6" name="Shape 4"/>
          <p:cNvSpPr/>
          <p:nvPr/>
        </p:nvSpPr>
        <p:spPr>
          <a:xfrm>
            <a:off x="594360" y="1691640"/>
            <a:ext cx="420624" cy="420624"/>
          </a:xfrm>
          <a:prstGeom prst="ellipse">
            <a:avLst/>
          </a:prstGeom>
          <a:solidFill>
            <a:srgbClr val="16A34A"/>
          </a:solidFill>
          <a:ln/>
        </p:spPr>
      </p:sp>
      <p:pic>
        <p:nvPicPr>
          <p:cNvPr id="7" name="Image 0" descr="preencoded.png">    </p:cNvPr>
          <p:cNvPicPr>
            <a:picLocks noChangeAspect="1"/>
          </p:cNvPicPr>
          <p:nvPr/>
        </p:nvPicPr>
        <p:blipFill>
          <a:blip r:embed="rId1"/>
          <a:stretch>
            <a:fillRect/>
          </a:stretch>
        </p:blipFill>
        <p:spPr>
          <a:xfrm>
            <a:off x="699516" y="1796796"/>
            <a:ext cx="210312" cy="210312"/>
          </a:xfrm>
          <a:prstGeom prst="rect">
            <a:avLst/>
          </a:prstGeom>
        </p:spPr>
      </p:pic>
      <p:sp>
        <p:nvSpPr>
          <p:cNvPr id="8" name="Text 5"/>
          <p:cNvSpPr txBox="1"/>
          <p:nvPr/>
        </p:nvSpPr>
        <p:spPr>
          <a:xfrm>
            <a:off x="1115568" y="1371600"/>
            <a:ext cx="1051560" cy="1051560"/>
          </a:xfrm>
          <a:prstGeom prst="rect">
            <a:avLst/>
          </a:prstGeom>
          <a:noFill/>
          <a:ln/>
        </p:spPr>
        <p:txBody>
          <a:bodyPr wrap="square" lIns="0" tIns="0" rIns="0" bIns="0" rtlCol="0" anchor="ctr"/>
          <a:lstStyle/>
          <a:p>
            <a:pPr indent="0" marL="0">
              <a:buNone/>
            </a:pPr>
            <a:r>
              <a:rPr lang="en-US" sz="1150" b="1" dirty="0">
                <a:solidFill>
                  <a:srgbClr val="0A0F0C"/>
                </a:solidFill>
                <a:latin typeface="Calibri" pitchFamily="34" charset="0"/>
                <a:ea typeface="Calibri" pitchFamily="34" charset="-122"/>
                <a:cs typeface="Calibri" pitchFamily="34" charset="-120"/>
              </a:rPr>
              <a:t>Raw CSV / TSV files</a:t>
            </a:r>
            <a:endParaRPr lang="en-US" sz="1150" dirty="0"/>
          </a:p>
        </p:txBody>
      </p:sp>
      <p:sp>
        <p:nvSpPr>
          <p:cNvPr id="9" name="Shape 6"/>
          <p:cNvSpPr/>
          <p:nvPr/>
        </p:nvSpPr>
        <p:spPr>
          <a:xfrm>
            <a:off x="2286000" y="1773936"/>
            <a:ext cx="274320" cy="256032"/>
          </a:xfrm>
          <a:prstGeom prst="rightArrow">
            <a:avLst/>
          </a:prstGeom>
          <a:solidFill>
            <a:srgbClr val="16A34A"/>
          </a:solidFill>
          <a:ln/>
        </p:spPr>
      </p:sp>
      <p:sp>
        <p:nvSpPr>
          <p:cNvPr id="10" name="Shape 7"/>
          <p:cNvSpPr/>
          <p:nvPr/>
        </p:nvSpPr>
        <p:spPr>
          <a:xfrm>
            <a:off x="2606040" y="1371600"/>
            <a:ext cx="1783080" cy="1051560"/>
          </a:xfrm>
          <a:prstGeom prst="roundRect">
            <a:avLst>
              <a:gd name="adj" fmla="val 6957"/>
            </a:avLst>
          </a:prstGeom>
          <a:solidFill>
            <a:srgbClr val="E8F5EC"/>
          </a:solidFill>
          <a:ln/>
        </p:spPr>
      </p:sp>
      <p:sp>
        <p:nvSpPr>
          <p:cNvPr id="11" name="Shape 8"/>
          <p:cNvSpPr/>
          <p:nvPr/>
        </p:nvSpPr>
        <p:spPr>
          <a:xfrm>
            <a:off x="2743200" y="1691640"/>
            <a:ext cx="420624" cy="420624"/>
          </a:xfrm>
          <a:prstGeom prst="ellipse">
            <a:avLst/>
          </a:prstGeom>
          <a:solidFill>
            <a:srgbClr val="16A34A"/>
          </a:solidFill>
          <a:ln/>
        </p:spPr>
      </p:sp>
      <p:pic>
        <p:nvPicPr>
          <p:cNvPr id="12" name="Image 1" descr="preencoded.png">    </p:cNvPr>
          <p:cNvPicPr>
            <a:picLocks noChangeAspect="1"/>
          </p:cNvPicPr>
          <p:nvPr/>
        </p:nvPicPr>
        <p:blipFill>
          <a:blip r:embed="rId2"/>
          <a:stretch>
            <a:fillRect/>
          </a:stretch>
        </p:blipFill>
        <p:spPr>
          <a:xfrm>
            <a:off x="2848356" y="1796796"/>
            <a:ext cx="210312" cy="210312"/>
          </a:xfrm>
          <a:prstGeom prst="rect">
            <a:avLst/>
          </a:prstGeom>
        </p:spPr>
      </p:pic>
      <p:sp>
        <p:nvSpPr>
          <p:cNvPr id="13" name="Text 9"/>
          <p:cNvSpPr txBox="1"/>
          <p:nvPr/>
        </p:nvSpPr>
        <p:spPr>
          <a:xfrm>
            <a:off x="3264408" y="1371600"/>
            <a:ext cx="1051560" cy="1051560"/>
          </a:xfrm>
          <a:prstGeom prst="rect">
            <a:avLst/>
          </a:prstGeom>
          <a:noFill/>
          <a:ln/>
        </p:spPr>
        <p:txBody>
          <a:bodyPr wrap="square" lIns="0" tIns="0" rIns="0" bIns="0" rtlCol="0" anchor="ctr"/>
          <a:lstStyle/>
          <a:p>
            <a:pPr indent="0" marL="0">
              <a:buNone/>
            </a:pPr>
            <a:r>
              <a:rPr lang="en-US" sz="1150" b="1" dirty="0">
                <a:solidFill>
                  <a:srgbClr val="0A0F0C"/>
                </a:solidFill>
                <a:latin typeface="Calibri" pitchFamily="34" charset="0"/>
                <a:ea typeface="Calibri" pitchFamily="34" charset="-122"/>
                <a:cs typeface="Calibri" pitchFamily="34" charset="-120"/>
              </a:rPr>
              <a:t>Staging tables (stg_*)</a:t>
            </a:r>
            <a:endParaRPr lang="en-US" sz="1150" dirty="0"/>
          </a:p>
        </p:txBody>
      </p:sp>
      <p:sp>
        <p:nvSpPr>
          <p:cNvPr id="14" name="Shape 10"/>
          <p:cNvSpPr/>
          <p:nvPr/>
        </p:nvSpPr>
        <p:spPr>
          <a:xfrm>
            <a:off x="4434840" y="1773936"/>
            <a:ext cx="274320" cy="256032"/>
          </a:xfrm>
          <a:prstGeom prst="rightArrow">
            <a:avLst/>
          </a:prstGeom>
          <a:solidFill>
            <a:srgbClr val="16A34A"/>
          </a:solidFill>
          <a:ln/>
        </p:spPr>
      </p:sp>
      <p:sp>
        <p:nvSpPr>
          <p:cNvPr id="15" name="Shape 11"/>
          <p:cNvSpPr/>
          <p:nvPr/>
        </p:nvSpPr>
        <p:spPr>
          <a:xfrm>
            <a:off x="4754880" y="1371600"/>
            <a:ext cx="1783080" cy="1051560"/>
          </a:xfrm>
          <a:prstGeom prst="roundRect">
            <a:avLst>
              <a:gd name="adj" fmla="val 6957"/>
            </a:avLst>
          </a:prstGeom>
          <a:solidFill>
            <a:srgbClr val="E8F5EC"/>
          </a:solidFill>
          <a:ln/>
        </p:spPr>
      </p:sp>
      <p:sp>
        <p:nvSpPr>
          <p:cNvPr id="16" name="Shape 12"/>
          <p:cNvSpPr/>
          <p:nvPr/>
        </p:nvSpPr>
        <p:spPr>
          <a:xfrm>
            <a:off x="4892040" y="1691640"/>
            <a:ext cx="420624" cy="420624"/>
          </a:xfrm>
          <a:prstGeom prst="ellipse">
            <a:avLst/>
          </a:prstGeom>
          <a:solidFill>
            <a:srgbClr val="16A34A"/>
          </a:solidFill>
          <a:ln/>
        </p:spPr>
      </p:sp>
      <p:pic>
        <p:nvPicPr>
          <p:cNvPr id="17" name="Image 2" descr="preencoded.png">    </p:cNvPr>
          <p:cNvPicPr>
            <a:picLocks noChangeAspect="1"/>
          </p:cNvPicPr>
          <p:nvPr/>
        </p:nvPicPr>
        <p:blipFill>
          <a:blip r:embed="rId3"/>
          <a:stretch>
            <a:fillRect/>
          </a:stretch>
        </p:blipFill>
        <p:spPr>
          <a:xfrm>
            <a:off x="4997196" y="1796796"/>
            <a:ext cx="210312" cy="210312"/>
          </a:xfrm>
          <a:prstGeom prst="rect">
            <a:avLst/>
          </a:prstGeom>
        </p:spPr>
      </p:pic>
      <p:sp>
        <p:nvSpPr>
          <p:cNvPr id="18" name="Text 13"/>
          <p:cNvSpPr txBox="1"/>
          <p:nvPr/>
        </p:nvSpPr>
        <p:spPr>
          <a:xfrm>
            <a:off x="5413248" y="1371600"/>
            <a:ext cx="1051560" cy="1051560"/>
          </a:xfrm>
          <a:prstGeom prst="rect">
            <a:avLst/>
          </a:prstGeom>
          <a:noFill/>
          <a:ln/>
        </p:spPr>
        <p:txBody>
          <a:bodyPr wrap="square" lIns="0" tIns="0" rIns="0" bIns="0" rtlCol="0" anchor="ctr"/>
          <a:lstStyle/>
          <a:p>
            <a:pPr indent="0" marL="0">
              <a:buNone/>
            </a:pPr>
            <a:r>
              <a:rPr lang="en-US" sz="1150" b="1" dirty="0">
                <a:solidFill>
                  <a:srgbClr val="0A0F0C"/>
                </a:solidFill>
                <a:latin typeface="Calibri" pitchFamily="34" charset="0"/>
                <a:ea typeface="Calibri" pitchFamily="34" charset="-122"/>
                <a:cs typeface="Calibri" pitchFamily="34" charset="-120"/>
              </a:rPr>
              <a:t>Star schema warehouse nexabank_dw</a:t>
            </a:r>
            <a:endParaRPr lang="en-US" sz="1150" dirty="0"/>
          </a:p>
        </p:txBody>
      </p:sp>
      <p:sp>
        <p:nvSpPr>
          <p:cNvPr id="19" name="Shape 14"/>
          <p:cNvSpPr/>
          <p:nvPr/>
        </p:nvSpPr>
        <p:spPr>
          <a:xfrm>
            <a:off x="6583680" y="1773936"/>
            <a:ext cx="274320" cy="256032"/>
          </a:xfrm>
          <a:prstGeom prst="rightArrow">
            <a:avLst/>
          </a:prstGeom>
          <a:solidFill>
            <a:srgbClr val="16A34A"/>
          </a:solidFill>
          <a:ln/>
        </p:spPr>
      </p:sp>
      <p:sp>
        <p:nvSpPr>
          <p:cNvPr id="20" name="Shape 15"/>
          <p:cNvSpPr/>
          <p:nvPr/>
        </p:nvSpPr>
        <p:spPr>
          <a:xfrm>
            <a:off x="6903720" y="1371600"/>
            <a:ext cx="1783080" cy="1051560"/>
          </a:xfrm>
          <a:prstGeom prst="roundRect">
            <a:avLst>
              <a:gd name="adj" fmla="val 6957"/>
            </a:avLst>
          </a:prstGeom>
          <a:solidFill>
            <a:srgbClr val="E8F5EC"/>
          </a:solidFill>
          <a:ln/>
        </p:spPr>
      </p:sp>
      <p:sp>
        <p:nvSpPr>
          <p:cNvPr id="21" name="Shape 16"/>
          <p:cNvSpPr/>
          <p:nvPr/>
        </p:nvSpPr>
        <p:spPr>
          <a:xfrm>
            <a:off x="7040880" y="1691640"/>
            <a:ext cx="420624" cy="420624"/>
          </a:xfrm>
          <a:prstGeom prst="ellipse">
            <a:avLst/>
          </a:prstGeom>
          <a:solidFill>
            <a:srgbClr val="16A34A"/>
          </a:solidFill>
          <a:ln/>
        </p:spPr>
      </p:sp>
      <p:pic>
        <p:nvPicPr>
          <p:cNvPr id="22" name="Image 3" descr="preencoded.png">    </p:cNvPr>
          <p:cNvPicPr>
            <a:picLocks noChangeAspect="1"/>
          </p:cNvPicPr>
          <p:nvPr/>
        </p:nvPicPr>
        <p:blipFill>
          <a:blip r:embed="rId4"/>
          <a:stretch>
            <a:fillRect/>
          </a:stretch>
        </p:blipFill>
        <p:spPr>
          <a:xfrm>
            <a:off x="7146036" y="1796796"/>
            <a:ext cx="210312" cy="210312"/>
          </a:xfrm>
          <a:prstGeom prst="rect">
            <a:avLst/>
          </a:prstGeom>
        </p:spPr>
      </p:pic>
      <p:sp>
        <p:nvSpPr>
          <p:cNvPr id="23" name="Text 17"/>
          <p:cNvSpPr txBox="1"/>
          <p:nvPr/>
        </p:nvSpPr>
        <p:spPr>
          <a:xfrm>
            <a:off x="7562088" y="1371600"/>
            <a:ext cx="1051560" cy="1051560"/>
          </a:xfrm>
          <a:prstGeom prst="rect">
            <a:avLst/>
          </a:prstGeom>
          <a:noFill/>
          <a:ln/>
        </p:spPr>
        <p:txBody>
          <a:bodyPr wrap="square" lIns="0" tIns="0" rIns="0" bIns="0" rtlCol="0" anchor="ctr"/>
          <a:lstStyle/>
          <a:p>
            <a:pPr indent="0" marL="0">
              <a:buNone/>
            </a:pPr>
            <a:r>
              <a:rPr lang="en-US" sz="1150" b="1" dirty="0">
                <a:solidFill>
                  <a:srgbClr val="0A0F0C"/>
                </a:solidFill>
                <a:latin typeface="Calibri" pitchFamily="34" charset="0"/>
                <a:ea typeface="Calibri" pitchFamily="34" charset="-122"/>
                <a:cs typeface="Calibri" pitchFamily="34" charset="-120"/>
              </a:rPr>
              <a:t>Business intelligence queries</a:t>
            </a:r>
            <a:endParaRPr lang="en-US" sz="1150" dirty="0"/>
          </a:p>
        </p:txBody>
      </p:sp>
      <p:sp>
        <p:nvSpPr>
          <p:cNvPr id="24" name="Shape 18"/>
          <p:cNvSpPr/>
          <p:nvPr/>
        </p:nvSpPr>
        <p:spPr>
          <a:xfrm>
            <a:off x="457200" y="2697480"/>
            <a:ext cx="1536192" cy="1005840"/>
          </a:xfrm>
          <a:prstGeom prst="roundRect">
            <a:avLst>
              <a:gd name="adj" fmla="val 7273"/>
            </a:avLst>
          </a:prstGeom>
          <a:solidFill>
            <a:srgbClr val="FFFFFF"/>
          </a:solidFill>
          <a:ln w="12700">
            <a:solidFill>
              <a:srgbClr val="CFE6D6"/>
            </a:solidFill>
            <a:prstDash val="solid"/>
          </a:ln>
        </p:spPr>
      </p:sp>
      <p:sp>
        <p:nvSpPr>
          <p:cNvPr id="25" name="Text 19"/>
          <p:cNvSpPr txBox="1"/>
          <p:nvPr/>
        </p:nvSpPr>
        <p:spPr>
          <a:xfrm>
            <a:off x="457200" y="2788920"/>
            <a:ext cx="1536192" cy="502920"/>
          </a:xfrm>
          <a:prstGeom prst="rect">
            <a:avLst/>
          </a:prstGeom>
          <a:noFill/>
          <a:ln/>
        </p:spPr>
        <p:txBody>
          <a:bodyPr wrap="square" lIns="0" tIns="0" rIns="0" bIns="0" rtlCol="0" anchor="ctr"/>
          <a:lstStyle/>
          <a:p>
            <a:pPr algn="ctr" indent="0" marL="0">
              <a:buNone/>
            </a:pPr>
            <a:r>
              <a:rPr lang="en-US" sz="2400" b="1" dirty="0">
                <a:solidFill>
                  <a:srgbClr val="0F6B32"/>
                </a:solidFill>
                <a:latin typeface="Cambria" pitchFamily="34" charset="0"/>
                <a:ea typeface="Cambria" pitchFamily="34" charset="-122"/>
                <a:cs typeface="Cambria" pitchFamily="34" charset="-120"/>
              </a:rPr>
              <a:t>20,000+</a:t>
            </a:r>
            <a:endParaRPr lang="en-US" sz="2400" dirty="0"/>
          </a:p>
        </p:txBody>
      </p:sp>
      <p:sp>
        <p:nvSpPr>
          <p:cNvPr id="26" name="Text 20"/>
          <p:cNvSpPr txBox="1"/>
          <p:nvPr/>
        </p:nvSpPr>
        <p:spPr>
          <a:xfrm>
            <a:off x="457200" y="3291840"/>
            <a:ext cx="1536192" cy="274320"/>
          </a:xfrm>
          <a:prstGeom prst="rect">
            <a:avLst/>
          </a:prstGeom>
          <a:noFill/>
          <a:ln/>
        </p:spPr>
        <p:txBody>
          <a:bodyPr wrap="square" lIns="0" tIns="0" rIns="0" bIns="0" rtlCol="0" anchor="t"/>
          <a:lstStyle/>
          <a:p>
            <a:pPr algn="ctr" indent="0" marL="0">
              <a:buNone/>
            </a:pPr>
            <a:r>
              <a:rPr lang="en-US" sz="1200" dirty="0">
                <a:solidFill>
                  <a:srgbClr val="4B5563"/>
                </a:solidFill>
                <a:latin typeface="Calibri" pitchFamily="34" charset="0"/>
                <a:ea typeface="Calibri" pitchFamily="34" charset="-122"/>
                <a:cs typeface="Calibri" pitchFamily="34" charset="-120"/>
              </a:rPr>
              <a:t>transactions</a:t>
            </a:r>
            <a:endParaRPr lang="en-US" sz="1200" dirty="0"/>
          </a:p>
        </p:txBody>
      </p:sp>
      <p:sp>
        <p:nvSpPr>
          <p:cNvPr id="27" name="Shape 21"/>
          <p:cNvSpPr/>
          <p:nvPr/>
        </p:nvSpPr>
        <p:spPr>
          <a:xfrm>
            <a:off x="2130552" y="2697480"/>
            <a:ext cx="1536192" cy="1005840"/>
          </a:xfrm>
          <a:prstGeom prst="roundRect">
            <a:avLst>
              <a:gd name="adj" fmla="val 7273"/>
            </a:avLst>
          </a:prstGeom>
          <a:solidFill>
            <a:srgbClr val="FFFFFF"/>
          </a:solidFill>
          <a:ln w="12700">
            <a:solidFill>
              <a:srgbClr val="CFE6D6"/>
            </a:solidFill>
            <a:prstDash val="solid"/>
          </a:ln>
        </p:spPr>
      </p:sp>
      <p:sp>
        <p:nvSpPr>
          <p:cNvPr id="28" name="Text 22"/>
          <p:cNvSpPr txBox="1"/>
          <p:nvPr/>
        </p:nvSpPr>
        <p:spPr>
          <a:xfrm>
            <a:off x="2130552" y="2788920"/>
            <a:ext cx="1536192" cy="502920"/>
          </a:xfrm>
          <a:prstGeom prst="rect">
            <a:avLst/>
          </a:prstGeom>
          <a:noFill/>
          <a:ln/>
        </p:spPr>
        <p:txBody>
          <a:bodyPr wrap="square" lIns="0" tIns="0" rIns="0" bIns="0" rtlCol="0" anchor="ctr"/>
          <a:lstStyle/>
          <a:p>
            <a:pPr algn="ctr" indent="0" marL="0">
              <a:buNone/>
            </a:pPr>
            <a:r>
              <a:rPr lang="en-US" sz="2400" b="1" dirty="0">
                <a:solidFill>
                  <a:srgbClr val="0F6B32"/>
                </a:solidFill>
                <a:latin typeface="Cambria" pitchFamily="34" charset="0"/>
                <a:ea typeface="Cambria" pitchFamily="34" charset="-122"/>
                <a:cs typeface="Cambria" pitchFamily="34" charset="-120"/>
              </a:rPr>
              <a:t>3,000+</a:t>
            </a:r>
            <a:endParaRPr lang="en-US" sz="2400" dirty="0"/>
          </a:p>
        </p:txBody>
      </p:sp>
      <p:sp>
        <p:nvSpPr>
          <p:cNvPr id="29" name="Text 23"/>
          <p:cNvSpPr txBox="1"/>
          <p:nvPr/>
        </p:nvSpPr>
        <p:spPr>
          <a:xfrm>
            <a:off x="2130552" y="3291840"/>
            <a:ext cx="1536192" cy="274320"/>
          </a:xfrm>
          <a:prstGeom prst="rect">
            <a:avLst/>
          </a:prstGeom>
          <a:noFill/>
          <a:ln/>
        </p:spPr>
        <p:txBody>
          <a:bodyPr wrap="square" lIns="0" tIns="0" rIns="0" bIns="0" rtlCol="0" anchor="t"/>
          <a:lstStyle/>
          <a:p>
            <a:pPr algn="ctr" indent="0" marL="0">
              <a:buNone/>
            </a:pPr>
            <a:r>
              <a:rPr lang="en-US" sz="1200" dirty="0">
                <a:solidFill>
                  <a:srgbClr val="4B5563"/>
                </a:solidFill>
                <a:latin typeface="Calibri" pitchFamily="34" charset="0"/>
                <a:ea typeface="Calibri" pitchFamily="34" charset="-122"/>
                <a:cs typeface="Calibri" pitchFamily="34" charset="-120"/>
              </a:rPr>
              <a:t>loans</a:t>
            </a:r>
            <a:endParaRPr lang="en-US" sz="1200" dirty="0"/>
          </a:p>
        </p:txBody>
      </p:sp>
      <p:sp>
        <p:nvSpPr>
          <p:cNvPr id="30" name="Shape 24"/>
          <p:cNvSpPr/>
          <p:nvPr/>
        </p:nvSpPr>
        <p:spPr>
          <a:xfrm>
            <a:off x="3803904" y="2697480"/>
            <a:ext cx="1536192" cy="1005840"/>
          </a:xfrm>
          <a:prstGeom prst="roundRect">
            <a:avLst>
              <a:gd name="adj" fmla="val 7273"/>
            </a:avLst>
          </a:prstGeom>
          <a:solidFill>
            <a:srgbClr val="FFFFFF"/>
          </a:solidFill>
          <a:ln w="12700">
            <a:solidFill>
              <a:srgbClr val="CFE6D6"/>
            </a:solidFill>
            <a:prstDash val="solid"/>
          </a:ln>
        </p:spPr>
      </p:sp>
      <p:sp>
        <p:nvSpPr>
          <p:cNvPr id="31" name="Text 25"/>
          <p:cNvSpPr txBox="1"/>
          <p:nvPr/>
        </p:nvSpPr>
        <p:spPr>
          <a:xfrm>
            <a:off x="3803904" y="2788920"/>
            <a:ext cx="1536192" cy="502920"/>
          </a:xfrm>
          <a:prstGeom prst="rect">
            <a:avLst/>
          </a:prstGeom>
          <a:noFill/>
          <a:ln/>
        </p:spPr>
        <p:txBody>
          <a:bodyPr wrap="square" lIns="0" tIns="0" rIns="0" bIns="0" rtlCol="0" anchor="ctr"/>
          <a:lstStyle/>
          <a:p>
            <a:pPr algn="ctr" indent="0" marL="0">
              <a:buNone/>
            </a:pPr>
            <a:r>
              <a:rPr lang="en-US" sz="2400" b="1" dirty="0">
                <a:solidFill>
                  <a:srgbClr val="0F6B32"/>
                </a:solidFill>
                <a:latin typeface="Cambria" pitchFamily="34" charset="0"/>
                <a:ea typeface="Cambria" pitchFamily="34" charset="-122"/>
                <a:cs typeface="Cambria" pitchFamily="34" charset="-120"/>
              </a:rPr>
              <a:t>2,000+</a:t>
            </a:r>
            <a:endParaRPr lang="en-US" sz="2400" dirty="0"/>
          </a:p>
        </p:txBody>
      </p:sp>
      <p:sp>
        <p:nvSpPr>
          <p:cNvPr id="32" name="Text 26"/>
          <p:cNvSpPr txBox="1"/>
          <p:nvPr/>
        </p:nvSpPr>
        <p:spPr>
          <a:xfrm>
            <a:off x="3803904" y="3291840"/>
            <a:ext cx="1536192" cy="274320"/>
          </a:xfrm>
          <a:prstGeom prst="rect">
            <a:avLst/>
          </a:prstGeom>
          <a:noFill/>
          <a:ln/>
        </p:spPr>
        <p:txBody>
          <a:bodyPr wrap="square" lIns="0" tIns="0" rIns="0" bIns="0" rtlCol="0" anchor="t"/>
          <a:lstStyle/>
          <a:p>
            <a:pPr algn="ctr" indent="0" marL="0">
              <a:buNone/>
            </a:pPr>
            <a:r>
              <a:rPr lang="en-US" sz="1200" dirty="0">
                <a:solidFill>
                  <a:srgbClr val="4B5563"/>
                </a:solidFill>
                <a:latin typeface="Calibri" pitchFamily="34" charset="0"/>
                <a:ea typeface="Calibri" pitchFamily="34" charset="-122"/>
                <a:cs typeface="Calibri" pitchFamily="34" charset="-120"/>
              </a:rPr>
              <a:t>customers</a:t>
            </a:r>
            <a:endParaRPr lang="en-US" sz="1200" dirty="0"/>
          </a:p>
        </p:txBody>
      </p:sp>
      <p:sp>
        <p:nvSpPr>
          <p:cNvPr id="33" name="Shape 27"/>
          <p:cNvSpPr/>
          <p:nvPr/>
        </p:nvSpPr>
        <p:spPr>
          <a:xfrm>
            <a:off x="5477256" y="2697480"/>
            <a:ext cx="1536192" cy="1005840"/>
          </a:xfrm>
          <a:prstGeom prst="roundRect">
            <a:avLst>
              <a:gd name="adj" fmla="val 7273"/>
            </a:avLst>
          </a:prstGeom>
          <a:solidFill>
            <a:srgbClr val="FFFFFF"/>
          </a:solidFill>
          <a:ln w="12700">
            <a:solidFill>
              <a:srgbClr val="CFE6D6"/>
            </a:solidFill>
            <a:prstDash val="solid"/>
          </a:ln>
        </p:spPr>
      </p:sp>
      <p:sp>
        <p:nvSpPr>
          <p:cNvPr id="34" name="Text 28"/>
          <p:cNvSpPr txBox="1"/>
          <p:nvPr/>
        </p:nvSpPr>
        <p:spPr>
          <a:xfrm>
            <a:off x="5477256" y="2788920"/>
            <a:ext cx="1536192" cy="502920"/>
          </a:xfrm>
          <a:prstGeom prst="rect">
            <a:avLst/>
          </a:prstGeom>
          <a:noFill/>
          <a:ln/>
        </p:spPr>
        <p:txBody>
          <a:bodyPr wrap="square" lIns="0" tIns="0" rIns="0" bIns="0" rtlCol="0" anchor="ctr"/>
          <a:lstStyle/>
          <a:p>
            <a:pPr algn="ctr" indent="0" marL="0">
              <a:buNone/>
            </a:pPr>
            <a:r>
              <a:rPr lang="en-US" sz="2400" b="1" dirty="0">
                <a:solidFill>
                  <a:srgbClr val="0F6B32"/>
                </a:solidFill>
                <a:latin typeface="Cambria" pitchFamily="34" charset="0"/>
                <a:ea typeface="Cambria" pitchFamily="34" charset="-122"/>
                <a:cs typeface="Cambria" pitchFamily="34" charset="-120"/>
              </a:rPr>
              <a:t>1,350</a:t>
            </a:r>
            <a:endParaRPr lang="en-US" sz="2400" dirty="0"/>
          </a:p>
        </p:txBody>
      </p:sp>
      <p:sp>
        <p:nvSpPr>
          <p:cNvPr id="35" name="Text 29"/>
          <p:cNvSpPr txBox="1"/>
          <p:nvPr/>
        </p:nvSpPr>
        <p:spPr>
          <a:xfrm>
            <a:off x="5477256" y="3291840"/>
            <a:ext cx="1536192" cy="274320"/>
          </a:xfrm>
          <a:prstGeom prst="rect">
            <a:avLst/>
          </a:prstGeom>
          <a:noFill/>
          <a:ln/>
        </p:spPr>
        <p:txBody>
          <a:bodyPr wrap="square" lIns="0" tIns="0" rIns="0" bIns="0" rtlCol="0" anchor="t"/>
          <a:lstStyle/>
          <a:p>
            <a:pPr algn="ctr" indent="0" marL="0">
              <a:buNone/>
            </a:pPr>
            <a:r>
              <a:rPr lang="en-US" sz="1200" dirty="0">
                <a:solidFill>
                  <a:srgbClr val="4B5563"/>
                </a:solidFill>
                <a:latin typeface="Calibri" pitchFamily="34" charset="0"/>
                <a:ea typeface="Calibri" pitchFamily="34" charset="-122"/>
                <a:cs typeface="Calibri" pitchFamily="34" charset="-120"/>
              </a:rPr>
              <a:t>branch metrics</a:t>
            </a:r>
            <a:endParaRPr lang="en-US" sz="1200" dirty="0"/>
          </a:p>
        </p:txBody>
      </p:sp>
      <p:sp>
        <p:nvSpPr>
          <p:cNvPr id="36" name="Shape 30"/>
          <p:cNvSpPr/>
          <p:nvPr/>
        </p:nvSpPr>
        <p:spPr>
          <a:xfrm>
            <a:off x="7150608" y="2697480"/>
            <a:ext cx="1536192" cy="1005840"/>
          </a:xfrm>
          <a:prstGeom prst="roundRect">
            <a:avLst>
              <a:gd name="adj" fmla="val 7273"/>
            </a:avLst>
          </a:prstGeom>
          <a:solidFill>
            <a:srgbClr val="FFFFFF"/>
          </a:solidFill>
          <a:ln w="12700">
            <a:solidFill>
              <a:srgbClr val="CFE6D6"/>
            </a:solidFill>
            <a:prstDash val="solid"/>
          </a:ln>
        </p:spPr>
      </p:sp>
      <p:sp>
        <p:nvSpPr>
          <p:cNvPr id="37" name="Text 31"/>
          <p:cNvSpPr txBox="1"/>
          <p:nvPr/>
        </p:nvSpPr>
        <p:spPr>
          <a:xfrm>
            <a:off x="7150608" y="2788920"/>
            <a:ext cx="1536192" cy="502920"/>
          </a:xfrm>
          <a:prstGeom prst="rect">
            <a:avLst/>
          </a:prstGeom>
          <a:noFill/>
          <a:ln/>
        </p:spPr>
        <p:txBody>
          <a:bodyPr wrap="square" lIns="0" tIns="0" rIns="0" bIns="0" rtlCol="0" anchor="ctr"/>
          <a:lstStyle/>
          <a:p>
            <a:pPr algn="ctr" indent="0" marL="0">
              <a:buNone/>
            </a:pPr>
            <a:r>
              <a:rPr lang="en-US" sz="2400" b="1" dirty="0">
                <a:solidFill>
                  <a:srgbClr val="0F6B32"/>
                </a:solidFill>
                <a:latin typeface="Cambria" pitchFamily="34" charset="0"/>
                <a:ea typeface="Cambria" pitchFamily="34" charset="-122"/>
                <a:cs typeface="Cambria" pitchFamily="34" charset="-120"/>
              </a:rPr>
              <a:t>10</a:t>
            </a:r>
            <a:endParaRPr lang="en-US" sz="2400" dirty="0"/>
          </a:p>
        </p:txBody>
      </p:sp>
      <p:sp>
        <p:nvSpPr>
          <p:cNvPr id="38" name="Text 32"/>
          <p:cNvSpPr txBox="1"/>
          <p:nvPr/>
        </p:nvSpPr>
        <p:spPr>
          <a:xfrm>
            <a:off x="7150608" y="3291840"/>
            <a:ext cx="1536192" cy="274320"/>
          </a:xfrm>
          <a:prstGeom prst="rect">
            <a:avLst/>
          </a:prstGeom>
          <a:noFill/>
          <a:ln/>
        </p:spPr>
        <p:txBody>
          <a:bodyPr wrap="square" lIns="0" tIns="0" rIns="0" bIns="0" rtlCol="0" anchor="t"/>
          <a:lstStyle/>
          <a:p>
            <a:pPr algn="ctr" indent="0" marL="0">
              <a:buNone/>
            </a:pPr>
            <a:r>
              <a:rPr lang="en-US" sz="1200" dirty="0">
                <a:solidFill>
                  <a:srgbClr val="4B5563"/>
                </a:solidFill>
                <a:latin typeface="Calibri" pitchFamily="34" charset="0"/>
                <a:ea typeface="Calibri" pitchFamily="34" charset="-122"/>
                <a:cs typeface="Calibri" pitchFamily="34" charset="-120"/>
              </a:rPr>
              <a:t>FX rates</a:t>
            </a:r>
            <a:endParaRPr lang="en-US" sz="1200" dirty="0"/>
          </a:p>
        </p:txBody>
      </p:sp>
      <p:sp>
        <p:nvSpPr>
          <p:cNvPr id="39" name="Shape 33"/>
          <p:cNvSpPr/>
          <p:nvPr/>
        </p:nvSpPr>
        <p:spPr>
          <a:xfrm>
            <a:off x="457200" y="3931920"/>
            <a:ext cx="8229600" cy="731520"/>
          </a:xfrm>
          <a:prstGeom prst="roundRect">
            <a:avLst>
              <a:gd name="adj" fmla="val 10000"/>
            </a:avLst>
          </a:prstGeom>
          <a:solidFill>
            <a:srgbClr val="0A0F0C"/>
          </a:solidFill>
          <a:ln/>
        </p:spPr>
      </p:sp>
      <p:sp>
        <p:nvSpPr>
          <p:cNvPr id="40" name="Shape 34"/>
          <p:cNvSpPr/>
          <p:nvPr/>
        </p:nvSpPr>
        <p:spPr>
          <a:xfrm>
            <a:off x="640080" y="4087368"/>
            <a:ext cx="420624" cy="420624"/>
          </a:xfrm>
          <a:prstGeom prst="ellipse">
            <a:avLst/>
          </a:prstGeom>
          <a:solidFill>
            <a:srgbClr val="16A34A"/>
          </a:solidFill>
          <a:ln/>
        </p:spPr>
      </p:sp>
      <p:pic>
        <p:nvPicPr>
          <p:cNvPr id="41" name="Image 4" descr="preencoded.png">    </p:cNvPr>
          <p:cNvPicPr>
            <a:picLocks noChangeAspect="1"/>
          </p:cNvPicPr>
          <p:nvPr/>
        </p:nvPicPr>
        <p:blipFill>
          <a:blip r:embed="rId5"/>
          <a:stretch>
            <a:fillRect/>
          </a:stretch>
        </p:blipFill>
        <p:spPr>
          <a:xfrm>
            <a:off x="745236" y="4192524"/>
            <a:ext cx="210312" cy="210312"/>
          </a:xfrm>
          <a:prstGeom prst="rect">
            <a:avLst/>
          </a:prstGeom>
        </p:spPr>
      </p:pic>
      <p:sp>
        <p:nvSpPr>
          <p:cNvPr id="42" name="Text 35"/>
          <p:cNvSpPr txBox="1"/>
          <p:nvPr/>
        </p:nvSpPr>
        <p:spPr>
          <a:xfrm>
            <a:off x="1234440" y="3931920"/>
            <a:ext cx="7315200" cy="731520"/>
          </a:xfrm>
          <a:prstGeom prst="rect">
            <a:avLst/>
          </a:prstGeom>
          <a:noFill/>
          <a:ln/>
        </p:spPr>
        <p:txBody>
          <a:bodyPr wrap="square" lIns="0" tIns="0" rIns="0" bIns="0" rtlCol="0" anchor="ctr"/>
          <a:lstStyle/>
          <a:p>
            <a:pPr indent="0" marL="0">
              <a:buNone/>
            </a:pPr>
            <a:r>
              <a:rPr lang="en-US" sz="1350" b="1" dirty="0">
                <a:solidFill>
                  <a:srgbClr val="22C55E"/>
                </a:solidFill>
                <a:latin typeface="Calibri" pitchFamily="34" charset="0"/>
                <a:ea typeface="Calibri" pitchFamily="34" charset="-122"/>
                <a:cs typeface="Calibri" pitchFamily="34" charset="-120"/>
              </a:rPr>
              <a:t>Built-in archiving: </a:t>
            </a:r>
            <a:pPr indent="0" marL="0">
              <a:buNone/>
            </a:pPr>
            <a:r>
              <a:rPr lang="en-US" sz="1350" dirty="0">
                <a:solidFill>
                  <a:srgbClr val="FFFFFF"/>
                </a:solidFill>
                <a:latin typeface="Calibri" pitchFamily="34" charset="0"/>
                <a:ea typeface="Calibri" pitchFamily="34" charset="-122"/>
                <a:cs typeface="Calibri" pitchFamily="34" charset="-120"/>
              </a:rPr>
              <a:t>nexabank_history preserves previous analysis snapshots before every reload</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100" b="1" spc="300" kern="0" dirty="0">
                <a:solidFill>
                  <a:srgbClr val="16A34A"/>
                </a:solidFill>
                <a:latin typeface="Calibri" pitchFamily="34" charset="0"/>
                <a:ea typeface="Calibri" pitchFamily="34" charset="-122"/>
                <a:cs typeface="Calibri" pitchFamily="34" charset="-120"/>
              </a:rPr>
              <a:t>DATA ARCHITECTURE</a:t>
            </a:r>
            <a:endParaRPr lang="en-US" sz="11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3200" b="1" dirty="0">
                <a:solidFill>
                  <a:srgbClr val="0A0F0C"/>
                </a:solidFill>
                <a:latin typeface="Cambria" pitchFamily="34" charset="0"/>
                <a:ea typeface="Cambria" pitchFamily="34" charset="-122"/>
                <a:cs typeface="Cambria" pitchFamily="34" charset="-120"/>
              </a:rPr>
              <a:t>Star Schema Design</a:t>
            </a:r>
            <a:endParaRPr lang="en-US" sz="3200" dirty="0"/>
          </a:p>
        </p:txBody>
      </p:sp>
      <p:sp>
        <p:nvSpPr>
          <p:cNvPr id="4" name="Text 2"/>
          <p:cNvSpPr txBox="1"/>
          <p:nvPr/>
        </p:nvSpPr>
        <p:spPr>
          <a:xfrm>
            <a:off x="457200" y="4800600"/>
            <a:ext cx="82296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NexaBank Data Warehouse &amp; Analytics Pipeline   |   4</a:t>
            </a:r>
            <a:endParaRPr lang="en-US" sz="900" dirty="0"/>
          </a:p>
        </p:txBody>
      </p:sp>
      <p:sp>
        <p:nvSpPr>
          <p:cNvPr id="5" name="Shape 3"/>
          <p:cNvSpPr/>
          <p:nvPr/>
        </p:nvSpPr>
        <p:spPr>
          <a:xfrm>
            <a:off x="2743200" y="1810512"/>
            <a:ext cx="822960" cy="0"/>
          </a:xfrm>
          <a:prstGeom prst="line">
            <a:avLst/>
          </a:prstGeom>
          <a:noFill/>
          <a:ln w="25400">
            <a:solidFill>
              <a:srgbClr val="16A34A"/>
            </a:solidFill>
            <a:prstDash val="solid"/>
          </a:ln>
        </p:spPr>
      </p:sp>
      <p:sp>
        <p:nvSpPr>
          <p:cNvPr id="6" name="Shape 4"/>
          <p:cNvSpPr/>
          <p:nvPr/>
        </p:nvSpPr>
        <p:spPr>
          <a:xfrm>
            <a:off x="2743200" y="2057400"/>
            <a:ext cx="822960" cy="822960"/>
          </a:xfrm>
          <a:prstGeom prst="line">
            <a:avLst/>
          </a:prstGeom>
          <a:noFill/>
          <a:ln w="25400">
            <a:solidFill>
              <a:srgbClr val="16A34A"/>
            </a:solidFill>
            <a:prstDash val="solid"/>
          </a:ln>
        </p:spPr>
      </p:sp>
      <p:sp>
        <p:nvSpPr>
          <p:cNvPr id="7" name="Shape 5"/>
          <p:cNvSpPr/>
          <p:nvPr/>
        </p:nvSpPr>
        <p:spPr>
          <a:xfrm flipV="1">
            <a:off x="2743200" y="3063240"/>
            <a:ext cx="822960" cy="320040"/>
          </a:xfrm>
          <a:prstGeom prst="line">
            <a:avLst/>
          </a:prstGeom>
          <a:noFill/>
          <a:ln w="25400">
            <a:solidFill>
              <a:srgbClr val="16A34A"/>
            </a:solidFill>
            <a:prstDash val="solid"/>
          </a:ln>
        </p:spPr>
      </p:sp>
      <p:sp>
        <p:nvSpPr>
          <p:cNvPr id="8" name="Shape 6"/>
          <p:cNvSpPr/>
          <p:nvPr/>
        </p:nvSpPr>
        <p:spPr>
          <a:xfrm>
            <a:off x="2743200" y="3749040"/>
            <a:ext cx="822960" cy="365760"/>
          </a:xfrm>
          <a:prstGeom prst="line">
            <a:avLst/>
          </a:prstGeom>
          <a:noFill/>
          <a:ln w="25400">
            <a:solidFill>
              <a:srgbClr val="16A34A"/>
            </a:solidFill>
            <a:prstDash val="solid"/>
          </a:ln>
        </p:spPr>
      </p:sp>
      <p:sp>
        <p:nvSpPr>
          <p:cNvPr id="9" name="Shape 7"/>
          <p:cNvSpPr/>
          <p:nvPr/>
        </p:nvSpPr>
        <p:spPr>
          <a:xfrm>
            <a:off x="5943600" y="1810512"/>
            <a:ext cx="548640" cy="0"/>
          </a:xfrm>
          <a:prstGeom prst="line">
            <a:avLst/>
          </a:prstGeom>
          <a:noFill/>
          <a:ln w="25400">
            <a:solidFill>
              <a:srgbClr val="16A34A"/>
            </a:solidFill>
            <a:prstDash val="solid"/>
          </a:ln>
        </p:spPr>
      </p:sp>
      <p:sp>
        <p:nvSpPr>
          <p:cNvPr id="10" name="Shape 8"/>
          <p:cNvSpPr/>
          <p:nvPr/>
        </p:nvSpPr>
        <p:spPr>
          <a:xfrm>
            <a:off x="457200" y="1371600"/>
            <a:ext cx="2286000" cy="914400"/>
          </a:xfrm>
          <a:prstGeom prst="roundRect">
            <a:avLst>
              <a:gd name="adj" fmla="val 8000"/>
            </a:avLst>
          </a:prstGeom>
          <a:solidFill>
            <a:srgbClr val="E8F5EC"/>
          </a:solidFill>
          <a:ln w="12700">
            <a:solidFill>
              <a:srgbClr val="16A34A"/>
            </a:solidFill>
            <a:prstDash val="solid"/>
          </a:ln>
        </p:spPr>
      </p:sp>
      <p:sp>
        <p:nvSpPr>
          <p:cNvPr id="11" name="Text 9"/>
          <p:cNvSpPr txBox="1"/>
          <p:nvPr/>
        </p:nvSpPr>
        <p:spPr>
          <a:xfrm>
            <a:off x="594360" y="1463040"/>
            <a:ext cx="2011680" cy="274320"/>
          </a:xfrm>
          <a:prstGeom prst="rect">
            <a:avLst/>
          </a:prstGeom>
          <a:noFill/>
          <a:ln/>
        </p:spPr>
        <p:txBody>
          <a:bodyPr wrap="square" lIns="0" tIns="0" rIns="0" bIns="0" rtlCol="0" anchor="t"/>
          <a:lstStyle/>
          <a:p>
            <a:pPr indent="0" marL="0">
              <a:buNone/>
            </a:pPr>
            <a:r>
              <a:rPr lang="en-US" sz="1300" b="1" dirty="0">
                <a:solidFill>
                  <a:srgbClr val="0F6B32"/>
                </a:solidFill>
                <a:latin typeface="Calibri" pitchFamily="34" charset="0"/>
                <a:ea typeface="Calibri" pitchFamily="34" charset="-122"/>
                <a:cs typeface="Calibri" pitchFamily="34" charset="-120"/>
              </a:rPr>
              <a:t>dim_customers</a:t>
            </a:r>
            <a:endParaRPr lang="en-US" sz="1300" dirty="0"/>
          </a:p>
        </p:txBody>
      </p:sp>
      <p:sp>
        <p:nvSpPr>
          <p:cNvPr id="12" name="Text 10"/>
          <p:cNvSpPr txBox="1"/>
          <p:nvPr/>
        </p:nvSpPr>
        <p:spPr>
          <a:xfrm>
            <a:off x="594360" y="1737360"/>
            <a:ext cx="2011680" cy="228600"/>
          </a:xfrm>
          <a:prstGeom prst="rect">
            <a:avLst/>
          </a:prstGeom>
          <a:noFill/>
          <a:ln/>
        </p:spPr>
        <p:txBody>
          <a:bodyPr wrap="square" lIns="0" tIns="0" rIns="0" bIns="0" rtlCol="0" anchor="t"/>
          <a:lstStyle/>
          <a:p>
            <a:pPr indent="0" marL="0">
              <a:buNone/>
            </a:pPr>
            <a:r>
              <a:rPr lang="en-US" sz="1100" b="1" dirty="0">
                <a:solidFill>
                  <a:srgbClr val="0A0F0C"/>
                </a:solidFill>
                <a:latin typeface="Calibri" pitchFamily="34" charset="0"/>
                <a:ea typeface="Calibri" pitchFamily="34" charset="-122"/>
                <a:cs typeface="Calibri" pitchFamily="34" charset="-120"/>
              </a:rPr>
              <a:t>2,000 rows</a:t>
            </a:r>
            <a:endParaRPr lang="en-US" sz="1100" dirty="0"/>
          </a:p>
        </p:txBody>
      </p:sp>
      <p:sp>
        <p:nvSpPr>
          <p:cNvPr id="13" name="Text 11"/>
          <p:cNvSpPr txBox="1"/>
          <p:nvPr/>
        </p:nvSpPr>
        <p:spPr>
          <a:xfrm>
            <a:off x="594360" y="1965960"/>
            <a:ext cx="2011680" cy="274320"/>
          </a:xfrm>
          <a:prstGeom prst="rect">
            <a:avLst/>
          </a:prstGeom>
          <a:noFill/>
          <a:ln/>
        </p:spPr>
        <p:txBody>
          <a:bodyPr wrap="square" lIns="0" tIns="0" rIns="0" bIns="0" rtlCol="0" anchor="t"/>
          <a:lstStyle/>
          <a:p>
            <a:pPr indent="0" marL="0">
              <a:buNone/>
            </a:pPr>
            <a:r>
              <a:rPr lang="en-US" sz="1050" dirty="0">
                <a:solidFill>
                  <a:srgbClr val="4B5563"/>
                </a:solidFill>
                <a:latin typeface="Calibri" pitchFamily="34" charset="0"/>
                <a:ea typeface="Calibri" pitchFamily="34" charset="-122"/>
                <a:cs typeface="Calibri" pitchFamily="34" charset="-120"/>
              </a:rPr>
              <a:t>Income, KYC status, demographics</a:t>
            </a:r>
            <a:endParaRPr lang="en-US" sz="1050" dirty="0"/>
          </a:p>
        </p:txBody>
      </p:sp>
      <p:sp>
        <p:nvSpPr>
          <p:cNvPr id="14" name="Shape 12"/>
          <p:cNvSpPr/>
          <p:nvPr/>
        </p:nvSpPr>
        <p:spPr>
          <a:xfrm>
            <a:off x="457200" y="3108960"/>
            <a:ext cx="2286000" cy="914400"/>
          </a:xfrm>
          <a:prstGeom prst="roundRect">
            <a:avLst>
              <a:gd name="adj" fmla="val 8000"/>
            </a:avLst>
          </a:prstGeom>
          <a:solidFill>
            <a:srgbClr val="E8F5EC"/>
          </a:solidFill>
          <a:ln w="12700">
            <a:solidFill>
              <a:srgbClr val="16A34A"/>
            </a:solidFill>
            <a:prstDash val="solid"/>
          </a:ln>
        </p:spPr>
      </p:sp>
      <p:sp>
        <p:nvSpPr>
          <p:cNvPr id="15" name="Text 13"/>
          <p:cNvSpPr txBox="1"/>
          <p:nvPr/>
        </p:nvSpPr>
        <p:spPr>
          <a:xfrm>
            <a:off x="594360" y="3200400"/>
            <a:ext cx="2011680" cy="274320"/>
          </a:xfrm>
          <a:prstGeom prst="rect">
            <a:avLst/>
          </a:prstGeom>
          <a:noFill/>
          <a:ln/>
        </p:spPr>
        <p:txBody>
          <a:bodyPr wrap="square" lIns="0" tIns="0" rIns="0" bIns="0" rtlCol="0" anchor="t"/>
          <a:lstStyle/>
          <a:p>
            <a:pPr indent="0" marL="0">
              <a:buNone/>
            </a:pPr>
            <a:r>
              <a:rPr lang="en-US" sz="1300" b="1" dirty="0">
                <a:solidFill>
                  <a:srgbClr val="0F6B32"/>
                </a:solidFill>
                <a:latin typeface="Calibri" pitchFamily="34" charset="0"/>
                <a:ea typeface="Calibri" pitchFamily="34" charset="-122"/>
                <a:cs typeface="Calibri" pitchFamily="34" charset="-120"/>
              </a:rPr>
              <a:t>dim_branches</a:t>
            </a:r>
            <a:endParaRPr lang="en-US" sz="1300" dirty="0"/>
          </a:p>
        </p:txBody>
      </p:sp>
      <p:sp>
        <p:nvSpPr>
          <p:cNvPr id="16" name="Text 14"/>
          <p:cNvSpPr txBox="1"/>
          <p:nvPr/>
        </p:nvSpPr>
        <p:spPr>
          <a:xfrm>
            <a:off x="594360" y="3474720"/>
            <a:ext cx="2011680" cy="228600"/>
          </a:xfrm>
          <a:prstGeom prst="rect">
            <a:avLst/>
          </a:prstGeom>
          <a:noFill/>
          <a:ln/>
        </p:spPr>
        <p:txBody>
          <a:bodyPr wrap="square" lIns="0" tIns="0" rIns="0" bIns="0" rtlCol="0" anchor="t"/>
          <a:lstStyle/>
          <a:p>
            <a:pPr indent="0" marL="0">
              <a:buNone/>
            </a:pPr>
            <a:r>
              <a:rPr lang="en-US" sz="1100" b="1" dirty="0">
                <a:solidFill>
                  <a:srgbClr val="0A0F0C"/>
                </a:solidFill>
                <a:latin typeface="Calibri" pitchFamily="34" charset="0"/>
                <a:ea typeface="Calibri" pitchFamily="34" charset="-122"/>
                <a:cs typeface="Calibri" pitchFamily="34" charset="-120"/>
              </a:rPr>
              <a:t>15 rows</a:t>
            </a:r>
            <a:endParaRPr lang="en-US" sz="1100" dirty="0"/>
          </a:p>
        </p:txBody>
      </p:sp>
      <p:sp>
        <p:nvSpPr>
          <p:cNvPr id="17" name="Text 15"/>
          <p:cNvSpPr txBox="1"/>
          <p:nvPr/>
        </p:nvSpPr>
        <p:spPr>
          <a:xfrm>
            <a:off x="594360" y="3703320"/>
            <a:ext cx="2011680" cy="274320"/>
          </a:xfrm>
          <a:prstGeom prst="rect">
            <a:avLst/>
          </a:prstGeom>
          <a:noFill/>
          <a:ln/>
        </p:spPr>
        <p:txBody>
          <a:bodyPr wrap="square" lIns="0" tIns="0" rIns="0" bIns="0" rtlCol="0" anchor="t"/>
          <a:lstStyle/>
          <a:p>
            <a:pPr indent="0" marL="0">
              <a:buNone/>
            </a:pPr>
            <a:r>
              <a:rPr lang="en-US" sz="1050" dirty="0">
                <a:solidFill>
                  <a:srgbClr val="4B5563"/>
                </a:solidFill>
                <a:latin typeface="Calibri" pitchFamily="34" charset="0"/>
                <a:ea typeface="Calibri" pitchFamily="34" charset="-122"/>
                <a:cs typeface="Calibri" pitchFamily="34" charset="-120"/>
              </a:rPr>
              <a:t>Locations across 6 countries</a:t>
            </a:r>
            <a:endParaRPr lang="en-US" sz="1050" dirty="0"/>
          </a:p>
        </p:txBody>
      </p:sp>
      <p:sp>
        <p:nvSpPr>
          <p:cNvPr id="18" name="Shape 16"/>
          <p:cNvSpPr/>
          <p:nvPr/>
        </p:nvSpPr>
        <p:spPr>
          <a:xfrm>
            <a:off x="6492240" y="1371600"/>
            <a:ext cx="2286000" cy="914400"/>
          </a:xfrm>
          <a:prstGeom prst="roundRect">
            <a:avLst>
              <a:gd name="adj" fmla="val 8000"/>
            </a:avLst>
          </a:prstGeom>
          <a:solidFill>
            <a:srgbClr val="E8F5EC"/>
          </a:solidFill>
          <a:ln w="12700">
            <a:solidFill>
              <a:srgbClr val="16A34A"/>
            </a:solidFill>
            <a:prstDash val="solid"/>
          </a:ln>
        </p:spPr>
      </p:sp>
      <p:sp>
        <p:nvSpPr>
          <p:cNvPr id="19" name="Text 17"/>
          <p:cNvSpPr txBox="1"/>
          <p:nvPr/>
        </p:nvSpPr>
        <p:spPr>
          <a:xfrm>
            <a:off x="6629400" y="1463040"/>
            <a:ext cx="2011680" cy="274320"/>
          </a:xfrm>
          <a:prstGeom prst="rect">
            <a:avLst/>
          </a:prstGeom>
          <a:noFill/>
          <a:ln/>
        </p:spPr>
        <p:txBody>
          <a:bodyPr wrap="square" lIns="0" tIns="0" rIns="0" bIns="0" rtlCol="0" anchor="t"/>
          <a:lstStyle/>
          <a:p>
            <a:pPr indent="0" marL="0">
              <a:buNone/>
            </a:pPr>
            <a:r>
              <a:rPr lang="en-US" sz="1300" b="1" dirty="0">
                <a:solidFill>
                  <a:srgbClr val="0F6B32"/>
                </a:solidFill>
                <a:latin typeface="Calibri" pitchFamily="34" charset="0"/>
                <a:ea typeface="Calibri" pitchFamily="34" charset="-122"/>
                <a:cs typeface="Calibri" pitchFamily="34" charset="-120"/>
              </a:rPr>
              <a:t>dim_fx_rates</a:t>
            </a:r>
            <a:endParaRPr lang="en-US" sz="1300" dirty="0"/>
          </a:p>
        </p:txBody>
      </p:sp>
      <p:sp>
        <p:nvSpPr>
          <p:cNvPr id="20" name="Text 18"/>
          <p:cNvSpPr txBox="1"/>
          <p:nvPr/>
        </p:nvSpPr>
        <p:spPr>
          <a:xfrm>
            <a:off x="6629400" y="1737360"/>
            <a:ext cx="2011680" cy="228600"/>
          </a:xfrm>
          <a:prstGeom prst="rect">
            <a:avLst/>
          </a:prstGeom>
          <a:noFill/>
          <a:ln/>
        </p:spPr>
        <p:txBody>
          <a:bodyPr wrap="square" lIns="0" tIns="0" rIns="0" bIns="0" rtlCol="0" anchor="t"/>
          <a:lstStyle/>
          <a:p>
            <a:pPr indent="0" marL="0">
              <a:buNone/>
            </a:pPr>
            <a:r>
              <a:rPr lang="en-US" sz="1100" b="1" dirty="0">
                <a:solidFill>
                  <a:srgbClr val="0A0F0C"/>
                </a:solidFill>
                <a:latin typeface="Calibri" pitchFamily="34" charset="0"/>
                <a:ea typeface="Calibri" pitchFamily="34" charset="-122"/>
                <a:cs typeface="Calibri" pitchFamily="34" charset="-120"/>
              </a:rPr>
              <a:t>10 rows</a:t>
            </a:r>
            <a:endParaRPr lang="en-US" sz="1100" dirty="0"/>
          </a:p>
        </p:txBody>
      </p:sp>
      <p:sp>
        <p:nvSpPr>
          <p:cNvPr id="21" name="Text 19"/>
          <p:cNvSpPr txBox="1"/>
          <p:nvPr/>
        </p:nvSpPr>
        <p:spPr>
          <a:xfrm>
            <a:off x="6629400" y="1965960"/>
            <a:ext cx="2011680" cy="274320"/>
          </a:xfrm>
          <a:prstGeom prst="rect">
            <a:avLst/>
          </a:prstGeom>
          <a:noFill/>
          <a:ln/>
        </p:spPr>
        <p:txBody>
          <a:bodyPr wrap="square" lIns="0" tIns="0" rIns="0" bIns="0" rtlCol="0" anchor="t"/>
          <a:lstStyle/>
          <a:p>
            <a:pPr indent="0" marL="0">
              <a:buNone/>
            </a:pPr>
            <a:r>
              <a:rPr lang="en-US" sz="1050" dirty="0">
                <a:solidFill>
                  <a:srgbClr val="4B5563"/>
                </a:solidFill>
                <a:latin typeface="Calibri" pitchFamily="34" charset="0"/>
                <a:ea typeface="Calibri" pitchFamily="34" charset="-122"/>
                <a:cs typeface="Calibri" pitchFamily="34" charset="-120"/>
              </a:rPr>
              <a:t>Currency conversion rates</a:t>
            </a:r>
            <a:endParaRPr lang="en-US" sz="1050" dirty="0"/>
          </a:p>
        </p:txBody>
      </p:sp>
      <p:sp>
        <p:nvSpPr>
          <p:cNvPr id="22" name="Shape 20"/>
          <p:cNvSpPr/>
          <p:nvPr/>
        </p:nvSpPr>
        <p:spPr>
          <a:xfrm>
            <a:off x="3566160" y="1371600"/>
            <a:ext cx="2377440" cy="868680"/>
          </a:xfrm>
          <a:prstGeom prst="roundRect">
            <a:avLst>
              <a:gd name="adj" fmla="val 8421"/>
            </a:avLst>
          </a:prstGeom>
          <a:solidFill>
            <a:srgbClr val="16A34A"/>
          </a:solidFill>
          <a:ln/>
        </p:spPr>
      </p:sp>
      <p:sp>
        <p:nvSpPr>
          <p:cNvPr id="23" name="Text 21"/>
          <p:cNvSpPr txBox="1"/>
          <p:nvPr/>
        </p:nvSpPr>
        <p:spPr>
          <a:xfrm>
            <a:off x="3703320" y="1463040"/>
            <a:ext cx="2103120" cy="27432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fct_transactions</a:t>
            </a:r>
            <a:endParaRPr lang="en-US" sz="1300" dirty="0"/>
          </a:p>
        </p:txBody>
      </p:sp>
      <p:sp>
        <p:nvSpPr>
          <p:cNvPr id="24" name="Text 22"/>
          <p:cNvSpPr txBox="1"/>
          <p:nvPr/>
        </p:nvSpPr>
        <p:spPr>
          <a:xfrm>
            <a:off x="3703320" y="1737360"/>
            <a:ext cx="2103120" cy="228600"/>
          </a:xfrm>
          <a:prstGeom prst="rect">
            <a:avLst/>
          </a:prstGeom>
          <a:noFill/>
          <a:ln/>
        </p:spPr>
        <p:txBody>
          <a:bodyPr wrap="square" lIns="0" tIns="0" rIns="0" bIns="0" rtlCol="0" anchor="t"/>
          <a:lstStyle/>
          <a:p>
            <a:pPr indent="0" marL="0">
              <a:buNone/>
            </a:pPr>
            <a:r>
              <a:rPr lang="en-US" sz="1100" b="1" dirty="0">
                <a:solidFill>
                  <a:srgbClr val="FFFFFF"/>
                </a:solidFill>
                <a:latin typeface="Calibri" pitchFamily="34" charset="0"/>
                <a:ea typeface="Calibri" pitchFamily="34" charset="-122"/>
                <a:cs typeface="Calibri" pitchFamily="34" charset="-120"/>
              </a:rPr>
              <a:t>20,000 rows</a:t>
            </a:r>
            <a:endParaRPr lang="en-US" sz="1100" dirty="0"/>
          </a:p>
        </p:txBody>
      </p:sp>
      <p:sp>
        <p:nvSpPr>
          <p:cNvPr id="25" name="Text 23"/>
          <p:cNvSpPr txBox="1"/>
          <p:nvPr/>
        </p:nvSpPr>
        <p:spPr>
          <a:xfrm>
            <a:off x="3703320" y="1965960"/>
            <a:ext cx="2103120" cy="228600"/>
          </a:xfrm>
          <a:prstGeom prst="rect">
            <a:avLst/>
          </a:prstGeom>
          <a:noFill/>
          <a:ln/>
        </p:spPr>
        <p:txBody>
          <a:bodyPr wrap="square" lIns="0" tIns="0" rIns="0" bIns="0" rtlCol="0" anchor="t"/>
          <a:lstStyle/>
          <a:p>
            <a:pPr indent="0" marL="0">
              <a:buNone/>
            </a:pPr>
            <a:r>
              <a:rPr lang="en-US" sz="1050" dirty="0">
                <a:solidFill>
                  <a:srgbClr val="E8F5EC"/>
                </a:solidFill>
                <a:latin typeface="Calibri" pitchFamily="34" charset="0"/>
                <a:ea typeface="Calibri" pitchFamily="34" charset="-122"/>
                <a:cs typeface="Calibri" pitchFamily="34" charset="-120"/>
              </a:rPr>
              <a:t>Amounts, dates, channels</a:t>
            </a:r>
            <a:endParaRPr lang="en-US" sz="1050" dirty="0"/>
          </a:p>
        </p:txBody>
      </p:sp>
      <p:sp>
        <p:nvSpPr>
          <p:cNvPr id="26" name="Shape 24"/>
          <p:cNvSpPr/>
          <p:nvPr/>
        </p:nvSpPr>
        <p:spPr>
          <a:xfrm>
            <a:off x="3566160" y="2514600"/>
            <a:ext cx="2377440" cy="868680"/>
          </a:xfrm>
          <a:prstGeom prst="roundRect">
            <a:avLst>
              <a:gd name="adj" fmla="val 8421"/>
            </a:avLst>
          </a:prstGeom>
          <a:solidFill>
            <a:srgbClr val="16A34A"/>
          </a:solidFill>
          <a:ln/>
        </p:spPr>
      </p:sp>
      <p:sp>
        <p:nvSpPr>
          <p:cNvPr id="27" name="Text 25"/>
          <p:cNvSpPr txBox="1"/>
          <p:nvPr/>
        </p:nvSpPr>
        <p:spPr>
          <a:xfrm>
            <a:off x="3703320" y="2606040"/>
            <a:ext cx="2103120" cy="27432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fct_loans</a:t>
            </a:r>
            <a:endParaRPr lang="en-US" sz="1300" dirty="0"/>
          </a:p>
        </p:txBody>
      </p:sp>
      <p:sp>
        <p:nvSpPr>
          <p:cNvPr id="28" name="Text 26"/>
          <p:cNvSpPr txBox="1"/>
          <p:nvPr/>
        </p:nvSpPr>
        <p:spPr>
          <a:xfrm>
            <a:off x="3703320" y="2880360"/>
            <a:ext cx="2103120" cy="228600"/>
          </a:xfrm>
          <a:prstGeom prst="rect">
            <a:avLst/>
          </a:prstGeom>
          <a:noFill/>
          <a:ln/>
        </p:spPr>
        <p:txBody>
          <a:bodyPr wrap="square" lIns="0" tIns="0" rIns="0" bIns="0" rtlCol="0" anchor="t"/>
          <a:lstStyle/>
          <a:p>
            <a:pPr indent="0" marL="0">
              <a:buNone/>
            </a:pPr>
            <a:r>
              <a:rPr lang="en-US" sz="1100" b="1" dirty="0">
                <a:solidFill>
                  <a:srgbClr val="FFFFFF"/>
                </a:solidFill>
                <a:latin typeface="Calibri" pitchFamily="34" charset="0"/>
                <a:ea typeface="Calibri" pitchFamily="34" charset="-122"/>
                <a:cs typeface="Calibri" pitchFamily="34" charset="-120"/>
              </a:rPr>
              <a:t>3,000 rows</a:t>
            </a:r>
            <a:endParaRPr lang="en-US" sz="1100" dirty="0"/>
          </a:p>
        </p:txBody>
      </p:sp>
      <p:sp>
        <p:nvSpPr>
          <p:cNvPr id="29" name="Text 27"/>
          <p:cNvSpPr txBox="1"/>
          <p:nvPr/>
        </p:nvSpPr>
        <p:spPr>
          <a:xfrm>
            <a:off x="3703320" y="3108960"/>
            <a:ext cx="2103120" cy="228600"/>
          </a:xfrm>
          <a:prstGeom prst="rect">
            <a:avLst/>
          </a:prstGeom>
          <a:noFill/>
          <a:ln/>
        </p:spPr>
        <p:txBody>
          <a:bodyPr wrap="square" lIns="0" tIns="0" rIns="0" bIns="0" rtlCol="0" anchor="t"/>
          <a:lstStyle/>
          <a:p>
            <a:pPr indent="0" marL="0">
              <a:buNone/>
            </a:pPr>
            <a:r>
              <a:rPr lang="en-US" sz="1050" dirty="0">
                <a:solidFill>
                  <a:srgbClr val="E8F5EC"/>
                </a:solidFill>
                <a:latin typeface="Calibri" pitchFamily="34" charset="0"/>
                <a:ea typeface="Calibri" pitchFamily="34" charset="-122"/>
                <a:cs typeface="Calibri" pitchFamily="34" charset="-120"/>
              </a:rPr>
              <a:t>Amounts, statuses, repayments</a:t>
            </a:r>
            <a:endParaRPr lang="en-US" sz="1050" dirty="0"/>
          </a:p>
        </p:txBody>
      </p:sp>
      <p:sp>
        <p:nvSpPr>
          <p:cNvPr id="30" name="Shape 28"/>
          <p:cNvSpPr/>
          <p:nvPr/>
        </p:nvSpPr>
        <p:spPr>
          <a:xfrm>
            <a:off x="3566160" y="3657600"/>
            <a:ext cx="2377440" cy="868680"/>
          </a:xfrm>
          <a:prstGeom prst="roundRect">
            <a:avLst>
              <a:gd name="adj" fmla="val 8421"/>
            </a:avLst>
          </a:prstGeom>
          <a:solidFill>
            <a:srgbClr val="16A34A"/>
          </a:solidFill>
          <a:ln/>
        </p:spPr>
      </p:sp>
      <p:sp>
        <p:nvSpPr>
          <p:cNvPr id="31" name="Text 29"/>
          <p:cNvSpPr txBox="1"/>
          <p:nvPr/>
        </p:nvSpPr>
        <p:spPr>
          <a:xfrm>
            <a:off x="3703320" y="3749040"/>
            <a:ext cx="2103120" cy="27432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fct_branch_daily_metrics</a:t>
            </a:r>
            <a:endParaRPr lang="en-US" sz="1300" dirty="0"/>
          </a:p>
        </p:txBody>
      </p:sp>
      <p:sp>
        <p:nvSpPr>
          <p:cNvPr id="32" name="Text 30"/>
          <p:cNvSpPr txBox="1"/>
          <p:nvPr/>
        </p:nvSpPr>
        <p:spPr>
          <a:xfrm>
            <a:off x="3703320" y="4023360"/>
            <a:ext cx="2103120" cy="228600"/>
          </a:xfrm>
          <a:prstGeom prst="rect">
            <a:avLst/>
          </a:prstGeom>
          <a:noFill/>
          <a:ln/>
        </p:spPr>
        <p:txBody>
          <a:bodyPr wrap="square" lIns="0" tIns="0" rIns="0" bIns="0" rtlCol="0" anchor="t"/>
          <a:lstStyle/>
          <a:p>
            <a:pPr indent="0" marL="0">
              <a:buNone/>
            </a:pPr>
            <a:r>
              <a:rPr lang="en-US" sz="1100" b="1" dirty="0">
                <a:solidFill>
                  <a:srgbClr val="FFFFFF"/>
                </a:solidFill>
                <a:latin typeface="Calibri" pitchFamily="34" charset="0"/>
                <a:ea typeface="Calibri" pitchFamily="34" charset="-122"/>
                <a:cs typeface="Calibri" pitchFamily="34" charset="-120"/>
              </a:rPr>
              <a:t>1,350 rows</a:t>
            </a:r>
            <a:endParaRPr lang="en-US" sz="1100" dirty="0"/>
          </a:p>
        </p:txBody>
      </p:sp>
      <p:sp>
        <p:nvSpPr>
          <p:cNvPr id="33" name="Text 31"/>
          <p:cNvSpPr txBox="1"/>
          <p:nvPr/>
        </p:nvSpPr>
        <p:spPr>
          <a:xfrm>
            <a:off x="3703320" y="4251960"/>
            <a:ext cx="2103120" cy="228600"/>
          </a:xfrm>
          <a:prstGeom prst="rect">
            <a:avLst/>
          </a:prstGeom>
          <a:noFill/>
          <a:ln/>
        </p:spPr>
        <p:txBody>
          <a:bodyPr wrap="square" lIns="0" tIns="0" rIns="0" bIns="0" rtlCol="0" anchor="t"/>
          <a:lstStyle/>
          <a:p>
            <a:pPr indent="0" marL="0">
              <a:buNone/>
            </a:pPr>
            <a:r>
              <a:rPr lang="en-US" sz="1050" dirty="0">
                <a:solidFill>
                  <a:srgbClr val="E8F5EC"/>
                </a:solidFill>
                <a:latin typeface="Calibri" pitchFamily="34" charset="0"/>
                <a:ea typeface="Calibri" pitchFamily="34" charset="-122"/>
                <a:cs typeface="Calibri" pitchFamily="34" charset="-120"/>
              </a:rPr>
              <a:t>Daily branch performance</a:t>
            </a:r>
            <a:endParaRPr lang="en-US" sz="1050" dirty="0"/>
          </a:p>
        </p:txBody>
      </p:sp>
      <p:sp>
        <p:nvSpPr>
          <p:cNvPr id="34" name="Shape 32"/>
          <p:cNvSpPr/>
          <p:nvPr/>
        </p:nvSpPr>
        <p:spPr>
          <a:xfrm>
            <a:off x="6492240" y="2743200"/>
            <a:ext cx="2194560" cy="1783080"/>
          </a:xfrm>
          <a:prstGeom prst="roundRect">
            <a:avLst>
              <a:gd name="adj" fmla="val 4103"/>
            </a:avLst>
          </a:prstGeom>
          <a:solidFill>
            <a:srgbClr val="0A0F0C"/>
          </a:solidFill>
          <a:ln/>
        </p:spPr>
      </p:sp>
      <p:sp>
        <p:nvSpPr>
          <p:cNvPr id="35" name="Text 33"/>
          <p:cNvSpPr txBox="1"/>
          <p:nvPr/>
        </p:nvSpPr>
        <p:spPr>
          <a:xfrm>
            <a:off x="6629400" y="2852928"/>
            <a:ext cx="1920240" cy="274320"/>
          </a:xfrm>
          <a:prstGeom prst="rect">
            <a:avLst/>
          </a:prstGeom>
          <a:noFill/>
          <a:ln/>
        </p:spPr>
        <p:txBody>
          <a:bodyPr wrap="square" lIns="0" tIns="0" rIns="0" bIns="0" rtlCol="0" anchor="t"/>
          <a:lstStyle/>
          <a:p>
            <a:pPr indent="0" marL="0">
              <a:buNone/>
            </a:pPr>
            <a:r>
              <a:rPr lang="en-US" sz="1300" b="1" dirty="0">
                <a:solidFill>
                  <a:srgbClr val="22C55E"/>
                </a:solidFill>
                <a:latin typeface="Calibri" pitchFamily="34" charset="0"/>
                <a:ea typeface="Calibri" pitchFamily="34" charset="-122"/>
                <a:cs typeface="Calibri" pitchFamily="34" charset="-120"/>
              </a:rPr>
              <a:t>How to read it</a:t>
            </a:r>
            <a:endParaRPr lang="en-US" sz="1300" dirty="0"/>
          </a:p>
        </p:txBody>
      </p:sp>
      <p:sp>
        <p:nvSpPr>
          <p:cNvPr id="36" name="Text 34"/>
          <p:cNvSpPr txBox="1"/>
          <p:nvPr/>
        </p:nvSpPr>
        <p:spPr>
          <a:xfrm>
            <a:off x="6629400" y="3200400"/>
            <a:ext cx="1965960" cy="1280160"/>
          </a:xfrm>
          <a:prstGeom prst="rect">
            <a:avLst/>
          </a:prstGeom>
          <a:noFill/>
          <a:ln/>
        </p:spPr>
        <p:txBody>
          <a:bodyPr wrap="square" lIns="0" tIns="0" rIns="0" bIns="0" rtlCol="0" anchor="t"/>
          <a:lstStyle/>
          <a:p>
            <a:pPr marL="177800" indent="-177800">
              <a:spcAft>
                <a:spcPts val="400"/>
              </a:spcAft>
              <a:buSzPct val="100000"/>
              <a:buChar char="•"/>
            </a:pPr>
            <a:r>
              <a:rPr lang="en-US" sz="1100" dirty="0">
                <a:solidFill>
                  <a:srgbClr val="FFFFFF"/>
                </a:solidFill>
                <a:latin typeface="Calibri" pitchFamily="34" charset="0"/>
                <a:ea typeface="Calibri" pitchFamily="34" charset="-122"/>
                <a:cs typeface="Calibri" pitchFamily="34" charset="-120"/>
              </a:rPr>
              <a:t>Facts (green): measurable numbers</a:t>
            </a:r>
            <a:endParaRPr lang="en-US" sz="1100" dirty="0"/>
          </a:p>
          <a:p>
            <a:pPr marL="177800" indent="-177800">
              <a:spcAft>
                <a:spcPts val="400"/>
              </a:spcAft>
              <a:buSzPct val="100000"/>
              <a:buChar char="•"/>
            </a:pPr>
            <a:r>
              <a:rPr lang="en-US" sz="1100" dirty="0">
                <a:solidFill>
                  <a:srgbClr val="FFFFFF"/>
                </a:solidFill>
                <a:latin typeface="Calibri" pitchFamily="34" charset="0"/>
                <a:ea typeface="Calibri" pitchFamily="34" charset="-122"/>
                <a:cs typeface="Calibri" pitchFamily="34" charset="-120"/>
              </a:rPr>
              <a:t>Dimensions (light): descriptive context</a:t>
            </a:r>
            <a:endParaRPr lang="en-US" sz="1100" dirty="0"/>
          </a:p>
          <a:p>
            <a:pPr marL="177800" indent="-177800">
              <a:spcAft>
                <a:spcPts val="400"/>
              </a:spcAft>
              <a:buSzPct val="100000"/>
              <a:buChar char="•"/>
            </a:pPr>
            <a:r>
              <a:rPr lang="en-US" sz="1100" dirty="0">
                <a:solidFill>
                  <a:srgbClr val="FFFFFF"/>
                </a:solidFill>
                <a:latin typeface="Calibri" pitchFamily="34" charset="0"/>
                <a:ea typeface="Calibri" pitchFamily="34" charset="-122"/>
                <a:cs typeface="Calibri" pitchFamily="34" charset="-120"/>
              </a:rPr>
              <a:t>Foreign keys link every fact to its dimensions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100" b="1" spc="300" kern="0" dirty="0">
                <a:solidFill>
                  <a:srgbClr val="16A34A"/>
                </a:solidFill>
                <a:latin typeface="Calibri" pitchFamily="34" charset="0"/>
                <a:ea typeface="Calibri" pitchFamily="34" charset="-122"/>
                <a:cs typeface="Calibri" pitchFamily="34" charset="-120"/>
              </a:rPr>
              <a:t>THE PIPELINE</a:t>
            </a:r>
            <a:endParaRPr lang="en-US" sz="11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3200" b="1" dirty="0">
                <a:solidFill>
                  <a:srgbClr val="0A0F0C"/>
                </a:solidFill>
                <a:latin typeface="Cambria" pitchFamily="34" charset="0"/>
                <a:ea typeface="Cambria" pitchFamily="34" charset="-122"/>
                <a:cs typeface="Cambria" pitchFamily="34" charset="-120"/>
              </a:rPr>
              <a:t>ETL Pipeline: Step by Step</a:t>
            </a:r>
            <a:endParaRPr lang="en-US" sz="3200" dirty="0"/>
          </a:p>
        </p:txBody>
      </p:sp>
      <p:sp>
        <p:nvSpPr>
          <p:cNvPr id="4" name="Text 2"/>
          <p:cNvSpPr txBox="1"/>
          <p:nvPr/>
        </p:nvSpPr>
        <p:spPr>
          <a:xfrm>
            <a:off x="457200" y="4800600"/>
            <a:ext cx="82296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NexaBank Data Warehouse &amp; Analytics Pipeline   |   5</a:t>
            </a:r>
            <a:endParaRPr lang="en-US" sz="900" dirty="0"/>
          </a:p>
        </p:txBody>
      </p:sp>
      <p:sp>
        <p:nvSpPr>
          <p:cNvPr id="5" name="Shape 3"/>
          <p:cNvSpPr/>
          <p:nvPr/>
        </p:nvSpPr>
        <p:spPr>
          <a:xfrm>
            <a:off x="457200" y="1371600"/>
            <a:ext cx="1920240" cy="3246120"/>
          </a:xfrm>
          <a:prstGeom prst="roundRect">
            <a:avLst>
              <a:gd name="adj" fmla="val 3810"/>
            </a:avLst>
          </a:prstGeom>
          <a:solidFill>
            <a:srgbClr val="E8F5EC"/>
          </a:solidFill>
          <a:ln/>
        </p:spPr>
      </p:sp>
      <p:sp>
        <p:nvSpPr>
          <p:cNvPr id="6" name="Shape 4"/>
          <p:cNvSpPr/>
          <p:nvPr/>
        </p:nvSpPr>
        <p:spPr>
          <a:xfrm>
            <a:off x="594360" y="1508760"/>
            <a:ext cx="457200" cy="457200"/>
          </a:xfrm>
          <a:prstGeom prst="ellipse">
            <a:avLst/>
          </a:prstGeom>
          <a:solidFill>
            <a:srgbClr val="16A34A"/>
          </a:solidFill>
          <a:ln/>
        </p:spPr>
      </p:sp>
      <p:pic>
        <p:nvPicPr>
          <p:cNvPr id="7" name="Image 0" descr="preencoded.png">    </p:cNvPr>
          <p:cNvPicPr>
            <a:picLocks noChangeAspect="1"/>
          </p:cNvPicPr>
          <p:nvPr/>
        </p:nvPicPr>
        <p:blipFill>
          <a:blip r:embed="rId1"/>
          <a:stretch>
            <a:fillRect/>
          </a:stretch>
        </p:blipFill>
        <p:spPr>
          <a:xfrm>
            <a:off x="708660" y="1623060"/>
            <a:ext cx="228600" cy="228600"/>
          </a:xfrm>
          <a:prstGeom prst="rect">
            <a:avLst/>
          </a:prstGeom>
        </p:spPr>
      </p:pic>
      <p:sp>
        <p:nvSpPr>
          <p:cNvPr id="8" name="Text 5"/>
          <p:cNvSpPr txBox="1"/>
          <p:nvPr/>
        </p:nvSpPr>
        <p:spPr>
          <a:xfrm>
            <a:off x="1143000" y="1508760"/>
            <a:ext cx="1188720" cy="201168"/>
          </a:xfrm>
          <a:prstGeom prst="rect">
            <a:avLst/>
          </a:prstGeom>
          <a:noFill/>
          <a:ln/>
        </p:spPr>
        <p:txBody>
          <a:bodyPr wrap="square" lIns="0" tIns="0" rIns="0" bIns="0" rtlCol="0" anchor="t"/>
          <a:lstStyle/>
          <a:p>
            <a:pPr indent="0" marL="0">
              <a:buNone/>
            </a:pPr>
            <a:r>
              <a:rPr lang="en-US" sz="950" b="1" spc="200" kern="0" dirty="0">
                <a:solidFill>
                  <a:srgbClr val="16A34A"/>
                </a:solidFill>
                <a:latin typeface="Calibri" pitchFamily="34" charset="0"/>
                <a:ea typeface="Calibri" pitchFamily="34" charset="-122"/>
                <a:cs typeface="Calibri" pitchFamily="34" charset="-120"/>
              </a:rPr>
              <a:t>STEP 1</a:t>
            </a:r>
            <a:endParaRPr lang="en-US" sz="950" dirty="0"/>
          </a:p>
        </p:txBody>
      </p:sp>
      <p:sp>
        <p:nvSpPr>
          <p:cNvPr id="9" name="Text 6"/>
          <p:cNvSpPr txBox="1"/>
          <p:nvPr/>
        </p:nvSpPr>
        <p:spPr>
          <a:xfrm>
            <a:off x="1143000" y="1691640"/>
            <a:ext cx="1188720" cy="292608"/>
          </a:xfrm>
          <a:prstGeom prst="rect">
            <a:avLst/>
          </a:prstGeom>
          <a:noFill/>
          <a:ln/>
        </p:spPr>
        <p:txBody>
          <a:bodyPr wrap="square" lIns="0" tIns="0" rIns="0" bIns="0" rtlCol="0" anchor="t"/>
          <a:lstStyle/>
          <a:p>
            <a:pPr indent="0" marL="0">
              <a:buNone/>
            </a:pPr>
            <a:r>
              <a:rPr lang="en-US" sz="1600" b="1" dirty="0">
                <a:solidFill>
                  <a:srgbClr val="0A0F0C"/>
                </a:solidFill>
                <a:latin typeface="Calibri" pitchFamily="34" charset="0"/>
                <a:ea typeface="Calibri" pitchFamily="34" charset="-122"/>
                <a:cs typeface="Calibri" pitchFamily="34" charset="-120"/>
              </a:rPr>
              <a:t>Extract</a:t>
            </a:r>
            <a:endParaRPr lang="en-US" sz="1600" dirty="0"/>
          </a:p>
        </p:txBody>
      </p:sp>
      <p:sp>
        <p:nvSpPr>
          <p:cNvPr id="10" name="Text 7"/>
          <p:cNvSpPr txBox="1"/>
          <p:nvPr/>
        </p:nvSpPr>
        <p:spPr>
          <a:xfrm>
            <a:off x="594360" y="2240280"/>
            <a:ext cx="1691640" cy="2286000"/>
          </a:xfrm>
          <a:prstGeom prst="rect">
            <a:avLst/>
          </a:prstGeom>
          <a:noFill/>
          <a:ln/>
        </p:spPr>
        <p:txBody>
          <a:bodyPr wrap="square" lIns="0" tIns="0" rIns="0" bIns="0" rtlCol="0" anchor="t"/>
          <a:lstStyle/>
          <a:p>
            <a:pPr marL="177800" indent="-177800">
              <a:spcAft>
                <a:spcPts val="500"/>
              </a:spcAft>
              <a:buSzPct val="100000"/>
              <a:buChar char="•"/>
            </a:pPr>
            <a:r>
              <a:rPr lang="en-US" sz="1150" dirty="0">
                <a:solidFill>
                  <a:srgbClr val="0A0F0C"/>
                </a:solidFill>
                <a:latin typeface="Calibri" pitchFamily="34" charset="0"/>
                <a:ea typeface="Calibri" pitchFamily="34" charset="-122"/>
                <a:cs typeface="Calibri" pitchFamily="34" charset="-120"/>
              </a:rPr>
              <a:t>Raw CSV/TSV files loaded into staging tables (stg_*)</a:t>
            </a:r>
            <a:endParaRPr lang="en-US" sz="1150" dirty="0"/>
          </a:p>
          <a:p>
            <a:pPr marL="177800" indent="-177800">
              <a:spcAft>
                <a:spcPts val="500"/>
              </a:spcAft>
              <a:buSzPct val="100000"/>
              <a:buChar char="•"/>
            </a:pPr>
            <a:r>
              <a:rPr lang="en-US" sz="1150" dirty="0">
                <a:solidFill>
                  <a:srgbClr val="0A0F0C"/>
                </a:solidFill>
                <a:latin typeface="Calibri" pitchFamily="34" charset="0"/>
                <a:ea typeface="Calibri" pitchFamily="34" charset="-122"/>
                <a:cs typeface="Calibri" pitchFamily="34" charset="-120"/>
              </a:rPr>
              <a:t>Uses LOAD DATA LOCAL INFILE</a:t>
            </a:r>
            <a:endParaRPr lang="en-US" sz="1150" dirty="0"/>
          </a:p>
          <a:p>
            <a:pPr marL="177800" indent="-177800">
              <a:spcAft>
                <a:spcPts val="500"/>
              </a:spcAft>
              <a:buSzPct val="100000"/>
              <a:buChar char="•"/>
            </a:pPr>
            <a:r>
              <a:rPr lang="en-US" sz="1150" dirty="0">
                <a:solidFill>
                  <a:srgbClr val="0A0F0C"/>
                </a:solidFill>
                <a:latin typeface="Calibri" pitchFamily="34" charset="0"/>
                <a:ea typeface="Calibri" pitchFamily="34" charset="-122"/>
                <a:cs typeface="Calibri" pitchFamily="34" charset="-120"/>
              </a:rPr>
              <a:t>All columns kept as VARCHAR so nothing fails to load</a:t>
            </a:r>
            <a:endParaRPr lang="en-US" sz="1150" dirty="0"/>
          </a:p>
        </p:txBody>
      </p:sp>
      <p:sp>
        <p:nvSpPr>
          <p:cNvPr id="11" name="Shape 8"/>
          <p:cNvSpPr/>
          <p:nvPr/>
        </p:nvSpPr>
        <p:spPr>
          <a:xfrm>
            <a:off x="2578608" y="1371600"/>
            <a:ext cx="1920240" cy="3246120"/>
          </a:xfrm>
          <a:prstGeom prst="roundRect">
            <a:avLst>
              <a:gd name="adj" fmla="val 3810"/>
            </a:avLst>
          </a:prstGeom>
          <a:solidFill>
            <a:srgbClr val="0A0F0C"/>
          </a:solidFill>
          <a:ln/>
        </p:spPr>
      </p:sp>
      <p:sp>
        <p:nvSpPr>
          <p:cNvPr id="12" name="Shape 9"/>
          <p:cNvSpPr/>
          <p:nvPr/>
        </p:nvSpPr>
        <p:spPr>
          <a:xfrm>
            <a:off x="2715768" y="1508760"/>
            <a:ext cx="457200" cy="457200"/>
          </a:xfrm>
          <a:prstGeom prst="ellipse">
            <a:avLst/>
          </a:prstGeom>
          <a:solidFill>
            <a:srgbClr val="16A34A"/>
          </a:solidFill>
          <a:ln/>
        </p:spPr>
      </p:sp>
      <p:pic>
        <p:nvPicPr>
          <p:cNvPr id="13" name="Image 1" descr="preencoded.png">    </p:cNvPr>
          <p:cNvPicPr>
            <a:picLocks noChangeAspect="1"/>
          </p:cNvPicPr>
          <p:nvPr/>
        </p:nvPicPr>
        <p:blipFill>
          <a:blip r:embed="rId2"/>
          <a:stretch>
            <a:fillRect/>
          </a:stretch>
        </p:blipFill>
        <p:spPr>
          <a:xfrm>
            <a:off x="2830068" y="1623060"/>
            <a:ext cx="228600" cy="228600"/>
          </a:xfrm>
          <a:prstGeom prst="rect">
            <a:avLst/>
          </a:prstGeom>
        </p:spPr>
      </p:pic>
      <p:sp>
        <p:nvSpPr>
          <p:cNvPr id="14" name="Text 10"/>
          <p:cNvSpPr txBox="1"/>
          <p:nvPr/>
        </p:nvSpPr>
        <p:spPr>
          <a:xfrm>
            <a:off x="3264408" y="1508760"/>
            <a:ext cx="1188720" cy="201168"/>
          </a:xfrm>
          <a:prstGeom prst="rect">
            <a:avLst/>
          </a:prstGeom>
          <a:noFill/>
          <a:ln/>
        </p:spPr>
        <p:txBody>
          <a:bodyPr wrap="square" lIns="0" tIns="0" rIns="0" bIns="0" rtlCol="0" anchor="t"/>
          <a:lstStyle/>
          <a:p>
            <a:pPr indent="0" marL="0">
              <a:buNone/>
            </a:pPr>
            <a:r>
              <a:rPr lang="en-US" sz="950" b="1" spc="200" kern="0" dirty="0">
                <a:solidFill>
                  <a:srgbClr val="86D19B"/>
                </a:solidFill>
                <a:latin typeface="Calibri" pitchFamily="34" charset="0"/>
                <a:ea typeface="Calibri" pitchFamily="34" charset="-122"/>
                <a:cs typeface="Calibri" pitchFamily="34" charset="-120"/>
              </a:rPr>
              <a:t>STEP 2</a:t>
            </a:r>
            <a:endParaRPr lang="en-US" sz="950" dirty="0"/>
          </a:p>
        </p:txBody>
      </p:sp>
      <p:sp>
        <p:nvSpPr>
          <p:cNvPr id="15" name="Text 11"/>
          <p:cNvSpPr txBox="1"/>
          <p:nvPr/>
        </p:nvSpPr>
        <p:spPr>
          <a:xfrm>
            <a:off x="3264408" y="1691640"/>
            <a:ext cx="1188720" cy="292608"/>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Transform</a:t>
            </a:r>
            <a:endParaRPr lang="en-US" sz="1600" dirty="0"/>
          </a:p>
        </p:txBody>
      </p:sp>
      <p:sp>
        <p:nvSpPr>
          <p:cNvPr id="16" name="Text 12"/>
          <p:cNvSpPr txBox="1"/>
          <p:nvPr/>
        </p:nvSpPr>
        <p:spPr>
          <a:xfrm>
            <a:off x="2715768" y="2240280"/>
            <a:ext cx="1691640" cy="2286000"/>
          </a:xfrm>
          <a:prstGeom prst="rect">
            <a:avLst/>
          </a:prstGeom>
          <a:noFill/>
          <a:ln/>
        </p:spPr>
        <p:txBody>
          <a:bodyPr wrap="square" lIns="0" tIns="0" rIns="0" bIns="0" rtlCol="0" anchor="t"/>
          <a:lstStyle/>
          <a:p>
            <a:pPr marL="177800" indent="-177800">
              <a:spcAft>
                <a:spcPts val="500"/>
              </a:spcAft>
              <a:buSzPct val="100000"/>
              <a:buChar char="•"/>
            </a:pPr>
            <a:r>
              <a:rPr lang="en-US" sz="1150" dirty="0">
                <a:solidFill>
                  <a:srgbClr val="FFFFFF"/>
                </a:solidFill>
                <a:latin typeface="Calibri" pitchFamily="34" charset="0"/>
                <a:ea typeface="Calibri" pitchFamily="34" charset="-122"/>
                <a:cs typeface="Calibri" pitchFamily="34" charset="-120"/>
              </a:rPr>
              <a:t>REPLACE() strips commas from numbers</a:t>
            </a:r>
            <a:endParaRPr lang="en-US" sz="1150" dirty="0"/>
          </a:p>
          <a:p>
            <a:pPr marL="177800" indent="-177800">
              <a:spcAft>
                <a:spcPts val="500"/>
              </a:spcAft>
              <a:buSzPct val="100000"/>
              <a:buChar char="•"/>
            </a:pPr>
            <a:r>
              <a:rPr lang="en-US" sz="1150" dirty="0">
                <a:solidFill>
                  <a:srgbClr val="FFFFFF"/>
                </a:solidFill>
                <a:latin typeface="Calibri" pitchFamily="34" charset="0"/>
                <a:ea typeface="Calibri" pitchFamily="34" charset="-122"/>
                <a:cs typeface="Calibri" pitchFamily="34" charset="-120"/>
              </a:rPr>
              <a:t>STR_TO_DATE() with multiple format fallbacks</a:t>
            </a:r>
            <a:endParaRPr lang="en-US" sz="1150" dirty="0"/>
          </a:p>
          <a:p>
            <a:pPr marL="177800" indent="-177800">
              <a:spcAft>
                <a:spcPts val="500"/>
              </a:spcAft>
              <a:buSzPct val="100000"/>
              <a:buChar char="•"/>
            </a:pPr>
            <a:r>
              <a:rPr lang="en-US" sz="1150" dirty="0">
                <a:solidFill>
                  <a:srgbClr val="FFFFFF"/>
                </a:solidFill>
                <a:latin typeface="Calibri" pitchFamily="34" charset="0"/>
                <a:ea typeface="Calibri" pitchFamily="34" charset="-122"/>
                <a:cs typeface="Calibri" pitchFamily="34" charset="-120"/>
              </a:rPr>
              <a:t>COALESCE() defaults null dates to '1970-01-01'</a:t>
            </a:r>
            <a:endParaRPr lang="en-US" sz="1150" dirty="0"/>
          </a:p>
          <a:p>
            <a:pPr marL="177800" indent="-177800">
              <a:spcAft>
                <a:spcPts val="500"/>
              </a:spcAft>
              <a:buSzPct val="100000"/>
              <a:buChar char="•"/>
            </a:pPr>
            <a:r>
              <a:rPr lang="en-US" sz="1150" dirty="0">
                <a:solidFill>
                  <a:srgbClr val="FFFFFF"/>
                </a:solidFill>
                <a:latin typeface="Calibri" pitchFamily="34" charset="0"/>
                <a:ea typeface="Calibri" pitchFamily="34" charset="-122"/>
                <a:cs typeface="Calibri" pitchFamily="34" charset="-120"/>
              </a:rPr>
              <a:t>Standardize casing ('vErIfIeD' becomes 'Verified')</a:t>
            </a:r>
            <a:endParaRPr lang="en-US" sz="1150" dirty="0"/>
          </a:p>
          <a:p>
            <a:pPr marL="177800" indent="-177800">
              <a:spcAft>
                <a:spcPts val="500"/>
              </a:spcAft>
              <a:buSzPct val="100000"/>
              <a:buChar char="•"/>
            </a:pPr>
            <a:r>
              <a:rPr lang="en-US" sz="1150" dirty="0">
                <a:solidFill>
                  <a:srgbClr val="FFFFFF"/>
                </a:solidFill>
                <a:latin typeface="Calibri" pitchFamily="34" charset="0"/>
                <a:ea typeface="Calibri" pitchFamily="34" charset="-122"/>
                <a:cs typeface="Calibri" pitchFamily="34" charset="-120"/>
              </a:rPr>
              <a:t>Convert local currency to USD using FX rates</a:t>
            </a:r>
            <a:endParaRPr lang="en-US" sz="1150" dirty="0"/>
          </a:p>
        </p:txBody>
      </p:sp>
      <p:sp>
        <p:nvSpPr>
          <p:cNvPr id="17" name="Shape 13"/>
          <p:cNvSpPr/>
          <p:nvPr/>
        </p:nvSpPr>
        <p:spPr>
          <a:xfrm>
            <a:off x="4700016" y="1371600"/>
            <a:ext cx="1920240" cy="3246120"/>
          </a:xfrm>
          <a:prstGeom prst="roundRect">
            <a:avLst>
              <a:gd name="adj" fmla="val 3810"/>
            </a:avLst>
          </a:prstGeom>
          <a:solidFill>
            <a:srgbClr val="E8F5EC"/>
          </a:solidFill>
          <a:ln/>
        </p:spPr>
      </p:sp>
      <p:sp>
        <p:nvSpPr>
          <p:cNvPr id="18" name="Shape 14"/>
          <p:cNvSpPr/>
          <p:nvPr/>
        </p:nvSpPr>
        <p:spPr>
          <a:xfrm>
            <a:off x="4837176" y="1508760"/>
            <a:ext cx="457200" cy="457200"/>
          </a:xfrm>
          <a:prstGeom prst="ellipse">
            <a:avLst/>
          </a:prstGeom>
          <a:solidFill>
            <a:srgbClr val="16A34A"/>
          </a:solidFill>
          <a:ln/>
        </p:spPr>
      </p:sp>
      <p:pic>
        <p:nvPicPr>
          <p:cNvPr id="19" name="Image 2" descr="preencoded.png">    </p:cNvPr>
          <p:cNvPicPr>
            <a:picLocks noChangeAspect="1"/>
          </p:cNvPicPr>
          <p:nvPr/>
        </p:nvPicPr>
        <p:blipFill>
          <a:blip r:embed="rId3"/>
          <a:stretch>
            <a:fillRect/>
          </a:stretch>
        </p:blipFill>
        <p:spPr>
          <a:xfrm>
            <a:off x="4951476" y="1623060"/>
            <a:ext cx="228600" cy="228600"/>
          </a:xfrm>
          <a:prstGeom prst="rect">
            <a:avLst/>
          </a:prstGeom>
        </p:spPr>
      </p:pic>
      <p:sp>
        <p:nvSpPr>
          <p:cNvPr id="20" name="Text 15"/>
          <p:cNvSpPr txBox="1"/>
          <p:nvPr/>
        </p:nvSpPr>
        <p:spPr>
          <a:xfrm>
            <a:off x="5385816" y="1508760"/>
            <a:ext cx="1188720" cy="201168"/>
          </a:xfrm>
          <a:prstGeom prst="rect">
            <a:avLst/>
          </a:prstGeom>
          <a:noFill/>
          <a:ln/>
        </p:spPr>
        <p:txBody>
          <a:bodyPr wrap="square" lIns="0" tIns="0" rIns="0" bIns="0" rtlCol="0" anchor="t"/>
          <a:lstStyle/>
          <a:p>
            <a:pPr indent="0" marL="0">
              <a:buNone/>
            </a:pPr>
            <a:r>
              <a:rPr lang="en-US" sz="950" b="1" spc="200" kern="0" dirty="0">
                <a:solidFill>
                  <a:srgbClr val="16A34A"/>
                </a:solidFill>
                <a:latin typeface="Calibri" pitchFamily="34" charset="0"/>
                <a:ea typeface="Calibri" pitchFamily="34" charset="-122"/>
                <a:cs typeface="Calibri" pitchFamily="34" charset="-120"/>
              </a:rPr>
              <a:t>STEP 3</a:t>
            </a:r>
            <a:endParaRPr lang="en-US" sz="950" dirty="0"/>
          </a:p>
        </p:txBody>
      </p:sp>
      <p:sp>
        <p:nvSpPr>
          <p:cNvPr id="21" name="Text 16"/>
          <p:cNvSpPr txBox="1"/>
          <p:nvPr/>
        </p:nvSpPr>
        <p:spPr>
          <a:xfrm>
            <a:off x="5385816" y="1691640"/>
            <a:ext cx="1188720" cy="292608"/>
          </a:xfrm>
          <a:prstGeom prst="rect">
            <a:avLst/>
          </a:prstGeom>
          <a:noFill/>
          <a:ln/>
        </p:spPr>
        <p:txBody>
          <a:bodyPr wrap="square" lIns="0" tIns="0" rIns="0" bIns="0" rtlCol="0" anchor="t"/>
          <a:lstStyle/>
          <a:p>
            <a:pPr indent="0" marL="0">
              <a:buNone/>
            </a:pPr>
            <a:r>
              <a:rPr lang="en-US" sz="1600" b="1" dirty="0">
                <a:solidFill>
                  <a:srgbClr val="0A0F0C"/>
                </a:solidFill>
                <a:latin typeface="Calibri" pitchFamily="34" charset="0"/>
                <a:ea typeface="Calibri" pitchFamily="34" charset="-122"/>
                <a:cs typeface="Calibri" pitchFamily="34" charset="-120"/>
              </a:rPr>
              <a:t>Load</a:t>
            </a:r>
            <a:endParaRPr lang="en-US" sz="1600" dirty="0"/>
          </a:p>
        </p:txBody>
      </p:sp>
      <p:sp>
        <p:nvSpPr>
          <p:cNvPr id="22" name="Text 17"/>
          <p:cNvSpPr txBox="1"/>
          <p:nvPr/>
        </p:nvSpPr>
        <p:spPr>
          <a:xfrm>
            <a:off x="4837176" y="2240280"/>
            <a:ext cx="1691640" cy="2286000"/>
          </a:xfrm>
          <a:prstGeom prst="rect">
            <a:avLst/>
          </a:prstGeom>
          <a:noFill/>
          <a:ln/>
        </p:spPr>
        <p:txBody>
          <a:bodyPr wrap="square" lIns="0" tIns="0" rIns="0" bIns="0" rtlCol="0" anchor="t"/>
          <a:lstStyle/>
          <a:p>
            <a:pPr marL="177800" indent="-177800">
              <a:spcAft>
                <a:spcPts val="500"/>
              </a:spcAft>
              <a:buSzPct val="100000"/>
              <a:buChar char="•"/>
            </a:pPr>
            <a:r>
              <a:rPr lang="en-US" sz="1150" dirty="0">
                <a:solidFill>
                  <a:srgbClr val="0A0F0C"/>
                </a:solidFill>
                <a:latin typeface="Calibri" pitchFamily="34" charset="0"/>
                <a:ea typeface="Calibri" pitchFamily="34" charset="-122"/>
                <a:cs typeface="Calibri" pitchFamily="34" charset="-120"/>
              </a:rPr>
              <a:t>Clean data inserted into production dim_* and fct_* tables</a:t>
            </a:r>
            <a:endParaRPr lang="en-US" sz="1150" dirty="0"/>
          </a:p>
          <a:p>
            <a:pPr marL="177800" indent="-177800">
              <a:spcAft>
                <a:spcPts val="500"/>
              </a:spcAft>
              <a:buSzPct val="100000"/>
              <a:buChar char="•"/>
            </a:pPr>
            <a:r>
              <a:rPr lang="en-US" sz="1150" dirty="0">
                <a:solidFill>
                  <a:srgbClr val="0A0F0C"/>
                </a:solidFill>
                <a:latin typeface="Calibri" pitchFamily="34" charset="0"/>
                <a:ea typeface="Calibri" pitchFamily="34" charset="-122"/>
                <a:cs typeface="Calibri" pitchFamily="34" charset="-120"/>
              </a:rPr>
              <a:t>Strict data types: INT, DECIMAL, DATE</a:t>
            </a:r>
            <a:endParaRPr lang="en-US" sz="1150" dirty="0"/>
          </a:p>
        </p:txBody>
      </p:sp>
      <p:sp>
        <p:nvSpPr>
          <p:cNvPr id="23" name="Shape 18"/>
          <p:cNvSpPr/>
          <p:nvPr/>
        </p:nvSpPr>
        <p:spPr>
          <a:xfrm>
            <a:off x="6821424" y="1371600"/>
            <a:ext cx="1920240" cy="3246120"/>
          </a:xfrm>
          <a:prstGeom prst="roundRect">
            <a:avLst>
              <a:gd name="adj" fmla="val 3810"/>
            </a:avLst>
          </a:prstGeom>
          <a:solidFill>
            <a:srgbClr val="E8F5EC"/>
          </a:solidFill>
          <a:ln/>
        </p:spPr>
      </p:sp>
      <p:sp>
        <p:nvSpPr>
          <p:cNvPr id="24" name="Shape 19"/>
          <p:cNvSpPr/>
          <p:nvPr/>
        </p:nvSpPr>
        <p:spPr>
          <a:xfrm>
            <a:off x="6958584" y="1508760"/>
            <a:ext cx="457200" cy="457200"/>
          </a:xfrm>
          <a:prstGeom prst="ellipse">
            <a:avLst/>
          </a:prstGeom>
          <a:solidFill>
            <a:srgbClr val="16A34A"/>
          </a:solidFill>
          <a:ln/>
        </p:spPr>
      </p:sp>
      <p:pic>
        <p:nvPicPr>
          <p:cNvPr id="25" name="Image 3" descr="preencoded.png">    </p:cNvPr>
          <p:cNvPicPr>
            <a:picLocks noChangeAspect="1"/>
          </p:cNvPicPr>
          <p:nvPr/>
        </p:nvPicPr>
        <p:blipFill>
          <a:blip r:embed="rId4"/>
          <a:stretch>
            <a:fillRect/>
          </a:stretch>
        </p:blipFill>
        <p:spPr>
          <a:xfrm>
            <a:off x="7072884" y="1623060"/>
            <a:ext cx="228600" cy="228600"/>
          </a:xfrm>
          <a:prstGeom prst="rect">
            <a:avLst/>
          </a:prstGeom>
        </p:spPr>
      </p:pic>
      <p:sp>
        <p:nvSpPr>
          <p:cNvPr id="26" name="Text 20"/>
          <p:cNvSpPr txBox="1"/>
          <p:nvPr/>
        </p:nvSpPr>
        <p:spPr>
          <a:xfrm>
            <a:off x="7507224" y="1508760"/>
            <a:ext cx="1188720" cy="201168"/>
          </a:xfrm>
          <a:prstGeom prst="rect">
            <a:avLst/>
          </a:prstGeom>
          <a:noFill/>
          <a:ln/>
        </p:spPr>
        <p:txBody>
          <a:bodyPr wrap="square" lIns="0" tIns="0" rIns="0" bIns="0" rtlCol="0" anchor="t"/>
          <a:lstStyle/>
          <a:p>
            <a:pPr indent="0" marL="0">
              <a:buNone/>
            </a:pPr>
            <a:r>
              <a:rPr lang="en-US" sz="950" b="1" spc="200" kern="0" dirty="0">
                <a:solidFill>
                  <a:srgbClr val="16A34A"/>
                </a:solidFill>
                <a:latin typeface="Calibri" pitchFamily="34" charset="0"/>
                <a:ea typeface="Calibri" pitchFamily="34" charset="-122"/>
                <a:cs typeface="Calibri" pitchFamily="34" charset="-120"/>
              </a:rPr>
              <a:t>STEP 4</a:t>
            </a:r>
            <a:endParaRPr lang="en-US" sz="950" dirty="0"/>
          </a:p>
        </p:txBody>
      </p:sp>
      <p:sp>
        <p:nvSpPr>
          <p:cNvPr id="27" name="Text 21"/>
          <p:cNvSpPr txBox="1"/>
          <p:nvPr/>
        </p:nvSpPr>
        <p:spPr>
          <a:xfrm>
            <a:off x="7507224" y="1691640"/>
            <a:ext cx="1188720" cy="292608"/>
          </a:xfrm>
          <a:prstGeom prst="rect">
            <a:avLst/>
          </a:prstGeom>
          <a:noFill/>
          <a:ln/>
        </p:spPr>
        <p:txBody>
          <a:bodyPr wrap="square" lIns="0" tIns="0" rIns="0" bIns="0" rtlCol="0" anchor="t"/>
          <a:lstStyle/>
          <a:p>
            <a:pPr indent="0" marL="0">
              <a:buNone/>
            </a:pPr>
            <a:r>
              <a:rPr lang="en-US" sz="1600" b="1" dirty="0">
                <a:solidFill>
                  <a:srgbClr val="0A0F0C"/>
                </a:solidFill>
                <a:latin typeface="Calibri" pitchFamily="34" charset="0"/>
                <a:ea typeface="Calibri" pitchFamily="34" charset="-122"/>
                <a:cs typeface="Calibri" pitchFamily="34" charset="-120"/>
              </a:rPr>
              <a:t>Archive</a:t>
            </a:r>
            <a:endParaRPr lang="en-US" sz="1600" dirty="0"/>
          </a:p>
        </p:txBody>
      </p:sp>
      <p:sp>
        <p:nvSpPr>
          <p:cNvPr id="28" name="Text 22"/>
          <p:cNvSpPr txBox="1"/>
          <p:nvPr/>
        </p:nvSpPr>
        <p:spPr>
          <a:xfrm>
            <a:off x="6958584" y="2240280"/>
            <a:ext cx="1691640" cy="2286000"/>
          </a:xfrm>
          <a:prstGeom prst="rect">
            <a:avLst/>
          </a:prstGeom>
          <a:noFill/>
          <a:ln/>
        </p:spPr>
        <p:txBody>
          <a:bodyPr wrap="square" lIns="0" tIns="0" rIns="0" bIns="0" rtlCol="0" anchor="t"/>
          <a:lstStyle/>
          <a:p>
            <a:pPr marL="177800" indent="-177800">
              <a:spcAft>
                <a:spcPts val="500"/>
              </a:spcAft>
              <a:buSzPct val="100000"/>
              <a:buChar char="•"/>
            </a:pPr>
            <a:r>
              <a:rPr lang="en-US" sz="1150" dirty="0">
                <a:solidFill>
                  <a:srgbClr val="0A0F0C"/>
                </a:solidFill>
                <a:latin typeface="Calibri" pitchFamily="34" charset="0"/>
                <a:ea typeface="Calibri" pitchFamily="34" charset="-122"/>
                <a:cs typeface="Calibri" pitchFamily="34" charset="-120"/>
              </a:rPr>
              <a:t>Before each reload, previous data is copied to nexabank_history</a:t>
            </a:r>
            <a:endParaRPr lang="en-US" sz="1150" dirty="0"/>
          </a:p>
          <a:p>
            <a:pPr marL="177800" indent="-177800">
              <a:spcAft>
                <a:spcPts val="500"/>
              </a:spcAft>
              <a:buSzPct val="100000"/>
              <a:buChar char="•"/>
            </a:pPr>
            <a:r>
              <a:rPr lang="en-US" sz="1150" dirty="0">
                <a:solidFill>
                  <a:srgbClr val="0A0F0C"/>
                </a:solidFill>
                <a:latin typeface="Calibri" pitchFamily="34" charset="0"/>
                <a:ea typeface="Calibri" pitchFamily="34" charset="-122"/>
                <a:cs typeface="Calibri" pitchFamily="34" charset="-120"/>
              </a:rPr>
              <a:t>Snapshots are timestamped</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100" b="1" spc="300" kern="0" dirty="0">
                <a:solidFill>
                  <a:srgbClr val="16A34A"/>
                </a:solidFill>
                <a:latin typeface="Calibri" pitchFamily="34" charset="0"/>
                <a:ea typeface="Calibri" pitchFamily="34" charset="-122"/>
                <a:cs typeface="Calibri" pitchFamily="34" charset="-120"/>
              </a:rPr>
              <a:t>DATA QUALITY</a:t>
            </a:r>
            <a:endParaRPr lang="en-US" sz="11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3200" b="1" dirty="0">
                <a:solidFill>
                  <a:srgbClr val="0A0F0C"/>
                </a:solidFill>
                <a:latin typeface="Cambria" pitchFamily="34" charset="0"/>
                <a:ea typeface="Cambria" pitchFamily="34" charset="-122"/>
                <a:cs typeface="Cambria" pitchFamily="34" charset="-120"/>
              </a:rPr>
              <a:t>Data Quality Challenges Handled</a:t>
            </a:r>
            <a:endParaRPr lang="en-US" sz="3200" dirty="0"/>
          </a:p>
        </p:txBody>
      </p:sp>
      <p:sp>
        <p:nvSpPr>
          <p:cNvPr id="4" name="Text 2"/>
          <p:cNvSpPr txBox="1"/>
          <p:nvPr/>
        </p:nvSpPr>
        <p:spPr>
          <a:xfrm>
            <a:off x="457200" y="4800600"/>
            <a:ext cx="82296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NexaBank Data Warehouse &amp; Analytics Pipeline   |   6</a:t>
            </a:r>
            <a:endParaRPr lang="en-US" sz="900" dirty="0"/>
          </a:p>
        </p:txBody>
      </p:sp>
      <p:sp>
        <p:nvSpPr>
          <p:cNvPr id="5" name="Shape 3"/>
          <p:cNvSpPr/>
          <p:nvPr/>
        </p:nvSpPr>
        <p:spPr>
          <a:xfrm>
            <a:off x="457200" y="1325880"/>
            <a:ext cx="8229600" cy="585216"/>
          </a:xfrm>
          <a:prstGeom prst="roundRect">
            <a:avLst>
              <a:gd name="adj" fmla="val 12500"/>
            </a:avLst>
          </a:prstGeom>
          <a:solidFill>
            <a:srgbClr val="E8F5EC"/>
          </a:solidFill>
          <a:ln/>
        </p:spPr>
      </p:sp>
      <p:sp>
        <p:nvSpPr>
          <p:cNvPr id="6" name="Shape 4"/>
          <p:cNvSpPr/>
          <p:nvPr/>
        </p:nvSpPr>
        <p:spPr>
          <a:xfrm>
            <a:off x="594360" y="1408176"/>
            <a:ext cx="420624" cy="420624"/>
          </a:xfrm>
          <a:prstGeom prst="ellipse">
            <a:avLst/>
          </a:prstGeom>
          <a:solidFill>
            <a:srgbClr val="16A34A"/>
          </a:solidFill>
          <a:ln/>
        </p:spPr>
      </p:sp>
      <p:pic>
        <p:nvPicPr>
          <p:cNvPr id="7" name="Image 0" descr="preencoded.png">    </p:cNvPr>
          <p:cNvPicPr>
            <a:picLocks noChangeAspect="1"/>
          </p:cNvPicPr>
          <p:nvPr/>
        </p:nvPicPr>
        <p:blipFill>
          <a:blip r:embed="rId1"/>
          <a:stretch>
            <a:fillRect/>
          </a:stretch>
        </p:blipFill>
        <p:spPr>
          <a:xfrm>
            <a:off x="699516" y="1513332"/>
            <a:ext cx="210312" cy="210312"/>
          </a:xfrm>
          <a:prstGeom prst="rect">
            <a:avLst/>
          </a:prstGeom>
        </p:spPr>
      </p:pic>
      <p:sp>
        <p:nvSpPr>
          <p:cNvPr id="8" name="Text 5"/>
          <p:cNvSpPr txBox="1"/>
          <p:nvPr/>
        </p:nvSpPr>
        <p:spPr>
          <a:xfrm>
            <a:off x="1188720" y="1380744"/>
            <a:ext cx="4754880" cy="256032"/>
          </a:xfrm>
          <a:prstGeom prst="rect">
            <a:avLst/>
          </a:prstGeom>
          <a:noFill/>
          <a:ln/>
        </p:spPr>
        <p:txBody>
          <a:bodyPr wrap="square" lIns="0" tIns="0" rIns="0" bIns="0" rtlCol="0" anchor="t"/>
          <a:lstStyle/>
          <a:p>
            <a:pPr indent="0" marL="0">
              <a:buNone/>
            </a:pPr>
            <a:r>
              <a:rPr lang="en-US" sz="1400" b="1" dirty="0">
                <a:solidFill>
                  <a:srgbClr val="0A0F0C"/>
                </a:solidFill>
                <a:latin typeface="Calibri" pitchFamily="34" charset="0"/>
                <a:ea typeface="Calibri" pitchFamily="34" charset="-122"/>
                <a:cs typeface="Calibri" pitchFamily="34" charset="-120"/>
              </a:rPr>
              <a:t>Comma-separated numbers</a:t>
            </a:r>
            <a:endParaRPr lang="en-US" sz="1400" dirty="0"/>
          </a:p>
        </p:txBody>
      </p:sp>
      <p:sp>
        <p:nvSpPr>
          <p:cNvPr id="9" name="Text 6"/>
          <p:cNvSpPr txBox="1"/>
          <p:nvPr/>
        </p:nvSpPr>
        <p:spPr>
          <a:xfrm>
            <a:off x="1188720" y="1636776"/>
            <a:ext cx="4754880" cy="219456"/>
          </a:xfrm>
          <a:prstGeom prst="rect">
            <a:avLst/>
          </a:prstGeom>
          <a:noFill/>
          <a:ln/>
        </p:spPr>
        <p:txBody>
          <a:bodyPr wrap="square" lIns="0" tIns="0" rIns="0" bIns="0" rtlCol="0" anchor="t"/>
          <a:lstStyle/>
          <a:p>
            <a:pPr indent="0" marL="0">
              <a:buNone/>
            </a:pPr>
            <a:r>
              <a:rPr lang="en-US" sz="1100" dirty="0">
                <a:solidFill>
                  <a:srgbClr val="4B5563"/>
                </a:solidFill>
                <a:latin typeface="Calibri" pitchFamily="34" charset="0"/>
                <a:ea typeface="Calibri" pitchFamily="34" charset="-122"/>
                <a:cs typeface="Calibri" pitchFamily="34" charset="-120"/>
              </a:rPr>
              <a:t>Values like "1,500.00" are rejected by MySQL</a:t>
            </a:r>
            <a:endParaRPr lang="en-US" sz="1100" dirty="0"/>
          </a:p>
        </p:txBody>
      </p:sp>
      <p:sp>
        <p:nvSpPr>
          <p:cNvPr id="10" name="Shape 7"/>
          <p:cNvSpPr/>
          <p:nvPr/>
        </p:nvSpPr>
        <p:spPr>
          <a:xfrm>
            <a:off x="6172200" y="1453896"/>
            <a:ext cx="2377440" cy="329184"/>
          </a:xfrm>
          <a:prstGeom prst="roundRect">
            <a:avLst>
              <a:gd name="adj" fmla="val 22222"/>
            </a:avLst>
          </a:prstGeom>
          <a:solidFill>
            <a:srgbClr val="0A0F0C"/>
          </a:solidFill>
          <a:ln/>
        </p:spPr>
      </p:sp>
      <p:sp>
        <p:nvSpPr>
          <p:cNvPr id="11" name="Text 8"/>
          <p:cNvSpPr txBox="1"/>
          <p:nvPr/>
        </p:nvSpPr>
        <p:spPr>
          <a:xfrm>
            <a:off x="6172200" y="1453896"/>
            <a:ext cx="2377440" cy="329184"/>
          </a:xfrm>
          <a:prstGeom prst="rect">
            <a:avLst/>
          </a:prstGeom>
          <a:noFill/>
          <a:ln/>
        </p:spPr>
        <p:txBody>
          <a:bodyPr wrap="square" lIns="0" tIns="0" rIns="0" bIns="0" rtlCol="0" anchor="ctr"/>
          <a:lstStyle/>
          <a:p>
            <a:pPr algn="ctr" indent="0" marL="0">
              <a:buNone/>
            </a:pPr>
            <a:r>
              <a:rPr lang="en-US" sz="1100" b="1" dirty="0">
                <a:solidFill>
                  <a:srgbClr val="22C55E"/>
                </a:solidFill>
                <a:latin typeface="Courier New" pitchFamily="34" charset="0"/>
                <a:ea typeface="Courier New" pitchFamily="34" charset="-122"/>
                <a:cs typeface="Courier New" pitchFamily="34" charset="-120"/>
              </a:rPr>
              <a:t>REPLACE()</a:t>
            </a:r>
            <a:endParaRPr lang="en-US" sz="1100" dirty="0"/>
          </a:p>
        </p:txBody>
      </p:sp>
      <p:sp>
        <p:nvSpPr>
          <p:cNvPr id="12" name="Shape 9"/>
          <p:cNvSpPr/>
          <p:nvPr/>
        </p:nvSpPr>
        <p:spPr>
          <a:xfrm>
            <a:off x="457200" y="1984248"/>
            <a:ext cx="8229600" cy="585216"/>
          </a:xfrm>
          <a:prstGeom prst="roundRect">
            <a:avLst>
              <a:gd name="adj" fmla="val 12500"/>
            </a:avLst>
          </a:prstGeom>
          <a:solidFill>
            <a:srgbClr val="E8F5EC"/>
          </a:solidFill>
          <a:ln/>
        </p:spPr>
      </p:sp>
      <p:sp>
        <p:nvSpPr>
          <p:cNvPr id="13" name="Shape 10"/>
          <p:cNvSpPr/>
          <p:nvPr/>
        </p:nvSpPr>
        <p:spPr>
          <a:xfrm>
            <a:off x="594360" y="2066544"/>
            <a:ext cx="420624" cy="420624"/>
          </a:xfrm>
          <a:prstGeom prst="ellipse">
            <a:avLst/>
          </a:prstGeom>
          <a:solidFill>
            <a:srgbClr val="16A34A"/>
          </a:solidFill>
          <a:ln/>
        </p:spPr>
      </p:sp>
      <p:pic>
        <p:nvPicPr>
          <p:cNvPr id="14" name="Image 1" descr="preencoded.png">    </p:cNvPr>
          <p:cNvPicPr>
            <a:picLocks noChangeAspect="1"/>
          </p:cNvPicPr>
          <p:nvPr/>
        </p:nvPicPr>
        <p:blipFill>
          <a:blip r:embed="rId2"/>
          <a:stretch>
            <a:fillRect/>
          </a:stretch>
        </p:blipFill>
        <p:spPr>
          <a:xfrm>
            <a:off x="699516" y="2171700"/>
            <a:ext cx="210312" cy="210312"/>
          </a:xfrm>
          <a:prstGeom prst="rect">
            <a:avLst/>
          </a:prstGeom>
        </p:spPr>
      </p:pic>
      <p:sp>
        <p:nvSpPr>
          <p:cNvPr id="15" name="Text 11"/>
          <p:cNvSpPr txBox="1"/>
          <p:nvPr/>
        </p:nvSpPr>
        <p:spPr>
          <a:xfrm>
            <a:off x="1188720" y="2039112"/>
            <a:ext cx="4754880" cy="256032"/>
          </a:xfrm>
          <a:prstGeom prst="rect">
            <a:avLst/>
          </a:prstGeom>
          <a:noFill/>
          <a:ln/>
        </p:spPr>
        <p:txBody>
          <a:bodyPr wrap="square" lIns="0" tIns="0" rIns="0" bIns="0" rtlCol="0" anchor="t"/>
          <a:lstStyle/>
          <a:p>
            <a:pPr indent="0" marL="0">
              <a:buNone/>
            </a:pPr>
            <a:r>
              <a:rPr lang="en-US" sz="1400" b="1" dirty="0">
                <a:solidFill>
                  <a:srgbClr val="0A0F0C"/>
                </a:solidFill>
                <a:latin typeface="Calibri" pitchFamily="34" charset="0"/>
                <a:ea typeface="Calibri" pitchFamily="34" charset="-122"/>
                <a:cs typeface="Calibri" pitchFamily="34" charset="-120"/>
              </a:rPr>
              <a:t>Inconsistent dates</a:t>
            </a:r>
            <a:endParaRPr lang="en-US" sz="1400" dirty="0"/>
          </a:p>
        </p:txBody>
      </p:sp>
      <p:sp>
        <p:nvSpPr>
          <p:cNvPr id="16" name="Text 12"/>
          <p:cNvSpPr txBox="1"/>
          <p:nvPr/>
        </p:nvSpPr>
        <p:spPr>
          <a:xfrm>
            <a:off x="1188720" y="2295144"/>
            <a:ext cx="4754880" cy="219456"/>
          </a:xfrm>
          <a:prstGeom prst="rect">
            <a:avLst/>
          </a:prstGeom>
          <a:noFill/>
          <a:ln/>
        </p:spPr>
        <p:txBody>
          <a:bodyPr wrap="square" lIns="0" tIns="0" rIns="0" bIns="0" rtlCol="0" anchor="t"/>
          <a:lstStyle/>
          <a:p>
            <a:pPr indent="0" marL="0">
              <a:buNone/>
            </a:pPr>
            <a:r>
              <a:rPr lang="en-US" sz="1100" dirty="0">
                <a:solidFill>
                  <a:srgbClr val="4B5563"/>
                </a:solidFill>
                <a:latin typeface="Calibri" pitchFamily="34" charset="0"/>
                <a:ea typeface="Calibri" pitchFamily="34" charset="-122"/>
                <a:cs typeface="Calibri" pitchFamily="34" charset="-120"/>
              </a:rPr>
              <a:t>Three different formats in the same column</a:t>
            </a:r>
            <a:endParaRPr lang="en-US" sz="1100" dirty="0"/>
          </a:p>
        </p:txBody>
      </p:sp>
      <p:sp>
        <p:nvSpPr>
          <p:cNvPr id="17" name="Shape 13"/>
          <p:cNvSpPr/>
          <p:nvPr/>
        </p:nvSpPr>
        <p:spPr>
          <a:xfrm>
            <a:off x="6172200" y="2112264"/>
            <a:ext cx="2377440" cy="329184"/>
          </a:xfrm>
          <a:prstGeom prst="roundRect">
            <a:avLst>
              <a:gd name="adj" fmla="val 22222"/>
            </a:avLst>
          </a:prstGeom>
          <a:solidFill>
            <a:srgbClr val="0A0F0C"/>
          </a:solidFill>
          <a:ln/>
        </p:spPr>
      </p:sp>
      <p:sp>
        <p:nvSpPr>
          <p:cNvPr id="18" name="Text 14"/>
          <p:cNvSpPr txBox="1"/>
          <p:nvPr/>
        </p:nvSpPr>
        <p:spPr>
          <a:xfrm>
            <a:off x="6172200" y="2112264"/>
            <a:ext cx="2377440" cy="329184"/>
          </a:xfrm>
          <a:prstGeom prst="rect">
            <a:avLst/>
          </a:prstGeom>
          <a:noFill/>
          <a:ln/>
        </p:spPr>
        <p:txBody>
          <a:bodyPr wrap="square" lIns="0" tIns="0" rIns="0" bIns="0" rtlCol="0" anchor="ctr"/>
          <a:lstStyle/>
          <a:p>
            <a:pPr algn="ctr" indent="0" marL="0">
              <a:buNone/>
            </a:pPr>
            <a:r>
              <a:rPr lang="en-US" sz="1100" b="1" dirty="0">
                <a:solidFill>
                  <a:srgbClr val="22C55E"/>
                </a:solidFill>
                <a:latin typeface="Courier New" pitchFamily="34" charset="0"/>
                <a:ea typeface="Courier New" pitchFamily="34" charset="-122"/>
                <a:cs typeface="Courier New" pitchFamily="34" charset="-120"/>
              </a:rPr>
              <a:t>STR_TO_DATE() + regex</a:t>
            </a:r>
            <a:endParaRPr lang="en-US" sz="1100" dirty="0"/>
          </a:p>
        </p:txBody>
      </p:sp>
      <p:sp>
        <p:nvSpPr>
          <p:cNvPr id="19" name="Shape 15"/>
          <p:cNvSpPr/>
          <p:nvPr/>
        </p:nvSpPr>
        <p:spPr>
          <a:xfrm>
            <a:off x="457200" y="2642616"/>
            <a:ext cx="8229600" cy="585216"/>
          </a:xfrm>
          <a:prstGeom prst="roundRect">
            <a:avLst>
              <a:gd name="adj" fmla="val 12500"/>
            </a:avLst>
          </a:prstGeom>
          <a:solidFill>
            <a:srgbClr val="E8F5EC"/>
          </a:solidFill>
          <a:ln/>
        </p:spPr>
      </p:sp>
      <p:sp>
        <p:nvSpPr>
          <p:cNvPr id="20" name="Shape 16"/>
          <p:cNvSpPr/>
          <p:nvPr/>
        </p:nvSpPr>
        <p:spPr>
          <a:xfrm>
            <a:off x="594360" y="2724912"/>
            <a:ext cx="420624" cy="420624"/>
          </a:xfrm>
          <a:prstGeom prst="ellipse">
            <a:avLst/>
          </a:prstGeom>
          <a:solidFill>
            <a:srgbClr val="16A34A"/>
          </a:solidFill>
          <a:ln/>
        </p:spPr>
      </p:sp>
      <p:pic>
        <p:nvPicPr>
          <p:cNvPr id="21" name="Image 2" descr="preencoded.png">    </p:cNvPr>
          <p:cNvPicPr>
            <a:picLocks noChangeAspect="1"/>
          </p:cNvPicPr>
          <p:nvPr/>
        </p:nvPicPr>
        <p:blipFill>
          <a:blip r:embed="rId3"/>
          <a:stretch>
            <a:fillRect/>
          </a:stretch>
        </p:blipFill>
        <p:spPr>
          <a:xfrm>
            <a:off x="699516" y="2830068"/>
            <a:ext cx="210312" cy="210312"/>
          </a:xfrm>
          <a:prstGeom prst="rect">
            <a:avLst/>
          </a:prstGeom>
        </p:spPr>
      </p:pic>
      <p:sp>
        <p:nvSpPr>
          <p:cNvPr id="22" name="Text 17"/>
          <p:cNvSpPr txBox="1"/>
          <p:nvPr/>
        </p:nvSpPr>
        <p:spPr>
          <a:xfrm>
            <a:off x="1188720" y="2697480"/>
            <a:ext cx="4754880" cy="256032"/>
          </a:xfrm>
          <a:prstGeom prst="rect">
            <a:avLst/>
          </a:prstGeom>
          <a:noFill/>
          <a:ln/>
        </p:spPr>
        <p:txBody>
          <a:bodyPr wrap="square" lIns="0" tIns="0" rIns="0" bIns="0" rtlCol="0" anchor="t"/>
          <a:lstStyle/>
          <a:p>
            <a:pPr indent="0" marL="0">
              <a:buNone/>
            </a:pPr>
            <a:r>
              <a:rPr lang="en-US" sz="1400" b="1" dirty="0">
                <a:solidFill>
                  <a:srgbClr val="0A0F0C"/>
                </a:solidFill>
                <a:latin typeface="Calibri" pitchFamily="34" charset="0"/>
                <a:ea typeface="Calibri" pitchFamily="34" charset="-122"/>
                <a:cs typeface="Calibri" pitchFamily="34" charset="-120"/>
              </a:rPr>
              <a:t>Null / blank dates</a:t>
            </a:r>
            <a:endParaRPr lang="en-US" sz="1400" dirty="0"/>
          </a:p>
        </p:txBody>
      </p:sp>
      <p:sp>
        <p:nvSpPr>
          <p:cNvPr id="23" name="Text 18"/>
          <p:cNvSpPr txBox="1"/>
          <p:nvPr/>
        </p:nvSpPr>
        <p:spPr>
          <a:xfrm>
            <a:off x="1188720" y="2953512"/>
            <a:ext cx="4754880" cy="219456"/>
          </a:xfrm>
          <a:prstGeom prst="rect">
            <a:avLst/>
          </a:prstGeom>
          <a:noFill/>
          <a:ln/>
        </p:spPr>
        <p:txBody>
          <a:bodyPr wrap="square" lIns="0" tIns="0" rIns="0" bIns="0" rtlCol="0" anchor="t"/>
          <a:lstStyle/>
          <a:p>
            <a:pPr indent="0" marL="0">
              <a:buNone/>
            </a:pPr>
            <a:r>
              <a:rPr lang="en-US" sz="1100" dirty="0">
                <a:solidFill>
                  <a:srgbClr val="4B5563"/>
                </a:solidFill>
                <a:latin typeface="Calibri" pitchFamily="34" charset="0"/>
                <a:ea typeface="Calibri" pitchFamily="34" charset="-122"/>
                <a:cs typeface="Calibri" pitchFamily="34" charset="-120"/>
              </a:rPr>
              <a:t>Empty date fields caused load crashes</a:t>
            </a:r>
            <a:endParaRPr lang="en-US" sz="1100" dirty="0"/>
          </a:p>
        </p:txBody>
      </p:sp>
      <p:sp>
        <p:nvSpPr>
          <p:cNvPr id="24" name="Shape 19"/>
          <p:cNvSpPr/>
          <p:nvPr/>
        </p:nvSpPr>
        <p:spPr>
          <a:xfrm>
            <a:off x="6172200" y="2770632"/>
            <a:ext cx="2377440" cy="329184"/>
          </a:xfrm>
          <a:prstGeom prst="roundRect">
            <a:avLst>
              <a:gd name="adj" fmla="val 22222"/>
            </a:avLst>
          </a:prstGeom>
          <a:solidFill>
            <a:srgbClr val="0A0F0C"/>
          </a:solidFill>
          <a:ln/>
        </p:spPr>
      </p:sp>
      <p:sp>
        <p:nvSpPr>
          <p:cNvPr id="25" name="Text 20"/>
          <p:cNvSpPr txBox="1"/>
          <p:nvPr/>
        </p:nvSpPr>
        <p:spPr>
          <a:xfrm>
            <a:off x="6172200" y="2770632"/>
            <a:ext cx="2377440" cy="329184"/>
          </a:xfrm>
          <a:prstGeom prst="rect">
            <a:avLst/>
          </a:prstGeom>
          <a:noFill/>
          <a:ln/>
        </p:spPr>
        <p:txBody>
          <a:bodyPr wrap="square" lIns="0" tIns="0" rIns="0" bIns="0" rtlCol="0" anchor="ctr"/>
          <a:lstStyle/>
          <a:p>
            <a:pPr algn="ctr" indent="0" marL="0">
              <a:buNone/>
            </a:pPr>
            <a:r>
              <a:rPr lang="en-US" sz="1100" b="1" dirty="0">
                <a:solidFill>
                  <a:srgbClr val="22C55E"/>
                </a:solidFill>
                <a:latin typeface="Courier New" pitchFamily="34" charset="0"/>
                <a:ea typeface="Courier New" pitchFamily="34" charset="-122"/>
                <a:cs typeface="Courier New" pitchFamily="34" charset="-120"/>
              </a:rPr>
              <a:t>COALESCE() fallback</a:t>
            </a:r>
            <a:endParaRPr lang="en-US" sz="1100" dirty="0"/>
          </a:p>
        </p:txBody>
      </p:sp>
      <p:sp>
        <p:nvSpPr>
          <p:cNvPr id="26" name="Shape 21"/>
          <p:cNvSpPr/>
          <p:nvPr/>
        </p:nvSpPr>
        <p:spPr>
          <a:xfrm>
            <a:off x="457200" y="3300984"/>
            <a:ext cx="8229600" cy="585216"/>
          </a:xfrm>
          <a:prstGeom prst="roundRect">
            <a:avLst>
              <a:gd name="adj" fmla="val 12500"/>
            </a:avLst>
          </a:prstGeom>
          <a:solidFill>
            <a:srgbClr val="E8F5EC"/>
          </a:solidFill>
          <a:ln/>
        </p:spPr>
      </p:sp>
      <p:sp>
        <p:nvSpPr>
          <p:cNvPr id="27" name="Shape 22"/>
          <p:cNvSpPr/>
          <p:nvPr/>
        </p:nvSpPr>
        <p:spPr>
          <a:xfrm>
            <a:off x="594360" y="3383280"/>
            <a:ext cx="420624" cy="420624"/>
          </a:xfrm>
          <a:prstGeom prst="ellipse">
            <a:avLst/>
          </a:prstGeom>
          <a:solidFill>
            <a:srgbClr val="16A34A"/>
          </a:solidFill>
          <a:ln/>
        </p:spPr>
      </p:sp>
      <p:pic>
        <p:nvPicPr>
          <p:cNvPr id="28" name="Image 3" descr="preencoded.png">    </p:cNvPr>
          <p:cNvPicPr>
            <a:picLocks noChangeAspect="1"/>
          </p:cNvPicPr>
          <p:nvPr/>
        </p:nvPicPr>
        <p:blipFill>
          <a:blip r:embed="rId4"/>
          <a:stretch>
            <a:fillRect/>
          </a:stretch>
        </p:blipFill>
        <p:spPr>
          <a:xfrm>
            <a:off x="699516" y="3488436"/>
            <a:ext cx="210312" cy="210312"/>
          </a:xfrm>
          <a:prstGeom prst="rect">
            <a:avLst/>
          </a:prstGeom>
        </p:spPr>
      </p:pic>
      <p:sp>
        <p:nvSpPr>
          <p:cNvPr id="29" name="Text 23"/>
          <p:cNvSpPr txBox="1"/>
          <p:nvPr/>
        </p:nvSpPr>
        <p:spPr>
          <a:xfrm>
            <a:off x="1188720" y="3355848"/>
            <a:ext cx="4754880" cy="256032"/>
          </a:xfrm>
          <a:prstGeom prst="rect">
            <a:avLst/>
          </a:prstGeom>
          <a:noFill/>
          <a:ln/>
        </p:spPr>
        <p:txBody>
          <a:bodyPr wrap="square" lIns="0" tIns="0" rIns="0" bIns="0" rtlCol="0" anchor="t"/>
          <a:lstStyle/>
          <a:p>
            <a:pPr indent="0" marL="0">
              <a:buNone/>
            </a:pPr>
            <a:r>
              <a:rPr lang="en-US" sz="1400" b="1" dirty="0">
                <a:solidFill>
                  <a:srgbClr val="0A0F0C"/>
                </a:solidFill>
                <a:latin typeface="Calibri" pitchFamily="34" charset="0"/>
                <a:ea typeface="Calibri" pitchFamily="34" charset="-122"/>
                <a:cs typeface="Calibri" pitchFamily="34" charset="-120"/>
              </a:rPr>
              <a:t>Messy text</a:t>
            </a:r>
            <a:endParaRPr lang="en-US" sz="1400" dirty="0"/>
          </a:p>
        </p:txBody>
      </p:sp>
      <p:sp>
        <p:nvSpPr>
          <p:cNvPr id="30" name="Text 24"/>
          <p:cNvSpPr txBox="1"/>
          <p:nvPr/>
        </p:nvSpPr>
        <p:spPr>
          <a:xfrm>
            <a:off x="1188720" y="3611880"/>
            <a:ext cx="4754880" cy="219456"/>
          </a:xfrm>
          <a:prstGeom prst="rect">
            <a:avLst/>
          </a:prstGeom>
          <a:noFill/>
          <a:ln/>
        </p:spPr>
        <p:txBody>
          <a:bodyPr wrap="square" lIns="0" tIns="0" rIns="0" bIns="0" rtlCol="0" anchor="t"/>
          <a:lstStyle/>
          <a:p>
            <a:pPr indent="0" marL="0">
              <a:buNone/>
            </a:pPr>
            <a:r>
              <a:rPr lang="en-US" sz="1100" dirty="0">
                <a:solidFill>
                  <a:srgbClr val="4B5563"/>
                </a:solidFill>
                <a:latin typeface="Calibri" pitchFamily="34" charset="0"/>
                <a:ea typeface="Calibri" pitchFamily="34" charset="-122"/>
                <a:cs typeface="Calibri" pitchFamily="34" charset="-120"/>
              </a:rPr>
              <a:t>Inconsistent casing and spelling in statuses and names</a:t>
            </a:r>
            <a:endParaRPr lang="en-US" sz="1100" dirty="0"/>
          </a:p>
        </p:txBody>
      </p:sp>
      <p:sp>
        <p:nvSpPr>
          <p:cNvPr id="31" name="Shape 25"/>
          <p:cNvSpPr/>
          <p:nvPr/>
        </p:nvSpPr>
        <p:spPr>
          <a:xfrm>
            <a:off x="6172200" y="3429000"/>
            <a:ext cx="2377440" cy="329184"/>
          </a:xfrm>
          <a:prstGeom prst="roundRect">
            <a:avLst>
              <a:gd name="adj" fmla="val 22222"/>
            </a:avLst>
          </a:prstGeom>
          <a:solidFill>
            <a:srgbClr val="0A0F0C"/>
          </a:solidFill>
          <a:ln/>
        </p:spPr>
      </p:sp>
      <p:sp>
        <p:nvSpPr>
          <p:cNvPr id="32" name="Text 26"/>
          <p:cNvSpPr txBox="1"/>
          <p:nvPr/>
        </p:nvSpPr>
        <p:spPr>
          <a:xfrm>
            <a:off x="6172200" y="3429000"/>
            <a:ext cx="2377440" cy="329184"/>
          </a:xfrm>
          <a:prstGeom prst="rect">
            <a:avLst/>
          </a:prstGeom>
          <a:noFill/>
          <a:ln/>
        </p:spPr>
        <p:txBody>
          <a:bodyPr wrap="square" lIns="0" tIns="0" rIns="0" bIns="0" rtlCol="0" anchor="ctr"/>
          <a:lstStyle/>
          <a:p>
            <a:pPr algn="ctr" indent="0" marL="0">
              <a:buNone/>
            </a:pPr>
            <a:r>
              <a:rPr lang="en-US" sz="1100" b="1" dirty="0">
                <a:solidFill>
                  <a:srgbClr val="22C55E"/>
                </a:solidFill>
                <a:latin typeface="Courier New" pitchFamily="34" charset="0"/>
                <a:ea typeface="Courier New" pitchFamily="34" charset="-122"/>
                <a:cs typeface="Courier New" pitchFamily="34" charset="-120"/>
              </a:rPr>
              <a:t>UPPER / LOWER / TRIM</a:t>
            </a:r>
            <a:endParaRPr lang="en-US" sz="1100" dirty="0"/>
          </a:p>
        </p:txBody>
      </p:sp>
      <p:sp>
        <p:nvSpPr>
          <p:cNvPr id="33" name="Shape 27"/>
          <p:cNvSpPr/>
          <p:nvPr/>
        </p:nvSpPr>
        <p:spPr>
          <a:xfrm>
            <a:off x="457200" y="3959352"/>
            <a:ext cx="8229600" cy="585216"/>
          </a:xfrm>
          <a:prstGeom prst="roundRect">
            <a:avLst>
              <a:gd name="adj" fmla="val 12500"/>
            </a:avLst>
          </a:prstGeom>
          <a:solidFill>
            <a:srgbClr val="E8F5EC"/>
          </a:solidFill>
          <a:ln/>
        </p:spPr>
      </p:sp>
      <p:sp>
        <p:nvSpPr>
          <p:cNvPr id="34" name="Shape 28"/>
          <p:cNvSpPr/>
          <p:nvPr/>
        </p:nvSpPr>
        <p:spPr>
          <a:xfrm>
            <a:off x="594360" y="4041648"/>
            <a:ext cx="420624" cy="420624"/>
          </a:xfrm>
          <a:prstGeom prst="ellipse">
            <a:avLst/>
          </a:prstGeom>
          <a:solidFill>
            <a:srgbClr val="16A34A"/>
          </a:solidFill>
          <a:ln/>
        </p:spPr>
      </p:sp>
      <p:pic>
        <p:nvPicPr>
          <p:cNvPr id="35" name="Image 4" descr="preencoded.png">    </p:cNvPr>
          <p:cNvPicPr>
            <a:picLocks noChangeAspect="1"/>
          </p:cNvPicPr>
          <p:nvPr/>
        </p:nvPicPr>
        <p:blipFill>
          <a:blip r:embed="rId5"/>
          <a:stretch>
            <a:fillRect/>
          </a:stretch>
        </p:blipFill>
        <p:spPr>
          <a:xfrm>
            <a:off x="699516" y="4146804"/>
            <a:ext cx="210312" cy="210312"/>
          </a:xfrm>
          <a:prstGeom prst="rect">
            <a:avLst/>
          </a:prstGeom>
        </p:spPr>
      </p:pic>
      <p:sp>
        <p:nvSpPr>
          <p:cNvPr id="36" name="Text 29"/>
          <p:cNvSpPr txBox="1"/>
          <p:nvPr/>
        </p:nvSpPr>
        <p:spPr>
          <a:xfrm>
            <a:off x="1188720" y="4014216"/>
            <a:ext cx="4754880" cy="256032"/>
          </a:xfrm>
          <a:prstGeom prst="rect">
            <a:avLst/>
          </a:prstGeom>
          <a:noFill/>
          <a:ln/>
        </p:spPr>
        <p:txBody>
          <a:bodyPr wrap="square" lIns="0" tIns="0" rIns="0" bIns="0" rtlCol="0" anchor="t"/>
          <a:lstStyle/>
          <a:p>
            <a:pPr indent="0" marL="0">
              <a:buNone/>
            </a:pPr>
            <a:r>
              <a:rPr lang="en-US" sz="1400" b="1" dirty="0">
                <a:solidFill>
                  <a:srgbClr val="0A0F0C"/>
                </a:solidFill>
                <a:latin typeface="Calibri" pitchFamily="34" charset="0"/>
                <a:ea typeface="Calibri" pitchFamily="34" charset="-122"/>
                <a:cs typeface="Calibri" pitchFamily="34" charset="-120"/>
              </a:rPr>
              <a:t>Currency conversion</a:t>
            </a:r>
            <a:endParaRPr lang="en-US" sz="1400" dirty="0"/>
          </a:p>
        </p:txBody>
      </p:sp>
      <p:sp>
        <p:nvSpPr>
          <p:cNvPr id="37" name="Text 30"/>
          <p:cNvSpPr txBox="1"/>
          <p:nvPr/>
        </p:nvSpPr>
        <p:spPr>
          <a:xfrm>
            <a:off x="1188720" y="4270248"/>
            <a:ext cx="4754880" cy="219456"/>
          </a:xfrm>
          <a:prstGeom prst="rect">
            <a:avLst/>
          </a:prstGeom>
          <a:noFill/>
          <a:ln/>
        </p:spPr>
        <p:txBody>
          <a:bodyPr wrap="square" lIns="0" tIns="0" rIns="0" bIns="0" rtlCol="0" anchor="t"/>
          <a:lstStyle/>
          <a:p>
            <a:pPr indent="0" marL="0">
              <a:buNone/>
            </a:pPr>
            <a:r>
              <a:rPr lang="en-US" sz="1100" dirty="0">
                <a:solidFill>
                  <a:srgbClr val="4B5563"/>
                </a:solidFill>
                <a:latin typeface="Calibri" pitchFamily="34" charset="0"/>
                <a:ea typeface="Calibri" pitchFamily="34" charset="-122"/>
                <a:cs typeface="Calibri" pitchFamily="34" charset="-120"/>
              </a:rPr>
              <a:t>Multi-currency amounts standardized to USD</a:t>
            </a:r>
            <a:endParaRPr lang="en-US" sz="1100" dirty="0"/>
          </a:p>
        </p:txBody>
      </p:sp>
      <p:sp>
        <p:nvSpPr>
          <p:cNvPr id="38" name="Shape 31"/>
          <p:cNvSpPr/>
          <p:nvPr/>
        </p:nvSpPr>
        <p:spPr>
          <a:xfrm>
            <a:off x="6172200" y="4087368"/>
            <a:ext cx="2377440" cy="329184"/>
          </a:xfrm>
          <a:prstGeom prst="roundRect">
            <a:avLst>
              <a:gd name="adj" fmla="val 22222"/>
            </a:avLst>
          </a:prstGeom>
          <a:solidFill>
            <a:srgbClr val="0A0F0C"/>
          </a:solidFill>
          <a:ln/>
        </p:spPr>
      </p:sp>
      <p:sp>
        <p:nvSpPr>
          <p:cNvPr id="39" name="Text 32"/>
          <p:cNvSpPr txBox="1"/>
          <p:nvPr/>
        </p:nvSpPr>
        <p:spPr>
          <a:xfrm>
            <a:off x="6172200" y="4087368"/>
            <a:ext cx="2377440" cy="329184"/>
          </a:xfrm>
          <a:prstGeom prst="rect">
            <a:avLst/>
          </a:prstGeom>
          <a:noFill/>
          <a:ln/>
        </p:spPr>
        <p:txBody>
          <a:bodyPr wrap="square" lIns="0" tIns="0" rIns="0" bIns="0" rtlCol="0" anchor="ctr"/>
          <a:lstStyle/>
          <a:p>
            <a:pPr algn="ctr" indent="0" marL="0">
              <a:buNone/>
            </a:pPr>
            <a:r>
              <a:rPr lang="en-US" sz="1100" b="1" dirty="0">
                <a:solidFill>
                  <a:srgbClr val="22C55E"/>
                </a:solidFill>
                <a:latin typeface="Courier New" pitchFamily="34" charset="0"/>
                <a:ea typeface="Courier New" pitchFamily="34" charset="-122"/>
                <a:cs typeface="Courier New" pitchFamily="34" charset="-120"/>
              </a:rPr>
              <a:t>JOIN dim_fx_rates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100" b="1" spc="300" kern="0" dirty="0">
                <a:solidFill>
                  <a:srgbClr val="16A34A"/>
                </a:solidFill>
                <a:latin typeface="Calibri" pitchFamily="34" charset="0"/>
                <a:ea typeface="Calibri" pitchFamily="34" charset="-122"/>
                <a:cs typeface="Calibri" pitchFamily="34" charset="-120"/>
              </a:rPr>
              <a:t>BUSINESS INTELLIGENCE  ·  Q4.1</a:t>
            </a:r>
            <a:endParaRPr lang="en-US" sz="11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3200" b="1" dirty="0">
                <a:solidFill>
                  <a:srgbClr val="0A0F0C"/>
                </a:solidFill>
                <a:latin typeface="Cambria" pitchFamily="34" charset="0"/>
                <a:ea typeface="Cambria" pitchFamily="34" charset="-122"/>
                <a:cs typeface="Cambria" pitchFamily="34" charset="-120"/>
              </a:rPr>
              <a:t>Branch Revenue Intelligence</a:t>
            </a:r>
            <a:endParaRPr lang="en-US" sz="3200" dirty="0"/>
          </a:p>
        </p:txBody>
      </p:sp>
      <p:sp>
        <p:nvSpPr>
          <p:cNvPr id="4" name="Text 2"/>
          <p:cNvSpPr txBox="1"/>
          <p:nvPr/>
        </p:nvSpPr>
        <p:spPr>
          <a:xfrm>
            <a:off x="457200" y="4800600"/>
            <a:ext cx="82296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NexaBank Data Warehouse &amp; Analytics Pipeline   |   7</a:t>
            </a:r>
            <a:endParaRPr lang="en-US" sz="900" dirty="0"/>
          </a:p>
        </p:txBody>
      </p:sp>
      <p:sp>
        <p:nvSpPr>
          <p:cNvPr id="5" name="Shape 3"/>
          <p:cNvSpPr/>
          <p:nvPr/>
        </p:nvSpPr>
        <p:spPr>
          <a:xfrm>
            <a:off x="457200" y="1371600"/>
            <a:ext cx="3931920" cy="1234440"/>
          </a:xfrm>
          <a:prstGeom prst="roundRect">
            <a:avLst>
              <a:gd name="adj" fmla="val 5926"/>
            </a:avLst>
          </a:prstGeom>
          <a:solidFill>
            <a:srgbClr val="0A0F0C"/>
          </a:solidFill>
          <a:ln/>
        </p:spPr>
      </p:sp>
      <p:sp>
        <p:nvSpPr>
          <p:cNvPr id="6" name="Text 4"/>
          <p:cNvSpPr txBox="1"/>
          <p:nvPr/>
        </p:nvSpPr>
        <p:spPr>
          <a:xfrm>
            <a:off x="685800" y="1508760"/>
            <a:ext cx="3474720" cy="228600"/>
          </a:xfrm>
          <a:prstGeom prst="rect">
            <a:avLst/>
          </a:prstGeom>
          <a:noFill/>
          <a:ln/>
        </p:spPr>
        <p:txBody>
          <a:bodyPr wrap="square" lIns="0" tIns="0" rIns="0" bIns="0" rtlCol="0" anchor="t"/>
          <a:lstStyle/>
          <a:p>
            <a:pPr indent="0" marL="0">
              <a:buNone/>
            </a:pPr>
            <a:r>
              <a:rPr lang="en-US" sz="1100" b="1" spc="300" kern="0" dirty="0">
                <a:solidFill>
                  <a:srgbClr val="86D19B"/>
                </a:solidFill>
                <a:latin typeface="Calibri" pitchFamily="34" charset="0"/>
                <a:ea typeface="Calibri" pitchFamily="34" charset="-122"/>
                <a:cs typeface="Calibri" pitchFamily="34" charset="-120"/>
              </a:rPr>
              <a:t>NET POSITION</a:t>
            </a:r>
            <a:endParaRPr lang="en-US" sz="1100" dirty="0"/>
          </a:p>
        </p:txBody>
      </p:sp>
      <p:sp>
        <p:nvSpPr>
          <p:cNvPr id="7" name="Text 5"/>
          <p:cNvSpPr txBox="1"/>
          <p:nvPr/>
        </p:nvSpPr>
        <p:spPr>
          <a:xfrm>
            <a:off x="685800" y="1828800"/>
            <a:ext cx="3474720" cy="594360"/>
          </a:xfrm>
          <a:prstGeom prst="rect">
            <a:avLst/>
          </a:prstGeom>
          <a:noFill/>
          <a:ln/>
        </p:spPr>
        <p:txBody>
          <a:bodyPr wrap="square" lIns="0" tIns="0" rIns="0" bIns="0" rtlCol="0" anchor="ctr"/>
          <a:lstStyle/>
          <a:p>
            <a:pPr indent="0" marL="0">
              <a:buNone/>
            </a:pPr>
            <a:r>
              <a:rPr lang="en-US" sz="3000" b="1" dirty="0">
                <a:solidFill>
                  <a:srgbClr val="22C55E"/>
                </a:solidFill>
                <a:latin typeface="Cambria" pitchFamily="34" charset="0"/>
                <a:ea typeface="Cambria" pitchFamily="34" charset="-122"/>
                <a:cs typeface="Cambria" pitchFamily="34" charset="-120"/>
              </a:rPr>
              <a:t>Credits − Debits</a:t>
            </a:r>
            <a:endParaRPr lang="en-US" sz="3000" dirty="0"/>
          </a:p>
        </p:txBody>
      </p:sp>
      <p:sp>
        <p:nvSpPr>
          <p:cNvPr id="8" name="Text 6"/>
          <p:cNvSpPr txBox="1"/>
          <p:nvPr/>
        </p:nvSpPr>
        <p:spPr>
          <a:xfrm>
            <a:off x="548640" y="2880360"/>
            <a:ext cx="3840480" cy="173736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rgbClr val="0A0F0C"/>
                </a:solidFill>
                <a:latin typeface="Calibri" pitchFamily="34" charset="0"/>
                <a:ea typeface="Calibri" pitchFamily="34" charset="-122"/>
                <a:cs typeface="Calibri" pitchFamily="34" charset="-120"/>
              </a:rPr>
              <a:t>Compares total credits vs total debits for every branch</a:t>
            </a:r>
            <a:endParaRPr lang="en-US" sz="1400" dirty="0"/>
          </a:p>
          <a:p>
            <a:pPr marL="177800" indent="-177800">
              <a:spcAft>
                <a:spcPts val="800"/>
              </a:spcAft>
              <a:buSzPct val="100000"/>
              <a:buChar char="•"/>
            </a:pPr>
            <a:r>
              <a:rPr lang="en-US" sz="1400" dirty="0">
                <a:solidFill>
                  <a:srgbClr val="0A0F0C"/>
                </a:solidFill>
                <a:latin typeface="Calibri" pitchFamily="34" charset="0"/>
                <a:ea typeface="Calibri" pitchFamily="34" charset="-122"/>
                <a:cs typeface="Calibri" pitchFamily="34" charset="-120"/>
              </a:rPr>
              <a:t>Ranks branches by revenue generated</a:t>
            </a:r>
            <a:endParaRPr lang="en-US" sz="1400" dirty="0"/>
          </a:p>
          <a:p>
            <a:pPr marL="177800" indent="-177800">
              <a:spcAft>
                <a:spcPts val="800"/>
              </a:spcAft>
              <a:buSzPct val="100000"/>
              <a:buChar char="•"/>
            </a:pPr>
            <a:r>
              <a:rPr lang="en-US" sz="1400" dirty="0">
                <a:solidFill>
                  <a:srgbClr val="0A0F0C"/>
                </a:solidFill>
                <a:latin typeface="Calibri" pitchFamily="34" charset="0"/>
                <a:ea typeface="Calibri" pitchFamily="34" charset="-122"/>
                <a:cs typeface="Calibri" pitchFamily="34" charset="-120"/>
              </a:rPr>
              <a:t>Helps the Board decide where to invest more resources</a:t>
            </a:r>
            <a:endParaRPr lang="en-US" sz="1400" dirty="0"/>
          </a:p>
        </p:txBody>
      </p:sp>
      <p:sp>
        <p:nvSpPr>
          <p:cNvPr id="9" name="Text 7"/>
          <p:cNvSpPr txBox="1"/>
          <p:nvPr/>
        </p:nvSpPr>
        <p:spPr>
          <a:xfrm>
            <a:off x="4754880" y="1371600"/>
            <a:ext cx="3931920" cy="274320"/>
          </a:xfrm>
          <a:prstGeom prst="rect">
            <a:avLst/>
          </a:prstGeom>
          <a:noFill/>
          <a:ln/>
        </p:spPr>
        <p:txBody>
          <a:bodyPr wrap="square" lIns="0" tIns="0" rIns="0" bIns="0" rtlCol="0" anchor="t"/>
          <a:lstStyle/>
          <a:p>
            <a:pPr indent="0" marL="0">
              <a:buNone/>
            </a:pPr>
            <a:r>
              <a:rPr lang="en-US" sz="1500" b="1" dirty="0">
                <a:solidFill>
                  <a:srgbClr val="0F6B32"/>
                </a:solidFill>
                <a:latin typeface="Calibri" pitchFamily="34" charset="0"/>
                <a:ea typeface="Calibri" pitchFamily="34" charset="-122"/>
                <a:cs typeface="Calibri" pitchFamily="34" charset="-120"/>
              </a:rPr>
              <a:t>Top performing branches</a:t>
            </a:r>
            <a:endParaRPr lang="en-US" sz="1500" dirty="0"/>
          </a:p>
        </p:txBody>
      </p:sp>
      <p:sp>
        <p:nvSpPr>
          <p:cNvPr id="10" name="Shape 8"/>
          <p:cNvSpPr/>
          <p:nvPr/>
        </p:nvSpPr>
        <p:spPr>
          <a:xfrm>
            <a:off x="4754880" y="1783080"/>
            <a:ext cx="3931920" cy="777240"/>
          </a:xfrm>
          <a:prstGeom prst="roundRect">
            <a:avLst>
              <a:gd name="adj" fmla="val 9412"/>
            </a:avLst>
          </a:prstGeom>
          <a:solidFill>
            <a:srgbClr val="16A34A"/>
          </a:solidFill>
          <a:ln/>
        </p:spPr>
      </p:sp>
      <p:sp>
        <p:nvSpPr>
          <p:cNvPr id="11" name="Shape 9"/>
          <p:cNvSpPr/>
          <p:nvPr/>
        </p:nvSpPr>
        <p:spPr>
          <a:xfrm>
            <a:off x="4937760" y="1956816"/>
            <a:ext cx="429768" cy="429768"/>
          </a:xfrm>
          <a:prstGeom prst="ellipse">
            <a:avLst/>
          </a:prstGeom>
          <a:solidFill>
            <a:srgbClr val="0A0F0C"/>
          </a:solidFill>
          <a:ln/>
        </p:spPr>
      </p:sp>
      <p:sp>
        <p:nvSpPr>
          <p:cNvPr id="12" name="Text 10"/>
          <p:cNvSpPr txBox="1"/>
          <p:nvPr/>
        </p:nvSpPr>
        <p:spPr>
          <a:xfrm>
            <a:off x="4937760" y="1956816"/>
            <a:ext cx="429768" cy="429768"/>
          </a:xfrm>
          <a:prstGeom prst="rect">
            <a:avLst/>
          </a:prstGeom>
          <a:noFill/>
          <a:ln/>
        </p:spPr>
        <p:txBody>
          <a:bodyPr wrap="square" lIns="0" tIns="0" rIns="0" bIns="0" rtlCol="0" anchor="ctr"/>
          <a:lstStyle/>
          <a:p>
            <a:pPr algn="ctr" indent="0" marL="0">
              <a:buNone/>
            </a:pPr>
            <a:r>
              <a:rPr lang="en-US" sz="1800" b="1" dirty="0">
                <a:solidFill>
                  <a:srgbClr val="22C55E"/>
                </a:solidFill>
                <a:latin typeface="Cambria" pitchFamily="34" charset="0"/>
                <a:ea typeface="Cambria" pitchFamily="34" charset="-122"/>
                <a:cs typeface="Cambria" pitchFamily="34" charset="-120"/>
              </a:rPr>
              <a:t>1</a:t>
            </a:r>
            <a:endParaRPr lang="en-US" sz="1800" dirty="0"/>
          </a:p>
        </p:txBody>
      </p:sp>
      <p:sp>
        <p:nvSpPr>
          <p:cNvPr id="13" name="Text 11"/>
          <p:cNvSpPr txBox="1"/>
          <p:nvPr/>
        </p:nvSpPr>
        <p:spPr>
          <a:xfrm>
            <a:off x="5577840" y="1783080"/>
            <a:ext cx="3017520" cy="77724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London Canary Wharf</a:t>
            </a:r>
            <a:endParaRPr lang="en-US" sz="1700" dirty="0"/>
          </a:p>
        </p:txBody>
      </p:sp>
      <p:sp>
        <p:nvSpPr>
          <p:cNvPr id="14" name="Shape 12"/>
          <p:cNvSpPr/>
          <p:nvPr/>
        </p:nvSpPr>
        <p:spPr>
          <a:xfrm>
            <a:off x="4754880" y="2724912"/>
            <a:ext cx="3931920" cy="777240"/>
          </a:xfrm>
          <a:prstGeom prst="roundRect">
            <a:avLst>
              <a:gd name="adj" fmla="val 9412"/>
            </a:avLst>
          </a:prstGeom>
          <a:solidFill>
            <a:srgbClr val="E8F5EC"/>
          </a:solidFill>
          <a:ln/>
        </p:spPr>
      </p:sp>
      <p:sp>
        <p:nvSpPr>
          <p:cNvPr id="15" name="Shape 13"/>
          <p:cNvSpPr/>
          <p:nvPr/>
        </p:nvSpPr>
        <p:spPr>
          <a:xfrm>
            <a:off x="4937760" y="2898648"/>
            <a:ext cx="429768" cy="429768"/>
          </a:xfrm>
          <a:prstGeom prst="ellipse">
            <a:avLst/>
          </a:prstGeom>
          <a:solidFill>
            <a:srgbClr val="16A34A"/>
          </a:solidFill>
          <a:ln/>
        </p:spPr>
      </p:sp>
      <p:sp>
        <p:nvSpPr>
          <p:cNvPr id="16" name="Text 14"/>
          <p:cNvSpPr txBox="1"/>
          <p:nvPr/>
        </p:nvSpPr>
        <p:spPr>
          <a:xfrm>
            <a:off x="4937760" y="2898648"/>
            <a:ext cx="429768" cy="42976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7" name="Text 15"/>
          <p:cNvSpPr txBox="1"/>
          <p:nvPr/>
        </p:nvSpPr>
        <p:spPr>
          <a:xfrm>
            <a:off x="5577840" y="2724912"/>
            <a:ext cx="3017520" cy="777240"/>
          </a:xfrm>
          <a:prstGeom prst="rect">
            <a:avLst/>
          </a:prstGeom>
          <a:noFill/>
          <a:ln/>
        </p:spPr>
        <p:txBody>
          <a:bodyPr wrap="square" lIns="0" tIns="0" rIns="0" bIns="0" rtlCol="0" anchor="ctr"/>
          <a:lstStyle/>
          <a:p>
            <a:pPr indent="0" marL="0">
              <a:buNone/>
            </a:pPr>
            <a:r>
              <a:rPr lang="en-US" sz="1700" b="1" dirty="0">
                <a:solidFill>
                  <a:srgbClr val="0A0F0C"/>
                </a:solidFill>
                <a:latin typeface="Calibri" pitchFamily="34" charset="0"/>
                <a:ea typeface="Calibri" pitchFamily="34" charset="-122"/>
                <a:cs typeface="Calibri" pitchFamily="34" charset="-120"/>
              </a:rPr>
              <a:t>New York Midtown</a:t>
            </a:r>
            <a:endParaRPr lang="en-US" sz="1700" dirty="0"/>
          </a:p>
        </p:txBody>
      </p:sp>
      <p:sp>
        <p:nvSpPr>
          <p:cNvPr id="18" name="Shape 16"/>
          <p:cNvSpPr/>
          <p:nvPr/>
        </p:nvSpPr>
        <p:spPr>
          <a:xfrm>
            <a:off x="4754880" y="3666744"/>
            <a:ext cx="3931920" cy="777240"/>
          </a:xfrm>
          <a:prstGeom prst="roundRect">
            <a:avLst>
              <a:gd name="adj" fmla="val 9412"/>
            </a:avLst>
          </a:prstGeom>
          <a:solidFill>
            <a:srgbClr val="E8F5EC"/>
          </a:solidFill>
          <a:ln/>
        </p:spPr>
      </p:sp>
      <p:sp>
        <p:nvSpPr>
          <p:cNvPr id="19" name="Shape 17"/>
          <p:cNvSpPr/>
          <p:nvPr/>
        </p:nvSpPr>
        <p:spPr>
          <a:xfrm>
            <a:off x="4937760" y="3840480"/>
            <a:ext cx="429768" cy="429768"/>
          </a:xfrm>
          <a:prstGeom prst="ellipse">
            <a:avLst/>
          </a:prstGeom>
          <a:solidFill>
            <a:srgbClr val="16A34A"/>
          </a:solidFill>
          <a:ln/>
        </p:spPr>
      </p:sp>
      <p:sp>
        <p:nvSpPr>
          <p:cNvPr id="20" name="Text 18"/>
          <p:cNvSpPr txBox="1"/>
          <p:nvPr/>
        </p:nvSpPr>
        <p:spPr>
          <a:xfrm>
            <a:off x="4937760" y="3840480"/>
            <a:ext cx="429768" cy="42976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21" name="Text 19"/>
          <p:cNvSpPr txBox="1"/>
          <p:nvPr/>
        </p:nvSpPr>
        <p:spPr>
          <a:xfrm>
            <a:off x="5577840" y="3666744"/>
            <a:ext cx="3017520" cy="777240"/>
          </a:xfrm>
          <a:prstGeom prst="rect">
            <a:avLst/>
          </a:prstGeom>
          <a:noFill/>
          <a:ln/>
        </p:spPr>
        <p:txBody>
          <a:bodyPr wrap="square" lIns="0" tIns="0" rIns="0" bIns="0" rtlCol="0" anchor="ctr"/>
          <a:lstStyle/>
          <a:p>
            <a:pPr indent="0" marL="0">
              <a:buNone/>
            </a:pPr>
            <a:r>
              <a:rPr lang="en-US" sz="1700" b="1" dirty="0">
                <a:solidFill>
                  <a:srgbClr val="0A0F0C"/>
                </a:solidFill>
                <a:latin typeface="Calibri" pitchFamily="34" charset="0"/>
                <a:ea typeface="Calibri" pitchFamily="34" charset="-122"/>
                <a:cs typeface="Calibri" pitchFamily="34" charset="-120"/>
              </a:rPr>
              <a:t>Dubai DIFC</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100" b="1" spc="300" kern="0" dirty="0">
                <a:solidFill>
                  <a:srgbClr val="16A34A"/>
                </a:solidFill>
                <a:latin typeface="Calibri" pitchFamily="34" charset="0"/>
                <a:ea typeface="Calibri" pitchFamily="34" charset="-122"/>
                <a:cs typeface="Calibri" pitchFamily="34" charset="-120"/>
              </a:rPr>
              <a:t>BUSINESS INTELLIGENCE  ·  Q4.2</a:t>
            </a:r>
            <a:endParaRPr lang="en-US" sz="11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3200" b="1" dirty="0">
                <a:solidFill>
                  <a:srgbClr val="0A0F0C"/>
                </a:solidFill>
                <a:latin typeface="Cambria" pitchFamily="34" charset="0"/>
                <a:ea typeface="Cambria" pitchFamily="34" charset="-122"/>
                <a:cs typeface="Cambria" pitchFamily="34" charset="-120"/>
              </a:rPr>
              <a:t>Loan Portfolio Risk Dashboard</a:t>
            </a:r>
            <a:endParaRPr lang="en-US" sz="3200" dirty="0"/>
          </a:p>
        </p:txBody>
      </p:sp>
      <p:sp>
        <p:nvSpPr>
          <p:cNvPr id="4" name="Text 2"/>
          <p:cNvSpPr txBox="1"/>
          <p:nvPr/>
        </p:nvSpPr>
        <p:spPr>
          <a:xfrm>
            <a:off x="457200" y="4800600"/>
            <a:ext cx="82296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NexaBank Data Warehouse &amp; Analytics Pipeline   |   8</a:t>
            </a:r>
            <a:endParaRPr lang="en-US" sz="900" dirty="0"/>
          </a:p>
        </p:txBody>
      </p:sp>
      <p:sp>
        <p:nvSpPr>
          <p:cNvPr id="5" name="Shape 3"/>
          <p:cNvSpPr/>
          <p:nvPr/>
        </p:nvSpPr>
        <p:spPr>
          <a:xfrm>
            <a:off x="457200" y="1371600"/>
            <a:ext cx="1536192" cy="457200"/>
          </a:xfrm>
          <a:prstGeom prst="roundRect">
            <a:avLst>
              <a:gd name="adj" fmla="val 50000"/>
            </a:avLst>
          </a:prstGeom>
          <a:solidFill>
            <a:srgbClr val="16A34A"/>
          </a:solidFill>
          <a:ln/>
        </p:spPr>
      </p:sp>
      <p:sp>
        <p:nvSpPr>
          <p:cNvPr id="6" name="Text 4"/>
          <p:cNvSpPr txBox="1"/>
          <p:nvPr/>
        </p:nvSpPr>
        <p:spPr>
          <a:xfrm>
            <a:off x="457200" y="1371600"/>
            <a:ext cx="1536192"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Active</a:t>
            </a:r>
            <a:endParaRPr lang="en-US" sz="1300" dirty="0"/>
          </a:p>
        </p:txBody>
      </p:sp>
      <p:sp>
        <p:nvSpPr>
          <p:cNvPr id="7" name="Shape 5"/>
          <p:cNvSpPr/>
          <p:nvPr/>
        </p:nvSpPr>
        <p:spPr>
          <a:xfrm>
            <a:off x="2130552" y="1371600"/>
            <a:ext cx="1536192" cy="457200"/>
          </a:xfrm>
          <a:prstGeom prst="roundRect">
            <a:avLst>
              <a:gd name="adj" fmla="val 50000"/>
            </a:avLst>
          </a:prstGeom>
          <a:solidFill>
            <a:srgbClr val="0F6B32"/>
          </a:solidFill>
          <a:ln/>
        </p:spPr>
      </p:sp>
      <p:sp>
        <p:nvSpPr>
          <p:cNvPr id="8" name="Text 6"/>
          <p:cNvSpPr txBox="1"/>
          <p:nvPr/>
        </p:nvSpPr>
        <p:spPr>
          <a:xfrm>
            <a:off x="2130552" y="1371600"/>
            <a:ext cx="1536192"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Fully Paid</a:t>
            </a:r>
            <a:endParaRPr lang="en-US" sz="1300" dirty="0"/>
          </a:p>
        </p:txBody>
      </p:sp>
      <p:sp>
        <p:nvSpPr>
          <p:cNvPr id="9" name="Shape 7"/>
          <p:cNvSpPr/>
          <p:nvPr/>
        </p:nvSpPr>
        <p:spPr>
          <a:xfrm>
            <a:off x="3803904" y="1371600"/>
            <a:ext cx="1536192" cy="457200"/>
          </a:xfrm>
          <a:prstGeom prst="roundRect">
            <a:avLst>
              <a:gd name="adj" fmla="val 50000"/>
            </a:avLst>
          </a:prstGeom>
          <a:solidFill>
            <a:srgbClr val="0A0F0C"/>
          </a:solidFill>
          <a:ln/>
        </p:spPr>
      </p:sp>
      <p:sp>
        <p:nvSpPr>
          <p:cNvPr id="10" name="Text 8"/>
          <p:cNvSpPr txBox="1"/>
          <p:nvPr/>
        </p:nvSpPr>
        <p:spPr>
          <a:xfrm>
            <a:off x="3803904" y="1371600"/>
            <a:ext cx="1536192"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Defaulted</a:t>
            </a:r>
            <a:endParaRPr lang="en-US" sz="1300" dirty="0"/>
          </a:p>
        </p:txBody>
      </p:sp>
      <p:sp>
        <p:nvSpPr>
          <p:cNvPr id="11" name="Shape 9"/>
          <p:cNvSpPr/>
          <p:nvPr/>
        </p:nvSpPr>
        <p:spPr>
          <a:xfrm>
            <a:off x="5477256" y="1371600"/>
            <a:ext cx="1536192" cy="457200"/>
          </a:xfrm>
          <a:prstGeom prst="roundRect">
            <a:avLst>
              <a:gd name="adj" fmla="val 50000"/>
            </a:avLst>
          </a:prstGeom>
          <a:solidFill>
            <a:srgbClr val="374151"/>
          </a:solidFill>
          <a:ln/>
        </p:spPr>
      </p:sp>
      <p:sp>
        <p:nvSpPr>
          <p:cNvPr id="12" name="Text 10"/>
          <p:cNvSpPr txBox="1"/>
          <p:nvPr/>
        </p:nvSpPr>
        <p:spPr>
          <a:xfrm>
            <a:off x="5477256" y="1371600"/>
            <a:ext cx="1536192"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Written Off</a:t>
            </a:r>
            <a:endParaRPr lang="en-US" sz="1300" dirty="0"/>
          </a:p>
        </p:txBody>
      </p:sp>
      <p:sp>
        <p:nvSpPr>
          <p:cNvPr id="13" name="Shape 11"/>
          <p:cNvSpPr/>
          <p:nvPr/>
        </p:nvSpPr>
        <p:spPr>
          <a:xfrm>
            <a:off x="7150608" y="1371600"/>
            <a:ext cx="1536192" cy="457200"/>
          </a:xfrm>
          <a:prstGeom prst="roundRect">
            <a:avLst>
              <a:gd name="adj" fmla="val 50000"/>
            </a:avLst>
          </a:prstGeom>
          <a:solidFill>
            <a:srgbClr val="86D19B"/>
          </a:solidFill>
          <a:ln/>
        </p:spPr>
      </p:sp>
      <p:sp>
        <p:nvSpPr>
          <p:cNvPr id="14" name="Text 12"/>
          <p:cNvSpPr txBox="1"/>
          <p:nvPr/>
        </p:nvSpPr>
        <p:spPr>
          <a:xfrm>
            <a:off x="7150608" y="1371600"/>
            <a:ext cx="1536192" cy="457200"/>
          </a:xfrm>
          <a:prstGeom prst="rect">
            <a:avLst/>
          </a:prstGeom>
          <a:noFill/>
          <a:ln/>
        </p:spPr>
        <p:txBody>
          <a:bodyPr wrap="square" lIns="0" tIns="0" rIns="0" bIns="0" rtlCol="0" anchor="ctr"/>
          <a:lstStyle/>
          <a:p>
            <a:pPr algn="ctr" indent="0" marL="0">
              <a:buNone/>
            </a:pPr>
            <a:r>
              <a:rPr lang="en-US" sz="1300" b="1" dirty="0">
                <a:solidFill>
                  <a:srgbClr val="0A0F0C"/>
                </a:solidFill>
                <a:latin typeface="Calibri" pitchFamily="34" charset="0"/>
                <a:ea typeface="Calibri" pitchFamily="34" charset="-122"/>
                <a:cs typeface="Calibri" pitchFamily="34" charset="-120"/>
              </a:rPr>
              <a:t>Restructured</a:t>
            </a:r>
            <a:endParaRPr lang="en-US" sz="1300" dirty="0"/>
          </a:p>
        </p:txBody>
      </p:sp>
      <p:sp>
        <p:nvSpPr>
          <p:cNvPr id="15" name="Shape 13"/>
          <p:cNvSpPr/>
          <p:nvPr/>
        </p:nvSpPr>
        <p:spPr>
          <a:xfrm>
            <a:off x="457200" y="2057400"/>
            <a:ext cx="4046220" cy="1691640"/>
          </a:xfrm>
          <a:prstGeom prst="roundRect">
            <a:avLst>
              <a:gd name="adj" fmla="val 4324"/>
            </a:avLst>
          </a:prstGeom>
          <a:solidFill>
            <a:srgbClr val="E8F5EC"/>
          </a:solidFill>
          <a:ln/>
        </p:spPr>
      </p:sp>
      <p:sp>
        <p:nvSpPr>
          <p:cNvPr id="16" name="Shape 14"/>
          <p:cNvSpPr/>
          <p:nvPr/>
        </p:nvSpPr>
        <p:spPr>
          <a:xfrm>
            <a:off x="640080" y="2194560"/>
            <a:ext cx="420624" cy="420624"/>
          </a:xfrm>
          <a:prstGeom prst="ellipse">
            <a:avLst/>
          </a:prstGeom>
          <a:solidFill>
            <a:srgbClr val="16A34A"/>
          </a:solidFill>
          <a:ln/>
        </p:spPr>
      </p:sp>
      <p:pic>
        <p:nvPicPr>
          <p:cNvPr id="17" name="Image 0" descr="preencoded.png">    </p:cNvPr>
          <p:cNvPicPr>
            <a:picLocks noChangeAspect="1"/>
          </p:cNvPicPr>
          <p:nvPr/>
        </p:nvPicPr>
        <p:blipFill>
          <a:blip r:embed="rId1"/>
          <a:stretch>
            <a:fillRect/>
          </a:stretch>
        </p:blipFill>
        <p:spPr>
          <a:xfrm>
            <a:off x="745236" y="2299716"/>
            <a:ext cx="210312" cy="210312"/>
          </a:xfrm>
          <a:prstGeom prst="rect">
            <a:avLst/>
          </a:prstGeom>
        </p:spPr>
      </p:pic>
      <p:sp>
        <p:nvSpPr>
          <p:cNvPr id="18" name="Text 15"/>
          <p:cNvSpPr txBox="1"/>
          <p:nvPr/>
        </p:nvSpPr>
        <p:spPr>
          <a:xfrm>
            <a:off x="1188720" y="2194560"/>
            <a:ext cx="3200400" cy="420624"/>
          </a:xfrm>
          <a:prstGeom prst="rect">
            <a:avLst/>
          </a:prstGeom>
          <a:noFill/>
          <a:ln/>
        </p:spPr>
        <p:txBody>
          <a:bodyPr wrap="square" lIns="0" tIns="0" rIns="0" bIns="0" rtlCol="0" anchor="ctr"/>
          <a:lstStyle/>
          <a:p>
            <a:pPr indent="0" marL="0">
              <a:buNone/>
            </a:pPr>
            <a:r>
              <a:rPr lang="en-US" sz="1600" b="1" dirty="0">
                <a:solidFill>
                  <a:srgbClr val="0A0F0C"/>
                </a:solidFill>
                <a:latin typeface="Calibri" pitchFamily="34" charset="0"/>
                <a:ea typeface="Calibri" pitchFamily="34" charset="-122"/>
                <a:cs typeface="Calibri" pitchFamily="34" charset="-120"/>
              </a:rPr>
              <a:t>Recovery Rate %</a:t>
            </a:r>
            <a:endParaRPr lang="en-US" sz="1600" dirty="0"/>
          </a:p>
        </p:txBody>
      </p:sp>
      <p:sp>
        <p:nvSpPr>
          <p:cNvPr id="19" name="Text 16"/>
          <p:cNvSpPr txBox="1"/>
          <p:nvPr/>
        </p:nvSpPr>
        <p:spPr>
          <a:xfrm>
            <a:off x="640080" y="2788920"/>
            <a:ext cx="3657600" cy="822960"/>
          </a:xfrm>
          <a:prstGeom prst="rect">
            <a:avLst/>
          </a:prstGeom>
          <a:noFill/>
          <a:ln/>
        </p:spPr>
        <p:txBody>
          <a:bodyPr wrap="square" lIns="0" tIns="0" rIns="0" bIns="0" rtlCol="0" anchor="t"/>
          <a:lstStyle/>
          <a:p>
            <a:pPr indent="0" marL="0">
              <a:buNone/>
            </a:pPr>
            <a:r>
              <a:rPr lang="en-US" sz="1400" dirty="0">
                <a:solidFill>
                  <a:srgbClr val="4B5563"/>
                </a:solidFill>
                <a:latin typeface="Calibri" pitchFamily="34" charset="0"/>
                <a:ea typeface="Calibri" pitchFamily="34" charset="-122"/>
                <a:cs typeface="Calibri" pitchFamily="34" charset="-120"/>
              </a:rPr>
              <a:t>How much of the loan money has actually been repaid</a:t>
            </a:r>
            <a:endParaRPr lang="en-US" sz="1400" dirty="0"/>
          </a:p>
        </p:txBody>
      </p:sp>
      <p:sp>
        <p:nvSpPr>
          <p:cNvPr id="20" name="Shape 17"/>
          <p:cNvSpPr/>
          <p:nvPr/>
        </p:nvSpPr>
        <p:spPr>
          <a:xfrm>
            <a:off x="4640580" y="2057400"/>
            <a:ext cx="4046220" cy="1691640"/>
          </a:xfrm>
          <a:prstGeom prst="roundRect">
            <a:avLst>
              <a:gd name="adj" fmla="val 4324"/>
            </a:avLst>
          </a:prstGeom>
          <a:solidFill>
            <a:srgbClr val="0A0F0C"/>
          </a:solidFill>
          <a:ln/>
        </p:spPr>
      </p:sp>
      <p:sp>
        <p:nvSpPr>
          <p:cNvPr id="21" name="Shape 18"/>
          <p:cNvSpPr/>
          <p:nvPr/>
        </p:nvSpPr>
        <p:spPr>
          <a:xfrm>
            <a:off x="4823460" y="2194560"/>
            <a:ext cx="420624" cy="420624"/>
          </a:xfrm>
          <a:prstGeom prst="ellipse">
            <a:avLst/>
          </a:prstGeom>
          <a:solidFill>
            <a:srgbClr val="16A34A"/>
          </a:solidFill>
          <a:ln/>
        </p:spPr>
      </p:sp>
      <p:pic>
        <p:nvPicPr>
          <p:cNvPr id="22" name="Image 1" descr="preencoded.png">    </p:cNvPr>
          <p:cNvPicPr>
            <a:picLocks noChangeAspect="1"/>
          </p:cNvPicPr>
          <p:nvPr/>
        </p:nvPicPr>
        <p:blipFill>
          <a:blip r:embed="rId2"/>
          <a:stretch>
            <a:fillRect/>
          </a:stretch>
        </p:blipFill>
        <p:spPr>
          <a:xfrm>
            <a:off x="4928616" y="2299716"/>
            <a:ext cx="210312" cy="210312"/>
          </a:xfrm>
          <a:prstGeom prst="rect">
            <a:avLst/>
          </a:prstGeom>
        </p:spPr>
      </p:pic>
      <p:sp>
        <p:nvSpPr>
          <p:cNvPr id="23" name="Text 19"/>
          <p:cNvSpPr txBox="1"/>
          <p:nvPr/>
        </p:nvSpPr>
        <p:spPr>
          <a:xfrm>
            <a:off x="5372100" y="2194560"/>
            <a:ext cx="3200400" cy="420624"/>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High-Risk Branches</a:t>
            </a:r>
            <a:endParaRPr lang="en-US" sz="1600" dirty="0"/>
          </a:p>
        </p:txBody>
      </p:sp>
      <p:sp>
        <p:nvSpPr>
          <p:cNvPr id="24" name="Text 20"/>
          <p:cNvSpPr txBox="1"/>
          <p:nvPr/>
        </p:nvSpPr>
        <p:spPr>
          <a:xfrm>
            <a:off x="4823460" y="2697480"/>
            <a:ext cx="3657600" cy="502920"/>
          </a:xfrm>
          <a:prstGeom prst="rect">
            <a:avLst/>
          </a:prstGeom>
          <a:noFill/>
          <a:ln/>
        </p:spPr>
        <p:txBody>
          <a:bodyPr wrap="square" lIns="0" tIns="0" rIns="0" bIns="0" rtlCol="0" anchor="ctr"/>
          <a:lstStyle/>
          <a:p>
            <a:pPr indent="0" marL="0">
              <a:buNone/>
            </a:pPr>
            <a:r>
              <a:rPr lang="en-US" sz="2800" b="1" dirty="0">
                <a:solidFill>
                  <a:srgbClr val="22C55E"/>
                </a:solidFill>
                <a:latin typeface="Cambria" pitchFamily="34" charset="0"/>
                <a:ea typeface="Cambria" pitchFamily="34" charset="-122"/>
                <a:cs typeface="Cambria" pitchFamily="34" charset="-120"/>
              </a:rPr>
              <a:t>NPL &gt; 15%</a:t>
            </a:r>
            <a:endParaRPr lang="en-US" sz="2800" dirty="0"/>
          </a:p>
        </p:txBody>
      </p:sp>
      <p:sp>
        <p:nvSpPr>
          <p:cNvPr id="25" name="Text 21"/>
          <p:cNvSpPr txBox="1"/>
          <p:nvPr/>
        </p:nvSpPr>
        <p:spPr>
          <a:xfrm>
            <a:off x="4823460" y="3246120"/>
            <a:ext cx="3657600" cy="411480"/>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Non-Performing Loan ratio above 15% gets flagged</a:t>
            </a:r>
            <a:endParaRPr lang="en-US" sz="1250" dirty="0"/>
          </a:p>
        </p:txBody>
      </p:sp>
      <p:sp>
        <p:nvSpPr>
          <p:cNvPr id="26" name="Shape 22"/>
          <p:cNvSpPr/>
          <p:nvPr/>
        </p:nvSpPr>
        <p:spPr>
          <a:xfrm>
            <a:off x="457200" y="3931920"/>
            <a:ext cx="8229600" cy="685800"/>
          </a:xfrm>
          <a:prstGeom prst="roundRect">
            <a:avLst>
              <a:gd name="adj" fmla="val 10667"/>
            </a:avLst>
          </a:prstGeom>
          <a:solidFill>
            <a:srgbClr val="E8F5EC"/>
          </a:solidFill>
          <a:ln w="12700">
            <a:solidFill>
              <a:srgbClr val="16A34A"/>
            </a:solidFill>
            <a:prstDash val="solid"/>
          </a:ln>
        </p:spPr>
      </p:sp>
      <p:sp>
        <p:nvSpPr>
          <p:cNvPr id="27" name="Text 23"/>
          <p:cNvSpPr txBox="1"/>
          <p:nvPr/>
        </p:nvSpPr>
        <p:spPr>
          <a:xfrm>
            <a:off x="685800" y="3931920"/>
            <a:ext cx="7772400" cy="685800"/>
          </a:xfrm>
          <a:prstGeom prst="rect">
            <a:avLst/>
          </a:prstGeom>
          <a:noFill/>
          <a:ln/>
        </p:spPr>
        <p:txBody>
          <a:bodyPr wrap="square" lIns="0" tIns="0" rIns="0" bIns="0" rtlCol="0" anchor="ctr"/>
          <a:lstStyle/>
          <a:p>
            <a:pPr indent="0" marL="0">
              <a:buNone/>
            </a:pPr>
            <a:r>
              <a:rPr lang="en-US" sz="1500" b="1" dirty="0">
                <a:solidFill>
                  <a:srgbClr val="0F6B32"/>
                </a:solidFill>
                <a:latin typeface="Calibri" pitchFamily="34" charset="0"/>
                <a:ea typeface="Calibri" pitchFamily="34" charset="-122"/>
                <a:cs typeface="Calibri" pitchFamily="34" charset="-120"/>
              </a:rPr>
              <a:t>Board impact: </a:t>
            </a:r>
            <a:pPr indent="0" marL="0">
              <a:buNone/>
            </a:pPr>
            <a:r>
              <a:rPr lang="en-US" sz="1500" dirty="0">
                <a:solidFill>
                  <a:srgbClr val="0A0F0C"/>
                </a:solidFill>
                <a:latin typeface="Calibri" pitchFamily="34" charset="0"/>
                <a:ea typeface="Calibri" pitchFamily="34" charset="-122"/>
                <a:cs typeface="Calibri" pitchFamily="34" charset="-120"/>
              </a:rPr>
              <a:t>freeze lending in risky branches before losing millions</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100" b="1" spc="300" kern="0" dirty="0">
                <a:solidFill>
                  <a:srgbClr val="16A34A"/>
                </a:solidFill>
                <a:latin typeface="Calibri" pitchFamily="34" charset="0"/>
                <a:ea typeface="Calibri" pitchFamily="34" charset="-122"/>
                <a:cs typeface="Calibri" pitchFamily="34" charset="-120"/>
              </a:rPr>
              <a:t>BUSINESS INTELLIGENCE  ·  Q4.3</a:t>
            </a:r>
            <a:endParaRPr lang="en-US" sz="11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3200" b="1" dirty="0">
                <a:solidFill>
                  <a:srgbClr val="0A0F0C"/>
                </a:solidFill>
                <a:latin typeface="Cambria" pitchFamily="34" charset="0"/>
                <a:ea typeface="Cambria" pitchFamily="34" charset="-122"/>
                <a:cs typeface="Cambria" pitchFamily="34" charset="-120"/>
              </a:rPr>
              <a:t>Customer Segmentation</a:t>
            </a:r>
            <a:endParaRPr lang="en-US" sz="3200" dirty="0"/>
          </a:p>
        </p:txBody>
      </p:sp>
      <p:sp>
        <p:nvSpPr>
          <p:cNvPr id="4" name="Text 2"/>
          <p:cNvSpPr txBox="1"/>
          <p:nvPr/>
        </p:nvSpPr>
        <p:spPr>
          <a:xfrm>
            <a:off x="457200" y="4800600"/>
            <a:ext cx="82296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NexaBank Data Warehouse &amp; Analytics Pipeline   |   9</a:t>
            </a:r>
            <a:endParaRPr lang="en-US" sz="900" dirty="0"/>
          </a:p>
        </p:txBody>
      </p:sp>
      <p:sp>
        <p:nvSpPr>
          <p:cNvPr id="5" name="Text 3"/>
          <p:cNvSpPr txBox="1"/>
          <p:nvPr/>
        </p:nvSpPr>
        <p:spPr>
          <a:xfrm>
            <a:off x="457200" y="1325880"/>
            <a:ext cx="8229600" cy="274320"/>
          </a:xfrm>
          <a:prstGeom prst="rect">
            <a:avLst/>
          </a:prstGeom>
          <a:noFill/>
          <a:ln/>
        </p:spPr>
        <p:txBody>
          <a:bodyPr wrap="square" lIns="0" tIns="0" rIns="0" bIns="0" rtlCol="0" anchor="t"/>
          <a:lstStyle/>
          <a:p>
            <a:pPr indent="0" marL="0">
              <a:buNone/>
            </a:pPr>
            <a:r>
              <a:rPr lang="en-US" sz="1300" b="1" dirty="0">
                <a:solidFill>
                  <a:srgbClr val="0F6B32"/>
                </a:solidFill>
                <a:latin typeface="Courier New" pitchFamily="34" charset="0"/>
                <a:ea typeface="Courier New" pitchFamily="34" charset="-122"/>
                <a:cs typeface="Courier New" pitchFamily="34" charset="-120"/>
              </a:rPr>
              <a:t>PERCENT_RANK()</a:t>
            </a:r>
            <a:pPr indent="0" marL="0">
              <a:buNone/>
            </a:pPr>
            <a:r>
              <a:rPr lang="en-US" sz="1300" dirty="0">
                <a:solidFill>
                  <a:srgbClr val="4B5563"/>
                </a:solidFill>
                <a:latin typeface="Calibri" pitchFamily="34" charset="0"/>
                <a:ea typeface="Calibri" pitchFamily="34" charset="-122"/>
                <a:cs typeface="Calibri" pitchFamily="34" charset="-120"/>
              </a:rPr>
              <a:t> window function classifies customers into four value tiers</a:t>
            </a:r>
            <a:endParaRPr lang="en-US" sz="1300" dirty="0"/>
          </a:p>
        </p:txBody>
      </p:sp>
      <p:sp>
        <p:nvSpPr>
          <p:cNvPr id="6" name="Shape 4"/>
          <p:cNvSpPr/>
          <p:nvPr/>
        </p:nvSpPr>
        <p:spPr>
          <a:xfrm>
            <a:off x="457200" y="1737360"/>
            <a:ext cx="411480" cy="502920"/>
          </a:xfrm>
          <a:prstGeom prst="rect">
            <a:avLst/>
          </a:prstGeom>
          <a:solidFill>
            <a:srgbClr val="0A0F0C"/>
          </a:solidFill>
          <a:ln/>
        </p:spPr>
      </p:sp>
      <p:sp>
        <p:nvSpPr>
          <p:cNvPr id="7" name="Text 5"/>
          <p:cNvSpPr txBox="1"/>
          <p:nvPr/>
        </p:nvSpPr>
        <p:spPr>
          <a:xfrm>
            <a:off x="457200" y="1737360"/>
            <a:ext cx="41148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8" name="Shape 6"/>
          <p:cNvSpPr/>
          <p:nvPr/>
        </p:nvSpPr>
        <p:spPr>
          <a:xfrm>
            <a:off x="868680" y="1737360"/>
            <a:ext cx="1645920" cy="502920"/>
          </a:xfrm>
          <a:prstGeom prst="rect">
            <a:avLst/>
          </a:prstGeom>
          <a:solidFill>
            <a:srgbClr val="0F6B32"/>
          </a:solidFill>
          <a:ln/>
        </p:spPr>
      </p:sp>
      <p:sp>
        <p:nvSpPr>
          <p:cNvPr id="9" name="Text 7"/>
          <p:cNvSpPr txBox="1"/>
          <p:nvPr/>
        </p:nvSpPr>
        <p:spPr>
          <a:xfrm>
            <a:off x="868680" y="1737360"/>
            <a:ext cx="164592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20%</a:t>
            </a:r>
            <a:endParaRPr lang="en-US" sz="1200" dirty="0"/>
          </a:p>
        </p:txBody>
      </p:sp>
      <p:sp>
        <p:nvSpPr>
          <p:cNvPr id="10" name="Shape 8"/>
          <p:cNvSpPr/>
          <p:nvPr/>
        </p:nvSpPr>
        <p:spPr>
          <a:xfrm>
            <a:off x="2514600" y="1737360"/>
            <a:ext cx="4114800" cy="502920"/>
          </a:xfrm>
          <a:prstGeom prst="rect">
            <a:avLst/>
          </a:prstGeom>
          <a:solidFill>
            <a:srgbClr val="16A34A"/>
          </a:solidFill>
          <a:ln/>
        </p:spPr>
      </p:sp>
      <p:sp>
        <p:nvSpPr>
          <p:cNvPr id="11" name="Text 9"/>
          <p:cNvSpPr txBox="1"/>
          <p:nvPr/>
        </p:nvSpPr>
        <p:spPr>
          <a:xfrm>
            <a:off x="2514600" y="1737360"/>
            <a:ext cx="411480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50%</a:t>
            </a:r>
            <a:endParaRPr lang="en-US" sz="1200" dirty="0"/>
          </a:p>
        </p:txBody>
      </p:sp>
      <p:sp>
        <p:nvSpPr>
          <p:cNvPr id="12" name="Shape 10"/>
          <p:cNvSpPr/>
          <p:nvPr/>
        </p:nvSpPr>
        <p:spPr>
          <a:xfrm>
            <a:off x="6629400" y="1737360"/>
            <a:ext cx="2057400" cy="502920"/>
          </a:xfrm>
          <a:prstGeom prst="rect">
            <a:avLst/>
          </a:prstGeom>
          <a:solidFill>
            <a:srgbClr val="86D19B"/>
          </a:solidFill>
          <a:ln/>
        </p:spPr>
      </p:sp>
      <p:sp>
        <p:nvSpPr>
          <p:cNvPr id="13" name="Text 11"/>
          <p:cNvSpPr txBox="1"/>
          <p:nvPr/>
        </p:nvSpPr>
        <p:spPr>
          <a:xfrm>
            <a:off x="6629400" y="1737360"/>
            <a:ext cx="2057400" cy="502920"/>
          </a:xfrm>
          <a:prstGeom prst="rect">
            <a:avLst/>
          </a:prstGeom>
          <a:noFill/>
          <a:ln/>
        </p:spPr>
        <p:txBody>
          <a:bodyPr wrap="square" lIns="0" tIns="0" rIns="0" bIns="0" rtlCol="0" anchor="ctr"/>
          <a:lstStyle/>
          <a:p>
            <a:pPr algn="ctr" indent="0" marL="0">
              <a:buNone/>
            </a:pPr>
            <a:r>
              <a:rPr lang="en-US" sz="1200" b="1" dirty="0">
                <a:solidFill>
                  <a:srgbClr val="0A0F0C"/>
                </a:solidFill>
                <a:latin typeface="Calibri" pitchFamily="34" charset="0"/>
                <a:ea typeface="Calibri" pitchFamily="34" charset="-122"/>
                <a:cs typeface="Calibri" pitchFamily="34" charset="-120"/>
              </a:rPr>
              <a:t>25%</a:t>
            </a:r>
            <a:endParaRPr lang="en-US" sz="1200" dirty="0"/>
          </a:p>
        </p:txBody>
      </p:sp>
      <p:sp>
        <p:nvSpPr>
          <p:cNvPr id="14" name="Shape 12"/>
          <p:cNvSpPr/>
          <p:nvPr/>
        </p:nvSpPr>
        <p:spPr>
          <a:xfrm>
            <a:off x="457200" y="2514600"/>
            <a:ext cx="1920240" cy="1691640"/>
          </a:xfrm>
          <a:prstGeom prst="roundRect">
            <a:avLst>
              <a:gd name="adj" fmla="val 4324"/>
            </a:avLst>
          </a:prstGeom>
          <a:solidFill>
            <a:srgbClr val="E8F5EC"/>
          </a:solidFill>
          <a:ln/>
        </p:spPr>
      </p:sp>
      <p:sp>
        <p:nvSpPr>
          <p:cNvPr id="15" name="Shape 13"/>
          <p:cNvSpPr/>
          <p:nvPr/>
        </p:nvSpPr>
        <p:spPr>
          <a:xfrm>
            <a:off x="594360" y="2670048"/>
            <a:ext cx="201168" cy="201168"/>
          </a:xfrm>
          <a:prstGeom prst="ellipse">
            <a:avLst/>
          </a:prstGeom>
          <a:solidFill>
            <a:srgbClr val="0A0F0C"/>
          </a:solidFill>
          <a:ln/>
        </p:spPr>
      </p:sp>
      <p:sp>
        <p:nvSpPr>
          <p:cNvPr id="16" name="Text 14"/>
          <p:cNvSpPr txBox="1"/>
          <p:nvPr/>
        </p:nvSpPr>
        <p:spPr>
          <a:xfrm>
            <a:off x="886968" y="2615184"/>
            <a:ext cx="1417320" cy="310896"/>
          </a:xfrm>
          <a:prstGeom prst="rect">
            <a:avLst/>
          </a:prstGeom>
          <a:noFill/>
          <a:ln/>
        </p:spPr>
        <p:txBody>
          <a:bodyPr wrap="square" lIns="0" tIns="0" rIns="0" bIns="0" rtlCol="0" anchor="ctr"/>
          <a:lstStyle/>
          <a:p>
            <a:pPr indent="0" marL="0">
              <a:buNone/>
            </a:pPr>
            <a:r>
              <a:rPr lang="en-US" sz="1500" b="1" dirty="0">
                <a:solidFill>
                  <a:srgbClr val="0A0F0C"/>
                </a:solidFill>
                <a:latin typeface="Calibri" pitchFamily="34" charset="0"/>
                <a:ea typeface="Calibri" pitchFamily="34" charset="-122"/>
                <a:cs typeface="Calibri" pitchFamily="34" charset="-120"/>
              </a:rPr>
              <a:t>Whale</a:t>
            </a:r>
            <a:endParaRPr lang="en-US" sz="1500" dirty="0"/>
          </a:p>
        </p:txBody>
      </p:sp>
      <p:sp>
        <p:nvSpPr>
          <p:cNvPr id="17" name="Text 15"/>
          <p:cNvSpPr txBox="1"/>
          <p:nvPr/>
        </p:nvSpPr>
        <p:spPr>
          <a:xfrm>
            <a:off x="594360" y="3017520"/>
            <a:ext cx="1645920" cy="228600"/>
          </a:xfrm>
          <a:prstGeom prst="rect">
            <a:avLst/>
          </a:prstGeom>
          <a:noFill/>
          <a:ln/>
        </p:spPr>
        <p:txBody>
          <a:bodyPr wrap="square" lIns="0" tIns="0" rIns="0" bIns="0" rtlCol="0" anchor="t"/>
          <a:lstStyle/>
          <a:p>
            <a:pPr indent="0" marL="0">
              <a:buNone/>
            </a:pPr>
            <a:r>
              <a:rPr lang="en-US" sz="1100" b="1" dirty="0">
                <a:solidFill>
                  <a:srgbClr val="16A34A"/>
                </a:solidFill>
                <a:latin typeface="Calibri" pitchFamily="34" charset="0"/>
                <a:ea typeface="Calibri" pitchFamily="34" charset="-122"/>
                <a:cs typeface="Calibri" pitchFamily="34" charset="-120"/>
              </a:rPr>
              <a:t>Top 5%</a:t>
            </a:r>
            <a:endParaRPr lang="en-US" sz="1100" dirty="0"/>
          </a:p>
        </p:txBody>
      </p:sp>
      <p:sp>
        <p:nvSpPr>
          <p:cNvPr id="18" name="Text 16"/>
          <p:cNvSpPr txBox="1"/>
          <p:nvPr/>
        </p:nvSpPr>
        <p:spPr>
          <a:xfrm>
            <a:off x="594360" y="3291840"/>
            <a:ext cx="1645920" cy="868680"/>
          </a:xfrm>
          <a:prstGeom prst="rect">
            <a:avLst/>
          </a:prstGeom>
          <a:noFill/>
          <a:ln/>
        </p:spPr>
        <p:txBody>
          <a:bodyPr wrap="square" lIns="0" tIns="0" rIns="0" bIns="0" rtlCol="0" anchor="t"/>
          <a:lstStyle/>
          <a:p>
            <a:pPr indent="0" marL="0">
              <a:buNone/>
            </a:pPr>
            <a:r>
              <a:rPr lang="en-US" sz="1200" dirty="0">
                <a:solidFill>
                  <a:srgbClr val="4B5563"/>
                </a:solidFill>
                <a:latin typeface="Calibri" pitchFamily="34" charset="0"/>
                <a:ea typeface="Calibri" pitchFamily="34" charset="-122"/>
                <a:cs typeface="Calibri" pitchFamily="34" charset="-120"/>
              </a:rPr>
              <a:t>Highest-value customers who need premium treatment</a:t>
            </a:r>
            <a:endParaRPr lang="en-US" sz="1200" dirty="0"/>
          </a:p>
        </p:txBody>
      </p:sp>
      <p:sp>
        <p:nvSpPr>
          <p:cNvPr id="19" name="Shape 17"/>
          <p:cNvSpPr/>
          <p:nvPr/>
        </p:nvSpPr>
        <p:spPr>
          <a:xfrm>
            <a:off x="2578608" y="2514600"/>
            <a:ext cx="1920240" cy="1691640"/>
          </a:xfrm>
          <a:prstGeom prst="roundRect">
            <a:avLst>
              <a:gd name="adj" fmla="val 4324"/>
            </a:avLst>
          </a:prstGeom>
          <a:solidFill>
            <a:srgbClr val="E8F5EC"/>
          </a:solidFill>
          <a:ln/>
        </p:spPr>
      </p:sp>
      <p:sp>
        <p:nvSpPr>
          <p:cNvPr id="20" name="Shape 18"/>
          <p:cNvSpPr/>
          <p:nvPr/>
        </p:nvSpPr>
        <p:spPr>
          <a:xfrm>
            <a:off x="2715768" y="2670048"/>
            <a:ext cx="201168" cy="201168"/>
          </a:xfrm>
          <a:prstGeom prst="ellipse">
            <a:avLst/>
          </a:prstGeom>
          <a:solidFill>
            <a:srgbClr val="0F6B32"/>
          </a:solidFill>
          <a:ln/>
        </p:spPr>
      </p:sp>
      <p:sp>
        <p:nvSpPr>
          <p:cNvPr id="21" name="Text 19"/>
          <p:cNvSpPr txBox="1"/>
          <p:nvPr/>
        </p:nvSpPr>
        <p:spPr>
          <a:xfrm>
            <a:off x="3008376" y="2615184"/>
            <a:ext cx="1417320" cy="310896"/>
          </a:xfrm>
          <a:prstGeom prst="rect">
            <a:avLst/>
          </a:prstGeom>
          <a:noFill/>
          <a:ln/>
        </p:spPr>
        <p:txBody>
          <a:bodyPr wrap="square" lIns="0" tIns="0" rIns="0" bIns="0" rtlCol="0" anchor="ctr"/>
          <a:lstStyle/>
          <a:p>
            <a:pPr indent="0" marL="0">
              <a:buNone/>
            </a:pPr>
            <a:r>
              <a:rPr lang="en-US" sz="1500" b="1" dirty="0">
                <a:solidFill>
                  <a:srgbClr val="0A0F0C"/>
                </a:solidFill>
                <a:latin typeface="Calibri" pitchFamily="34" charset="0"/>
                <a:ea typeface="Calibri" pitchFamily="34" charset="-122"/>
                <a:cs typeface="Calibri" pitchFamily="34" charset="-120"/>
              </a:rPr>
              <a:t>Premium</a:t>
            </a:r>
            <a:endParaRPr lang="en-US" sz="1500" dirty="0"/>
          </a:p>
        </p:txBody>
      </p:sp>
      <p:sp>
        <p:nvSpPr>
          <p:cNvPr id="22" name="Text 20"/>
          <p:cNvSpPr txBox="1"/>
          <p:nvPr/>
        </p:nvSpPr>
        <p:spPr>
          <a:xfrm>
            <a:off x="2715768" y="3017520"/>
            <a:ext cx="1645920" cy="228600"/>
          </a:xfrm>
          <a:prstGeom prst="rect">
            <a:avLst/>
          </a:prstGeom>
          <a:noFill/>
          <a:ln/>
        </p:spPr>
        <p:txBody>
          <a:bodyPr wrap="square" lIns="0" tIns="0" rIns="0" bIns="0" rtlCol="0" anchor="t"/>
          <a:lstStyle/>
          <a:p>
            <a:pPr indent="0" marL="0">
              <a:buNone/>
            </a:pPr>
            <a:r>
              <a:rPr lang="en-US" sz="1100" b="1" dirty="0">
                <a:solidFill>
                  <a:srgbClr val="16A34A"/>
                </a:solidFill>
                <a:latin typeface="Calibri" pitchFamily="34" charset="0"/>
                <a:ea typeface="Calibri" pitchFamily="34" charset="-122"/>
                <a:cs typeface="Calibri" pitchFamily="34" charset="-120"/>
              </a:rPr>
              <a:t>Top 25%</a:t>
            </a:r>
            <a:endParaRPr lang="en-US" sz="1100" dirty="0"/>
          </a:p>
        </p:txBody>
      </p:sp>
      <p:sp>
        <p:nvSpPr>
          <p:cNvPr id="23" name="Text 21"/>
          <p:cNvSpPr txBox="1"/>
          <p:nvPr/>
        </p:nvSpPr>
        <p:spPr>
          <a:xfrm>
            <a:off x="2715768" y="3291840"/>
            <a:ext cx="1645920" cy="868680"/>
          </a:xfrm>
          <a:prstGeom prst="rect">
            <a:avLst/>
          </a:prstGeom>
          <a:noFill/>
          <a:ln/>
        </p:spPr>
        <p:txBody>
          <a:bodyPr wrap="square" lIns="0" tIns="0" rIns="0" bIns="0" rtlCol="0" anchor="t"/>
          <a:lstStyle/>
          <a:p>
            <a:pPr indent="0" marL="0">
              <a:buNone/>
            </a:pPr>
            <a:r>
              <a:rPr lang="en-US" sz="1200" dirty="0">
                <a:solidFill>
                  <a:srgbClr val="4B5563"/>
                </a:solidFill>
                <a:latin typeface="Calibri" pitchFamily="34" charset="0"/>
                <a:ea typeface="Calibri" pitchFamily="34" charset="-122"/>
                <a:cs typeface="Calibri" pitchFamily="34" charset="-120"/>
              </a:rPr>
              <a:t>High-value customers for targeted offers</a:t>
            </a:r>
            <a:endParaRPr lang="en-US" sz="1200" dirty="0"/>
          </a:p>
        </p:txBody>
      </p:sp>
      <p:sp>
        <p:nvSpPr>
          <p:cNvPr id="24" name="Shape 22"/>
          <p:cNvSpPr/>
          <p:nvPr/>
        </p:nvSpPr>
        <p:spPr>
          <a:xfrm>
            <a:off x="4700016" y="2514600"/>
            <a:ext cx="1920240" cy="1691640"/>
          </a:xfrm>
          <a:prstGeom prst="roundRect">
            <a:avLst>
              <a:gd name="adj" fmla="val 4324"/>
            </a:avLst>
          </a:prstGeom>
          <a:solidFill>
            <a:srgbClr val="E8F5EC"/>
          </a:solidFill>
          <a:ln/>
        </p:spPr>
      </p:sp>
      <p:sp>
        <p:nvSpPr>
          <p:cNvPr id="25" name="Shape 23"/>
          <p:cNvSpPr/>
          <p:nvPr/>
        </p:nvSpPr>
        <p:spPr>
          <a:xfrm>
            <a:off x="4837176" y="2670048"/>
            <a:ext cx="201168" cy="201168"/>
          </a:xfrm>
          <a:prstGeom prst="ellipse">
            <a:avLst/>
          </a:prstGeom>
          <a:solidFill>
            <a:srgbClr val="16A34A"/>
          </a:solidFill>
          <a:ln/>
        </p:spPr>
      </p:sp>
      <p:sp>
        <p:nvSpPr>
          <p:cNvPr id="26" name="Text 24"/>
          <p:cNvSpPr txBox="1"/>
          <p:nvPr/>
        </p:nvSpPr>
        <p:spPr>
          <a:xfrm>
            <a:off x="5129784" y="2615184"/>
            <a:ext cx="1417320" cy="310896"/>
          </a:xfrm>
          <a:prstGeom prst="rect">
            <a:avLst/>
          </a:prstGeom>
          <a:noFill/>
          <a:ln/>
        </p:spPr>
        <p:txBody>
          <a:bodyPr wrap="square" lIns="0" tIns="0" rIns="0" bIns="0" rtlCol="0" anchor="ctr"/>
          <a:lstStyle/>
          <a:p>
            <a:pPr indent="0" marL="0">
              <a:buNone/>
            </a:pPr>
            <a:r>
              <a:rPr lang="en-US" sz="1500" b="1" dirty="0">
                <a:solidFill>
                  <a:srgbClr val="0A0F0C"/>
                </a:solidFill>
                <a:latin typeface="Calibri" pitchFamily="34" charset="0"/>
                <a:ea typeface="Calibri" pitchFamily="34" charset="-122"/>
                <a:cs typeface="Calibri" pitchFamily="34" charset="-120"/>
              </a:rPr>
              <a:t>Standard</a:t>
            </a:r>
            <a:endParaRPr lang="en-US" sz="1500" dirty="0"/>
          </a:p>
        </p:txBody>
      </p:sp>
      <p:sp>
        <p:nvSpPr>
          <p:cNvPr id="27" name="Text 25"/>
          <p:cNvSpPr txBox="1"/>
          <p:nvPr/>
        </p:nvSpPr>
        <p:spPr>
          <a:xfrm>
            <a:off x="4837176" y="3017520"/>
            <a:ext cx="1645920" cy="228600"/>
          </a:xfrm>
          <a:prstGeom prst="rect">
            <a:avLst/>
          </a:prstGeom>
          <a:noFill/>
          <a:ln/>
        </p:spPr>
        <p:txBody>
          <a:bodyPr wrap="square" lIns="0" tIns="0" rIns="0" bIns="0" rtlCol="0" anchor="t"/>
          <a:lstStyle/>
          <a:p>
            <a:pPr indent="0" marL="0">
              <a:buNone/>
            </a:pPr>
            <a:r>
              <a:rPr lang="en-US" sz="1100" b="1" dirty="0">
                <a:solidFill>
                  <a:srgbClr val="16A34A"/>
                </a:solidFill>
                <a:latin typeface="Calibri" pitchFamily="34" charset="0"/>
                <a:ea typeface="Calibri" pitchFamily="34" charset="-122"/>
                <a:cs typeface="Calibri" pitchFamily="34" charset="-120"/>
              </a:rPr>
              <a:t>Middle 50%</a:t>
            </a:r>
            <a:endParaRPr lang="en-US" sz="1100" dirty="0"/>
          </a:p>
        </p:txBody>
      </p:sp>
      <p:sp>
        <p:nvSpPr>
          <p:cNvPr id="28" name="Text 26"/>
          <p:cNvSpPr txBox="1"/>
          <p:nvPr/>
        </p:nvSpPr>
        <p:spPr>
          <a:xfrm>
            <a:off x="4837176" y="3291840"/>
            <a:ext cx="1645920" cy="868680"/>
          </a:xfrm>
          <a:prstGeom prst="rect">
            <a:avLst/>
          </a:prstGeom>
          <a:noFill/>
          <a:ln/>
        </p:spPr>
        <p:txBody>
          <a:bodyPr wrap="square" lIns="0" tIns="0" rIns="0" bIns="0" rtlCol="0" anchor="t"/>
          <a:lstStyle/>
          <a:p>
            <a:pPr indent="0" marL="0">
              <a:buNone/>
            </a:pPr>
            <a:r>
              <a:rPr lang="en-US" sz="1200" dirty="0">
                <a:solidFill>
                  <a:srgbClr val="4B5563"/>
                </a:solidFill>
                <a:latin typeface="Calibri" pitchFamily="34" charset="0"/>
                <a:ea typeface="Calibri" pitchFamily="34" charset="-122"/>
                <a:cs typeface="Calibri" pitchFamily="34" charset="-120"/>
              </a:rPr>
              <a:t>Regular customers</a:t>
            </a:r>
            <a:endParaRPr lang="en-US" sz="1200" dirty="0"/>
          </a:p>
        </p:txBody>
      </p:sp>
      <p:sp>
        <p:nvSpPr>
          <p:cNvPr id="29" name="Shape 27"/>
          <p:cNvSpPr/>
          <p:nvPr/>
        </p:nvSpPr>
        <p:spPr>
          <a:xfrm>
            <a:off x="6821424" y="2514600"/>
            <a:ext cx="1920240" cy="1691640"/>
          </a:xfrm>
          <a:prstGeom prst="roundRect">
            <a:avLst>
              <a:gd name="adj" fmla="val 4324"/>
            </a:avLst>
          </a:prstGeom>
          <a:solidFill>
            <a:srgbClr val="E8F5EC"/>
          </a:solidFill>
          <a:ln/>
        </p:spPr>
      </p:sp>
      <p:sp>
        <p:nvSpPr>
          <p:cNvPr id="30" name="Shape 28"/>
          <p:cNvSpPr/>
          <p:nvPr/>
        </p:nvSpPr>
        <p:spPr>
          <a:xfrm>
            <a:off x="6958584" y="2670048"/>
            <a:ext cx="201168" cy="201168"/>
          </a:xfrm>
          <a:prstGeom prst="ellipse">
            <a:avLst/>
          </a:prstGeom>
          <a:solidFill>
            <a:srgbClr val="86D19B"/>
          </a:solidFill>
          <a:ln/>
        </p:spPr>
      </p:sp>
      <p:sp>
        <p:nvSpPr>
          <p:cNvPr id="31" name="Text 29"/>
          <p:cNvSpPr txBox="1"/>
          <p:nvPr/>
        </p:nvSpPr>
        <p:spPr>
          <a:xfrm>
            <a:off x="7251192" y="2615184"/>
            <a:ext cx="1417320" cy="310896"/>
          </a:xfrm>
          <a:prstGeom prst="rect">
            <a:avLst/>
          </a:prstGeom>
          <a:noFill/>
          <a:ln/>
        </p:spPr>
        <p:txBody>
          <a:bodyPr wrap="square" lIns="0" tIns="0" rIns="0" bIns="0" rtlCol="0" anchor="ctr"/>
          <a:lstStyle/>
          <a:p>
            <a:pPr indent="0" marL="0">
              <a:buNone/>
            </a:pPr>
            <a:r>
              <a:rPr lang="en-US" sz="1500" b="1" dirty="0">
                <a:solidFill>
                  <a:srgbClr val="0A0F0C"/>
                </a:solidFill>
                <a:latin typeface="Calibri" pitchFamily="34" charset="0"/>
                <a:ea typeface="Calibri" pitchFamily="34" charset="-122"/>
                <a:cs typeface="Calibri" pitchFamily="34" charset="-120"/>
              </a:rPr>
              <a:t>Entry-Level</a:t>
            </a:r>
            <a:endParaRPr lang="en-US" sz="1500" dirty="0"/>
          </a:p>
        </p:txBody>
      </p:sp>
      <p:sp>
        <p:nvSpPr>
          <p:cNvPr id="32" name="Text 30"/>
          <p:cNvSpPr txBox="1"/>
          <p:nvPr/>
        </p:nvSpPr>
        <p:spPr>
          <a:xfrm>
            <a:off x="6958584" y="3017520"/>
            <a:ext cx="1645920" cy="228600"/>
          </a:xfrm>
          <a:prstGeom prst="rect">
            <a:avLst/>
          </a:prstGeom>
          <a:noFill/>
          <a:ln/>
        </p:spPr>
        <p:txBody>
          <a:bodyPr wrap="square" lIns="0" tIns="0" rIns="0" bIns="0" rtlCol="0" anchor="t"/>
          <a:lstStyle/>
          <a:p>
            <a:pPr indent="0" marL="0">
              <a:buNone/>
            </a:pPr>
            <a:r>
              <a:rPr lang="en-US" sz="1100" b="1" dirty="0">
                <a:solidFill>
                  <a:srgbClr val="16A34A"/>
                </a:solidFill>
                <a:latin typeface="Calibri" pitchFamily="34" charset="0"/>
                <a:ea typeface="Calibri" pitchFamily="34" charset="-122"/>
                <a:cs typeface="Calibri" pitchFamily="34" charset="-120"/>
              </a:rPr>
              <a:t>Bottom 25%</a:t>
            </a:r>
            <a:endParaRPr lang="en-US" sz="1100" dirty="0"/>
          </a:p>
        </p:txBody>
      </p:sp>
      <p:sp>
        <p:nvSpPr>
          <p:cNvPr id="33" name="Text 31"/>
          <p:cNvSpPr txBox="1"/>
          <p:nvPr/>
        </p:nvSpPr>
        <p:spPr>
          <a:xfrm>
            <a:off x="6958584" y="3291840"/>
            <a:ext cx="1645920" cy="868680"/>
          </a:xfrm>
          <a:prstGeom prst="rect">
            <a:avLst/>
          </a:prstGeom>
          <a:noFill/>
          <a:ln/>
        </p:spPr>
        <p:txBody>
          <a:bodyPr wrap="square" lIns="0" tIns="0" rIns="0" bIns="0" rtlCol="0" anchor="t"/>
          <a:lstStyle/>
          <a:p>
            <a:pPr indent="0" marL="0">
              <a:buNone/>
            </a:pPr>
            <a:r>
              <a:rPr lang="en-US" sz="1200" dirty="0">
                <a:solidFill>
                  <a:srgbClr val="4B5563"/>
                </a:solidFill>
                <a:latin typeface="Calibri" pitchFamily="34" charset="0"/>
                <a:ea typeface="Calibri" pitchFamily="34" charset="-122"/>
                <a:cs typeface="Calibri" pitchFamily="34" charset="-120"/>
              </a:rPr>
              <a:t>New or low-activity customers</a:t>
            </a:r>
            <a:endParaRPr lang="en-US" sz="1200" dirty="0"/>
          </a:p>
        </p:txBody>
      </p:sp>
      <p:sp>
        <p:nvSpPr>
          <p:cNvPr id="34" name="Text 32"/>
          <p:cNvSpPr txBox="1"/>
          <p:nvPr/>
        </p:nvSpPr>
        <p:spPr>
          <a:xfrm>
            <a:off x="457200" y="4343400"/>
            <a:ext cx="8229600" cy="274320"/>
          </a:xfrm>
          <a:prstGeom prst="rect">
            <a:avLst/>
          </a:prstGeom>
          <a:noFill/>
          <a:ln/>
        </p:spPr>
        <p:txBody>
          <a:bodyPr wrap="square" lIns="0" tIns="0" rIns="0" bIns="0" rtlCol="0" anchor="t"/>
          <a:lstStyle/>
          <a:p>
            <a:pPr indent="0" marL="0">
              <a:buNone/>
            </a:pPr>
            <a:r>
              <a:rPr lang="en-US" sz="1400" b="1" dirty="0">
                <a:solidFill>
                  <a:srgbClr val="0F6B32"/>
                </a:solidFill>
                <a:latin typeface="Calibri" pitchFamily="34" charset="0"/>
                <a:ea typeface="Calibri" pitchFamily="34" charset="-122"/>
                <a:cs typeface="Calibri" pitchFamily="34" charset="-120"/>
              </a:rPr>
              <a:t>Helps marketing target the right customers with the right products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100" b="1" spc="300" kern="0" dirty="0">
                <a:solidFill>
                  <a:srgbClr val="16A34A"/>
                </a:solidFill>
                <a:latin typeface="Calibri" pitchFamily="34" charset="0"/>
                <a:ea typeface="Calibri" pitchFamily="34" charset="-122"/>
                <a:cs typeface="Calibri" pitchFamily="34" charset="-120"/>
              </a:rPr>
              <a:t>BUSINESS INTELLIGENCE  ·  Q4.4</a:t>
            </a:r>
            <a:endParaRPr lang="en-US" sz="11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3200" b="1" dirty="0">
                <a:solidFill>
                  <a:srgbClr val="0A0F0C"/>
                </a:solidFill>
                <a:latin typeface="Cambria" pitchFamily="34" charset="0"/>
                <a:ea typeface="Cambria" pitchFamily="34" charset="-122"/>
                <a:cs typeface="Cambria" pitchFamily="34" charset="-120"/>
              </a:rPr>
              <a:t>Channel Performance</a:t>
            </a:r>
            <a:endParaRPr lang="en-US" sz="3200" dirty="0"/>
          </a:p>
        </p:txBody>
      </p:sp>
      <p:sp>
        <p:nvSpPr>
          <p:cNvPr id="4" name="Text 2"/>
          <p:cNvSpPr txBox="1"/>
          <p:nvPr/>
        </p:nvSpPr>
        <p:spPr>
          <a:xfrm>
            <a:off x="457200" y="4800600"/>
            <a:ext cx="82296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NexaBank Data Warehouse &amp; Analytics Pipeline   |   10</a:t>
            </a:r>
            <a:endParaRPr lang="en-US" sz="900" dirty="0"/>
          </a:p>
        </p:txBody>
      </p:sp>
      <p:sp>
        <p:nvSpPr>
          <p:cNvPr id="5" name="Shape 3"/>
          <p:cNvSpPr/>
          <p:nvPr/>
        </p:nvSpPr>
        <p:spPr>
          <a:xfrm>
            <a:off x="457200" y="1371600"/>
            <a:ext cx="1536192" cy="1234440"/>
          </a:xfrm>
          <a:prstGeom prst="roundRect">
            <a:avLst>
              <a:gd name="adj" fmla="val 5926"/>
            </a:avLst>
          </a:prstGeom>
          <a:solidFill>
            <a:srgbClr val="E8F5EC"/>
          </a:solidFill>
          <a:ln/>
        </p:spPr>
      </p:sp>
      <p:sp>
        <p:nvSpPr>
          <p:cNvPr id="6" name="Shape 4"/>
          <p:cNvSpPr/>
          <p:nvPr/>
        </p:nvSpPr>
        <p:spPr>
          <a:xfrm>
            <a:off x="978408" y="1490472"/>
            <a:ext cx="502920" cy="502920"/>
          </a:xfrm>
          <a:prstGeom prst="ellipse">
            <a:avLst/>
          </a:prstGeom>
          <a:solidFill>
            <a:srgbClr val="16A34A"/>
          </a:solidFill>
          <a:ln/>
        </p:spPr>
      </p:sp>
      <p:pic>
        <p:nvPicPr>
          <p:cNvPr id="7" name="Image 0" descr="preencoded.png">    </p:cNvPr>
          <p:cNvPicPr>
            <a:picLocks noChangeAspect="1"/>
          </p:cNvPicPr>
          <p:nvPr/>
        </p:nvPicPr>
        <p:blipFill>
          <a:blip r:embed="rId1"/>
          <a:stretch>
            <a:fillRect/>
          </a:stretch>
        </p:blipFill>
        <p:spPr>
          <a:xfrm>
            <a:off x="1104138" y="1616202"/>
            <a:ext cx="251460" cy="251460"/>
          </a:xfrm>
          <a:prstGeom prst="rect">
            <a:avLst/>
          </a:prstGeom>
        </p:spPr>
      </p:pic>
      <p:sp>
        <p:nvSpPr>
          <p:cNvPr id="8" name="Text 5"/>
          <p:cNvSpPr txBox="1"/>
          <p:nvPr/>
        </p:nvSpPr>
        <p:spPr>
          <a:xfrm>
            <a:off x="457200" y="2103120"/>
            <a:ext cx="1536192" cy="365760"/>
          </a:xfrm>
          <a:prstGeom prst="rect">
            <a:avLst/>
          </a:prstGeom>
          <a:noFill/>
          <a:ln/>
        </p:spPr>
        <p:txBody>
          <a:bodyPr wrap="square" lIns="0" tIns="0" rIns="0" bIns="0" rtlCol="0" anchor="ctr"/>
          <a:lstStyle/>
          <a:p>
            <a:pPr algn="ctr" indent="0" marL="0">
              <a:buNone/>
            </a:pPr>
            <a:r>
              <a:rPr lang="en-US" sz="1400" b="1" dirty="0">
                <a:solidFill>
                  <a:srgbClr val="0A0F0C"/>
                </a:solidFill>
                <a:latin typeface="Calibri" pitchFamily="34" charset="0"/>
                <a:ea typeface="Calibri" pitchFamily="34" charset="-122"/>
                <a:cs typeface="Calibri" pitchFamily="34" charset="-120"/>
              </a:rPr>
              <a:t>ATM</a:t>
            </a:r>
            <a:endParaRPr lang="en-US" sz="1400" dirty="0"/>
          </a:p>
        </p:txBody>
      </p:sp>
      <p:sp>
        <p:nvSpPr>
          <p:cNvPr id="9" name="Shape 6"/>
          <p:cNvSpPr/>
          <p:nvPr/>
        </p:nvSpPr>
        <p:spPr>
          <a:xfrm>
            <a:off x="2130552" y="1371600"/>
            <a:ext cx="1536192" cy="1234440"/>
          </a:xfrm>
          <a:prstGeom prst="roundRect">
            <a:avLst>
              <a:gd name="adj" fmla="val 5926"/>
            </a:avLst>
          </a:prstGeom>
          <a:solidFill>
            <a:srgbClr val="E8F5EC"/>
          </a:solidFill>
          <a:ln/>
        </p:spPr>
      </p:sp>
      <p:sp>
        <p:nvSpPr>
          <p:cNvPr id="10" name="Shape 7"/>
          <p:cNvSpPr/>
          <p:nvPr/>
        </p:nvSpPr>
        <p:spPr>
          <a:xfrm>
            <a:off x="2651760" y="1490472"/>
            <a:ext cx="502920" cy="502920"/>
          </a:xfrm>
          <a:prstGeom prst="ellipse">
            <a:avLst/>
          </a:prstGeom>
          <a:solidFill>
            <a:srgbClr val="16A34A"/>
          </a:solidFill>
          <a:ln/>
        </p:spPr>
      </p:sp>
      <p:pic>
        <p:nvPicPr>
          <p:cNvPr id="11" name="Image 1" descr="preencoded.png">    </p:cNvPr>
          <p:cNvPicPr>
            <a:picLocks noChangeAspect="1"/>
          </p:cNvPicPr>
          <p:nvPr/>
        </p:nvPicPr>
        <p:blipFill>
          <a:blip r:embed="rId2"/>
          <a:stretch>
            <a:fillRect/>
          </a:stretch>
        </p:blipFill>
        <p:spPr>
          <a:xfrm>
            <a:off x="2777490" y="1616202"/>
            <a:ext cx="251460" cy="251460"/>
          </a:xfrm>
          <a:prstGeom prst="rect">
            <a:avLst/>
          </a:prstGeom>
        </p:spPr>
      </p:pic>
      <p:sp>
        <p:nvSpPr>
          <p:cNvPr id="12" name="Text 8"/>
          <p:cNvSpPr txBox="1"/>
          <p:nvPr/>
        </p:nvSpPr>
        <p:spPr>
          <a:xfrm>
            <a:off x="2130552" y="2103120"/>
            <a:ext cx="1536192" cy="365760"/>
          </a:xfrm>
          <a:prstGeom prst="rect">
            <a:avLst/>
          </a:prstGeom>
          <a:noFill/>
          <a:ln/>
        </p:spPr>
        <p:txBody>
          <a:bodyPr wrap="square" lIns="0" tIns="0" rIns="0" bIns="0" rtlCol="0" anchor="ctr"/>
          <a:lstStyle/>
          <a:p>
            <a:pPr algn="ctr" indent="0" marL="0">
              <a:buNone/>
            </a:pPr>
            <a:r>
              <a:rPr lang="en-US" sz="1400" b="1" dirty="0">
                <a:solidFill>
                  <a:srgbClr val="0A0F0C"/>
                </a:solidFill>
                <a:latin typeface="Calibri" pitchFamily="34" charset="0"/>
                <a:ea typeface="Calibri" pitchFamily="34" charset="-122"/>
                <a:cs typeface="Calibri" pitchFamily="34" charset="-120"/>
              </a:rPr>
              <a:t>POS Terminal</a:t>
            </a:r>
            <a:endParaRPr lang="en-US" sz="1400" dirty="0"/>
          </a:p>
        </p:txBody>
      </p:sp>
      <p:sp>
        <p:nvSpPr>
          <p:cNvPr id="13" name="Shape 9"/>
          <p:cNvSpPr/>
          <p:nvPr/>
        </p:nvSpPr>
        <p:spPr>
          <a:xfrm>
            <a:off x="3803904" y="1371600"/>
            <a:ext cx="1536192" cy="1234440"/>
          </a:xfrm>
          <a:prstGeom prst="roundRect">
            <a:avLst>
              <a:gd name="adj" fmla="val 5926"/>
            </a:avLst>
          </a:prstGeom>
          <a:solidFill>
            <a:srgbClr val="E8F5EC"/>
          </a:solidFill>
          <a:ln/>
        </p:spPr>
      </p:sp>
      <p:sp>
        <p:nvSpPr>
          <p:cNvPr id="14" name="Shape 10"/>
          <p:cNvSpPr/>
          <p:nvPr/>
        </p:nvSpPr>
        <p:spPr>
          <a:xfrm>
            <a:off x="4325112" y="1490472"/>
            <a:ext cx="502920" cy="502920"/>
          </a:xfrm>
          <a:prstGeom prst="ellipse">
            <a:avLst/>
          </a:prstGeom>
          <a:solidFill>
            <a:srgbClr val="16A34A"/>
          </a:solidFill>
          <a:ln/>
        </p:spPr>
      </p:sp>
      <p:pic>
        <p:nvPicPr>
          <p:cNvPr id="15" name="Image 2" descr="preencoded.png">    </p:cNvPr>
          <p:cNvPicPr>
            <a:picLocks noChangeAspect="1"/>
          </p:cNvPicPr>
          <p:nvPr/>
        </p:nvPicPr>
        <p:blipFill>
          <a:blip r:embed="rId3"/>
          <a:stretch>
            <a:fillRect/>
          </a:stretch>
        </p:blipFill>
        <p:spPr>
          <a:xfrm>
            <a:off x="4450842" y="1616202"/>
            <a:ext cx="251460" cy="251460"/>
          </a:xfrm>
          <a:prstGeom prst="rect">
            <a:avLst/>
          </a:prstGeom>
        </p:spPr>
      </p:pic>
      <p:sp>
        <p:nvSpPr>
          <p:cNvPr id="16" name="Text 11"/>
          <p:cNvSpPr txBox="1"/>
          <p:nvPr/>
        </p:nvSpPr>
        <p:spPr>
          <a:xfrm>
            <a:off x="3803904" y="2103120"/>
            <a:ext cx="1536192" cy="365760"/>
          </a:xfrm>
          <a:prstGeom prst="rect">
            <a:avLst/>
          </a:prstGeom>
          <a:noFill/>
          <a:ln/>
        </p:spPr>
        <p:txBody>
          <a:bodyPr wrap="square" lIns="0" tIns="0" rIns="0" bIns="0" rtlCol="0" anchor="ctr"/>
          <a:lstStyle/>
          <a:p>
            <a:pPr algn="ctr" indent="0" marL="0">
              <a:buNone/>
            </a:pPr>
            <a:r>
              <a:rPr lang="en-US" sz="1400" b="1" dirty="0">
                <a:solidFill>
                  <a:srgbClr val="0A0F0C"/>
                </a:solidFill>
                <a:latin typeface="Calibri" pitchFamily="34" charset="0"/>
                <a:ea typeface="Calibri" pitchFamily="34" charset="-122"/>
                <a:cs typeface="Calibri" pitchFamily="34" charset="-120"/>
              </a:rPr>
              <a:t>USSD</a:t>
            </a:r>
            <a:endParaRPr lang="en-US" sz="1400" dirty="0"/>
          </a:p>
        </p:txBody>
      </p:sp>
      <p:sp>
        <p:nvSpPr>
          <p:cNvPr id="17" name="Shape 12"/>
          <p:cNvSpPr/>
          <p:nvPr/>
        </p:nvSpPr>
        <p:spPr>
          <a:xfrm>
            <a:off x="5477256" y="1371600"/>
            <a:ext cx="1536192" cy="1234440"/>
          </a:xfrm>
          <a:prstGeom prst="roundRect">
            <a:avLst>
              <a:gd name="adj" fmla="val 5926"/>
            </a:avLst>
          </a:prstGeom>
          <a:solidFill>
            <a:srgbClr val="E8F5EC"/>
          </a:solidFill>
          <a:ln/>
        </p:spPr>
      </p:sp>
      <p:sp>
        <p:nvSpPr>
          <p:cNvPr id="18" name="Shape 13"/>
          <p:cNvSpPr/>
          <p:nvPr/>
        </p:nvSpPr>
        <p:spPr>
          <a:xfrm>
            <a:off x="5998464" y="1490472"/>
            <a:ext cx="502920" cy="502920"/>
          </a:xfrm>
          <a:prstGeom prst="ellipse">
            <a:avLst/>
          </a:prstGeom>
          <a:solidFill>
            <a:srgbClr val="16A34A"/>
          </a:solidFill>
          <a:ln/>
        </p:spPr>
      </p:sp>
      <p:pic>
        <p:nvPicPr>
          <p:cNvPr id="19" name="Image 3" descr="preencoded.png">    </p:cNvPr>
          <p:cNvPicPr>
            <a:picLocks noChangeAspect="1"/>
          </p:cNvPicPr>
          <p:nvPr/>
        </p:nvPicPr>
        <p:blipFill>
          <a:blip r:embed="rId4"/>
          <a:stretch>
            <a:fillRect/>
          </a:stretch>
        </p:blipFill>
        <p:spPr>
          <a:xfrm>
            <a:off x="6124194" y="1616202"/>
            <a:ext cx="251460" cy="251460"/>
          </a:xfrm>
          <a:prstGeom prst="rect">
            <a:avLst/>
          </a:prstGeom>
        </p:spPr>
      </p:pic>
      <p:sp>
        <p:nvSpPr>
          <p:cNvPr id="20" name="Text 14"/>
          <p:cNvSpPr txBox="1"/>
          <p:nvPr/>
        </p:nvSpPr>
        <p:spPr>
          <a:xfrm>
            <a:off x="5477256" y="2103120"/>
            <a:ext cx="1536192" cy="365760"/>
          </a:xfrm>
          <a:prstGeom prst="rect">
            <a:avLst/>
          </a:prstGeom>
          <a:noFill/>
          <a:ln/>
        </p:spPr>
        <p:txBody>
          <a:bodyPr wrap="square" lIns="0" tIns="0" rIns="0" bIns="0" rtlCol="0" anchor="ctr"/>
          <a:lstStyle/>
          <a:p>
            <a:pPr algn="ctr" indent="0" marL="0">
              <a:buNone/>
            </a:pPr>
            <a:r>
              <a:rPr lang="en-US" sz="1400" b="1" dirty="0">
                <a:solidFill>
                  <a:srgbClr val="0A0F0C"/>
                </a:solidFill>
                <a:latin typeface="Calibri" pitchFamily="34" charset="0"/>
                <a:ea typeface="Calibri" pitchFamily="34" charset="-122"/>
                <a:cs typeface="Calibri" pitchFamily="34" charset="-120"/>
              </a:rPr>
              <a:t>Mobile</a:t>
            </a:r>
            <a:endParaRPr lang="en-US" sz="1400" dirty="0"/>
          </a:p>
        </p:txBody>
      </p:sp>
      <p:sp>
        <p:nvSpPr>
          <p:cNvPr id="21" name="Shape 15"/>
          <p:cNvSpPr/>
          <p:nvPr/>
        </p:nvSpPr>
        <p:spPr>
          <a:xfrm>
            <a:off x="7150608" y="1371600"/>
            <a:ext cx="1536192" cy="1234440"/>
          </a:xfrm>
          <a:prstGeom prst="roundRect">
            <a:avLst>
              <a:gd name="adj" fmla="val 5926"/>
            </a:avLst>
          </a:prstGeom>
          <a:solidFill>
            <a:srgbClr val="E8F5EC"/>
          </a:solidFill>
          <a:ln/>
        </p:spPr>
      </p:sp>
      <p:sp>
        <p:nvSpPr>
          <p:cNvPr id="22" name="Shape 16"/>
          <p:cNvSpPr/>
          <p:nvPr/>
        </p:nvSpPr>
        <p:spPr>
          <a:xfrm>
            <a:off x="7671816" y="1490472"/>
            <a:ext cx="502920" cy="502920"/>
          </a:xfrm>
          <a:prstGeom prst="ellipse">
            <a:avLst/>
          </a:prstGeom>
          <a:solidFill>
            <a:srgbClr val="16A34A"/>
          </a:solidFill>
          <a:ln/>
        </p:spPr>
      </p:sp>
      <p:pic>
        <p:nvPicPr>
          <p:cNvPr id="23" name="Image 4" descr="preencoded.png">    </p:cNvPr>
          <p:cNvPicPr>
            <a:picLocks noChangeAspect="1"/>
          </p:cNvPicPr>
          <p:nvPr/>
        </p:nvPicPr>
        <p:blipFill>
          <a:blip r:embed="rId5"/>
          <a:stretch>
            <a:fillRect/>
          </a:stretch>
        </p:blipFill>
        <p:spPr>
          <a:xfrm>
            <a:off x="7797546" y="1616202"/>
            <a:ext cx="251460" cy="251460"/>
          </a:xfrm>
          <a:prstGeom prst="rect">
            <a:avLst/>
          </a:prstGeom>
        </p:spPr>
      </p:pic>
      <p:sp>
        <p:nvSpPr>
          <p:cNvPr id="24" name="Text 17"/>
          <p:cNvSpPr txBox="1"/>
          <p:nvPr/>
        </p:nvSpPr>
        <p:spPr>
          <a:xfrm>
            <a:off x="7150608" y="2103120"/>
            <a:ext cx="1536192" cy="365760"/>
          </a:xfrm>
          <a:prstGeom prst="rect">
            <a:avLst/>
          </a:prstGeom>
          <a:noFill/>
          <a:ln/>
        </p:spPr>
        <p:txBody>
          <a:bodyPr wrap="square" lIns="0" tIns="0" rIns="0" bIns="0" rtlCol="0" anchor="ctr"/>
          <a:lstStyle/>
          <a:p>
            <a:pPr algn="ctr" indent="0" marL="0">
              <a:buNone/>
            </a:pPr>
            <a:r>
              <a:rPr lang="en-US" sz="1400" b="1" dirty="0">
                <a:solidFill>
                  <a:srgbClr val="0A0F0C"/>
                </a:solidFill>
                <a:latin typeface="Calibri" pitchFamily="34" charset="0"/>
                <a:ea typeface="Calibri" pitchFamily="34" charset="-122"/>
                <a:cs typeface="Calibri" pitchFamily="34" charset="-120"/>
              </a:rPr>
              <a:t>Branch</a:t>
            </a:r>
            <a:endParaRPr lang="en-US" sz="1400" dirty="0"/>
          </a:p>
        </p:txBody>
      </p:sp>
      <p:sp>
        <p:nvSpPr>
          <p:cNvPr id="25" name="Shape 18"/>
          <p:cNvSpPr/>
          <p:nvPr/>
        </p:nvSpPr>
        <p:spPr>
          <a:xfrm>
            <a:off x="457200" y="2880360"/>
            <a:ext cx="2651760" cy="1737360"/>
          </a:xfrm>
          <a:prstGeom prst="roundRect">
            <a:avLst>
              <a:gd name="adj" fmla="val 4211"/>
            </a:avLst>
          </a:prstGeom>
          <a:solidFill>
            <a:srgbClr val="FFFFFF"/>
          </a:solidFill>
          <a:ln w="12700">
            <a:solidFill>
              <a:srgbClr val="CFE6D6"/>
            </a:solidFill>
            <a:prstDash val="solid"/>
          </a:ln>
        </p:spPr>
      </p:sp>
      <p:sp>
        <p:nvSpPr>
          <p:cNvPr id="26" name="Shape 19"/>
          <p:cNvSpPr/>
          <p:nvPr/>
        </p:nvSpPr>
        <p:spPr>
          <a:xfrm>
            <a:off x="640080" y="3017520"/>
            <a:ext cx="420624" cy="420624"/>
          </a:xfrm>
          <a:prstGeom prst="ellipse">
            <a:avLst/>
          </a:prstGeom>
          <a:solidFill>
            <a:srgbClr val="16A34A"/>
          </a:solidFill>
          <a:ln/>
        </p:spPr>
      </p:sp>
      <p:pic>
        <p:nvPicPr>
          <p:cNvPr id="27" name="Image 5" descr="preencoded.png">    </p:cNvPr>
          <p:cNvPicPr>
            <a:picLocks noChangeAspect="1"/>
          </p:cNvPicPr>
          <p:nvPr/>
        </p:nvPicPr>
        <p:blipFill>
          <a:blip r:embed="rId6"/>
          <a:stretch>
            <a:fillRect/>
          </a:stretch>
        </p:blipFill>
        <p:spPr>
          <a:xfrm>
            <a:off x="745236" y="3122676"/>
            <a:ext cx="210312" cy="210312"/>
          </a:xfrm>
          <a:prstGeom prst="rect">
            <a:avLst/>
          </a:prstGeom>
        </p:spPr>
      </p:pic>
      <p:sp>
        <p:nvSpPr>
          <p:cNvPr id="28" name="Text 20"/>
          <p:cNvSpPr txBox="1"/>
          <p:nvPr/>
        </p:nvSpPr>
        <p:spPr>
          <a:xfrm>
            <a:off x="1188720" y="3017520"/>
            <a:ext cx="1828800" cy="420624"/>
          </a:xfrm>
          <a:prstGeom prst="rect">
            <a:avLst/>
          </a:prstGeom>
          <a:noFill/>
          <a:ln/>
        </p:spPr>
        <p:txBody>
          <a:bodyPr wrap="square" lIns="0" tIns="0" rIns="0" bIns="0" rtlCol="0" anchor="ctr"/>
          <a:lstStyle/>
          <a:p>
            <a:pPr indent="0" marL="0">
              <a:buNone/>
            </a:pPr>
            <a:r>
              <a:rPr lang="en-US" sz="1300" b="1" dirty="0">
                <a:solidFill>
                  <a:srgbClr val="0F6B32"/>
                </a:solidFill>
                <a:latin typeface="Calibri" pitchFamily="34" charset="0"/>
                <a:ea typeface="Calibri" pitchFamily="34" charset="-122"/>
                <a:cs typeface="Calibri" pitchFamily="34" charset="-120"/>
              </a:rPr>
              <a:t>Volume share %</a:t>
            </a:r>
            <a:endParaRPr lang="en-US" sz="1300" dirty="0"/>
          </a:p>
        </p:txBody>
      </p:sp>
      <p:sp>
        <p:nvSpPr>
          <p:cNvPr id="29" name="Text 21"/>
          <p:cNvSpPr txBox="1"/>
          <p:nvPr/>
        </p:nvSpPr>
        <p:spPr>
          <a:xfrm>
            <a:off x="640080" y="3611880"/>
            <a:ext cx="2286000" cy="868680"/>
          </a:xfrm>
          <a:prstGeom prst="rect">
            <a:avLst/>
          </a:prstGeom>
          <a:noFill/>
          <a:ln/>
        </p:spPr>
        <p:txBody>
          <a:bodyPr wrap="square" lIns="0" tIns="0" rIns="0" bIns="0" rtlCol="0" anchor="t"/>
          <a:lstStyle/>
          <a:p>
            <a:pPr indent="0" marL="0">
              <a:buNone/>
            </a:pPr>
            <a:r>
              <a:rPr lang="en-US" sz="1300" dirty="0">
                <a:solidFill>
                  <a:srgbClr val="4B5563"/>
                </a:solidFill>
                <a:latin typeface="Calibri" pitchFamily="34" charset="0"/>
                <a:ea typeface="Calibri" pitchFamily="34" charset="-122"/>
                <a:cs typeface="Calibri" pitchFamily="34" charset="-120"/>
              </a:rPr>
              <a:t>Share of all transactions carried by each channel</a:t>
            </a:r>
            <a:endParaRPr lang="en-US" sz="1300" dirty="0"/>
          </a:p>
        </p:txBody>
      </p:sp>
      <p:sp>
        <p:nvSpPr>
          <p:cNvPr id="30" name="Shape 22"/>
          <p:cNvSpPr/>
          <p:nvPr/>
        </p:nvSpPr>
        <p:spPr>
          <a:xfrm>
            <a:off x="3246120" y="2880360"/>
            <a:ext cx="2651760" cy="1737360"/>
          </a:xfrm>
          <a:prstGeom prst="roundRect">
            <a:avLst>
              <a:gd name="adj" fmla="val 4211"/>
            </a:avLst>
          </a:prstGeom>
          <a:solidFill>
            <a:srgbClr val="FFFFFF"/>
          </a:solidFill>
          <a:ln w="12700">
            <a:solidFill>
              <a:srgbClr val="CFE6D6"/>
            </a:solidFill>
            <a:prstDash val="solid"/>
          </a:ln>
        </p:spPr>
      </p:sp>
      <p:sp>
        <p:nvSpPr>
          <p:cNvPr id="31" name="Shape 23"/>
          <p:cNvSpPr/>
          <p:nvPr/>
        </p:nvSpPr>
        <p:spPr>
          <a:xfrm>
            <a:off x="3429000" y="3017520"/>
            <a:ext cx="420624" cy="420624"/>
          </a:xfrm>
          <a:prstGeom prst="ellipse">
            <a:avLst/>
          </a:prstGeom>
          <a:solidFill>
            <a:srgbClr val="16A34A"/>
          </a:solidFill>
          <a:ln/>
        </p:spPr>
      </p:sp>
      <p:pic>
        <p:nvPicPr>
          <p:cNvPr id="32" name="Image 6" descr="preencoded.png">    </p:cNvPr>
          <p:cNvPicPr>
            <a:picLocks noChangeAspect="1"/>
          </p:cNvPicPr>
          <p:nvPr/>
        </p:nvPicPr>
        <p:blipFill>
          <a:blip r:embed="rId7"/>
          <a:stretch>
            <a:fillRect/>
          </a:stretch>
        </p:blipFill>
        <p:spPr>
          <a:xfrm>
            <a:off x="3534156" y="3122676"/>
            <a:ext cx="210312" cy="210312"/>
          </a:xfrm>
          <a:prstGeom prst="rect">
            <a:avLst/>
          </a:prstGeom>
        </p:spPr>
      </p:pic>
      <p:sp>
        <p:nvSpPr>
          <p:cNvPr id="33" name="Text 24"/>
          <p:cNvSpPr txBox="1"/>
          <p:nvPr/>
        </p:nvSpPr>
        <p:spPr>
          <a:xfrm>
            <a:off x="3977640" y="3017520"/>
            <a:ext cx="1828800" cy="420624"/>
          </a:xfrm>
          <a:prstGeom prst="rect">
            <a:avLst/>
          </a:prstGeom>
          <a:noFill/>
          <a:ln/>
        </p:spPr>
        <p:txBody>
          <a:bodyPr wrap="square" lIns="0" tIns="0" rIns="0" bIns="0" rtlCol="0" anchor="ctr"/>
          <a:lstStyle/>
          <a:p>
            <a:pPr indent="0" marL="0">
              <a:buNone/>
            </a:pPr>
            <a:r>
              <a:rPr lang="en-US" sz="1300" b="1" dirty="0">
                <a:solidFill>
                  <a:srgbClr val="0F6B32"/>
                </a:solidFill>
                <a:latin typeface="Calibri" pitchFamily="34" charset="0"/>
                <a:ea typeface="Calibri" pitchFamily="34" charset="-122"/>
                <a:cs typeface="Calibri" pitchFamily="34" charset="-120"/>
              </a:rPr>
              <a:t>Average transaction size</a:t>
            </a:r>
            <a:endParaRPr lang="en-US" sz="1300" dirty="0"/>
          </a:p>
        </p:txBody>
      </p:sp>
      <p:sp>
        <p:nvSpPr>
          <p:cNvPr id="34" name="Text 25"/>
          <p:cNvSpPr txBox="1"/>
          <p:nvPr/>
        </p:nvSpPr>
        <p:spPr>
          <a:xfrm>
            <a:off x="3429000" y="3611880"/>
            <a:ext cx="2286000" cy="868680"/>
          </a:xfrm>
          <a:prstGeom prst="rect">
            <a:avLst/>
          </a:prstGeom>
          <a:noFill/>
          <a:ln/>
        </p:spPr>
        <p:txBody>
          <a:bodyPr wrap="square" lIns="0" tIns="0" rIns="0" bIns="0" rtlCol="0" anchor="t"/>
          <a:lstStyle/>
          <a:p>
            <a:pPr indent="0" marL="0">
              <a:buNone/>
            </a:pPr>
            <a:r>
              <a:rPr lang="en-US" sz="1300" dirty="0">
                <a:solidFill>
                  <a:srgbClr val="4B5563"/>
                </a:solidFill>
                <a:latin typeface="Calibri" pitchFamily="34" charset="0"/>
                <a:ea typeface="Calibri" pitchFamily="34" charset="-122"/>
                <a:cs typeface="Calibri" pitchFamily="34" charset="-120"/>
              </a:rPr>
              <a:t>Typical value of a transaction on each channel</a:t>
            </a:r>
            <a:endParaRPr lang="en-US" sz="1300" dirty="0"/>
          </a:p>
        </p:txBody>
      </p:sp>
      <p:sp>
        <p:nvSpPr>
          <p:cNvPr id="35" name="Shape 26"/>
          <p:cNvSpPr/>
          <p:nvPr/>
        </p:nvSpPr>
        <p:spPr>
          <a:xfrm>
            <a:off x="6035040" y="2880360"/>
            <a:ext cx="2651760" cy="1737360"/>
          </a:xfrm>
          <a:prstGeom prst="roundRect">
            <a:avLst>
              <a:gd name="adj" fmla="val 4211"/>
            </a:avLst>
          </a:prstGeom>
          <a:solidFill>
            <a:srgbClr val="0A0F0C"/>
          </a:solidFill>
          <a:ln/>
        </p:spPr>
      </p:sp>
      <p:sp>
        <p:nvSpPr>
          <p:cNvPr id="36" name="Shape 27"/>
          <p:cNvSpPr/>
          <p:nvPr/>
        </p:nvSpPr>
        <p:spPr>
          <a:xfrm>
            <a:off x="6217920" y="3017520"/>
            <a:ext cx="420624" cy="420624"/>
          </a:xfrm>
          <a:prstGeom prst="ellipse">
            <a:avLst/>
          </a:prstGeom>
          <a:solidFill>
            <a:srgbClr val="16A34A"/>
          </a:solidFill>
          <a:ln/>
        </p:spPr>
      </p:sp>
      <p:pic>
        <p:nvPicPr>
          <p:cNvPr id="37" name="Image 7" descr="preencoded.png">    </p:cNvPr>
          <p:cNvPicPr>
            <a:picLocks noChangeAspect="1"/>
          </p:cNvPicPr>
          <p:nvPr/>
        </p:nvPicPr>
        <p:blipFill>
          <a:blip r:embed="rId8"/>
          <a:stretch>
            <a:fillRect/>
          </a:stretch>
        </p:blipFill>
        <p:spPr>
          <a:xfrm>
            <a:off x="6323076" y="3122676"/>
            <a:ext cx="210312" cy="210312"/>
          </a:xfrm>
          <a:prstGeom prst="rect">
            <a:avLst/>
          </a:prstGeom>
        </p:spPr>
      </p:pic>
      <p:sp>
        <p:nvSpPr>
          <p:cNvPr id="38" name="Text 28"/>
          <p:cNvSpPr txBox="1"/>
          <p:nvPr/>
        </p:nvSpPr>
        <p:spPr>
          <a:xfrm>
            <a:off x="6766560" y="3017520"/>
            <a:ext cx="1828800" cy="420624"/>
          </a:xfrm>
          <a:prstGeom prst="rect">
            <a:avLst/>
          </a:prstGeom>
          <a:noFill/>
          <a:ln/>
        </p:spPr>
        <p:txBody>
          <a:bodyPr wrap="square" lIns="0" tIns="0" rIns="0" bIns="0" rtlCol="0" anchor="ctr"/>
          <a:lstStyle/>
          <a:p>
            <a:pPr indent="0" marL="0">
              <a:buNone/>
            </a:pPr>
            <a:r>
              <a:rPr lang="en-US" sz="1300" b="1" dirty="0">
                <a:solidFill>
                  <a:srgbClr val="22C55E"/>
                </a:solidFill>
                <a:latin typeface="Calibri" pitchFamily="34" charset="0"/>
                <a:ea typeface="Calibri" pitchFamily="34" charset="-122"/>
                <a:cs typeface="Calibri" pitchFamily="34" charset="-120"/>
              </a:rPr>
              <a:t>Investment decision</a:t>
            </a:r>
            <a:endParaRPr lang="en-US" sz="1300" dirty="0"/>
          </a:p>
        </p:txBody>
      </p:sp>
      <p:sp>
        <p:nvSpPr>
          <p:cNvPr id="39" name="Text 29"/>
          <p:cNvSpPr txBox="1"/>
          <p:nvPr/>
        </p:nvSpPr>
        <p:spPr>
          <a:xfrm>
            <a:off x="6217920" y="3611880"/>
            <a:ext cx="2286000" cy="86868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Shows where to invest in digital infrastructure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100" b="1" spc="300" kern="0" dirty="0">
                <a:solidFill>
                  <a:srgbClr val="16A34A"/>
                </a:solidFill>
                <a:latin typeface="Calibri" pitchFamily="34" charset="0"/>
                <a:ea typeface="Calibri" pitchFamily="34" charset="-122"/>
                <a:cs typeface="Calibri" pitchFamily="34" charset="-120"/>
              </a:rPr>
              <a:t>BUSINESS INTELLIGENCE  ·  Q4.7 &amp; Q4.8</a:t>
            </a:r>
            <a:endParaRPr lang="en-US" sz="11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3200" b="1" dirty="0">
                <a:solidFill>
                  <a:srgbClr val="0A0F0C"/>
                </a:solidFill>
                <a:latin typeface="Cambria" pitchFamily="34" charset="0"/>
                <a:ea typeface="Cambria" pitchFamily="34" charset="-122"/>
                <a:cs typeface="Cambria" pitchFamily="34" charset="-120"/>
              </a:rPr>
              <a:t>Operational Efficiency</a:t>
            </a:r>
            <a:endParaRPr lang="en-US" sz="3200" dirty="0"/>
          </a:p>
        </p:txBody>
      </p:sp>
      <p:sp>
        <p:nvSpPr>
          <p:cNvPr id="4" name="Text 2"/>
          <p:cNvSpPr txBox="1"/>
          <p:nvPr/>
        </p:nvSpPr>
        <p:spPr>
          <a:xfrm>
            <a:off x="457200" y="4800600"/>
            <a:ext cx="82296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NexaBank Data Warehouse &amp; Analytics Pipeline   |   11</a:t>
            </a:r>
            <a:endParaRPr lang="en-US" sz="900" dirty="0"/>
          </a:p>
        </p:txBody>
      </p:sp>
      <p:sp>
        <p:nvSpPr>
          <p:cNvPr id="5" name="Shape 3"/>
          <p:cNvSpPr/>
          <p:nvPr/>
        </p:nvSpPr>
        <p:spPr>
          <a:xfrm>
            <a:off x="457200" y="1371600"/>
            <a:ext cx="4023360" cy="3246120"/>
          </a:xfrm>
          <a:prstGeom prst="roundRect">
            <a:avLst>
              <a:gd name="adj" fmla="val 2254"/>
            </a:avLst>
          </a:prstGeom>
          <a:solidFill>
            <a:srgbClr val="E8F5EC"/>
          </a:solidFill>
          <a:ln/>
        </p:spPr>
      </p:sp>
      <p:sp>
        <p:nvSpPr>
          <p:cNvPr id="6" name="Shape 4"/>
          <p:cNvSpPr/>
          <p:nvPr/>
        </p:nvSpPr>
        <p:spPr>
          <a:xfrm>
            <a:off x="640080" y="1536192"/>
            <a:ext cx="457200" cy="457200"/>
          </a:xfrm>
          <a:prstGeom prst="ellipse">
            <a:avLst/>
          </a:prstGeom>
          <a:solidFill>
            <a:srgbClr val="16A34A"/>
          </a:solidFill>
          <a:ln/>
        </p:spPr>
      </p:sp>
      <p:pic>
        <p:nvPicPr>
          <p:cNvPr id="7" name="Image 0" descr="preencoded.png">    </p:cNvPr>
          <p:cNvPicPr>
            <a:picLocks noChangeAspect="1"/>
          </p:cNvPicPr>
          <p:nvPr/>
        </p:nvPicPr>
        <p:blipFill>
          <a:blip r:embed="rId1"/>
          <a:stretch>
            <a:fillRect/>
          </a:stretch>
        </p:blipFill>
        <p:spPr>
          <a:xfrm>
            <a:off x="754380" y="1650492"/>
            <a:ext cx="228600" cy="228600"/>
          </a:xfrm>
          <a:prstGeom prst="rect">
            <a:avLst/>
          </a:prstGeom>
        </p:spPr>
      </p:pic>
      <p:sp>
        <p:nvSpPr>
          <p:cNvPr id="8" name="Text 5"/>
          <p:cNvSpPr txBox="1"/>
          <p:nvPr/>
        </p:nvSpPr>
        <p:spPr>
          <a:xfrm>
            <a:off x="1234440" y="1536192"/>
            <a:ext cx="1371600" cy="201168"/>
          </a:xfrm>
          <a:prstGeom prst="rect">
            <a:avLst/>
          </a:prstGeom>
          <a:noFill/>
          <a:ln/>
        </p:spPr>
        <p:txBody>
          <a:bodyPr wrap="square" lIns="0" tIns="0" rIns="0" bIns="0" rtlCol="0" anchor="t"/>
          <a:lstStyle/>
          <a:p>
            <a:pPr indent="0" marL="0">
              <a:buNone/>
            </a:pPr>
            <a:r>
              <a:rPr lang="en-US" sz="1000" b="1" spc="200" kern="0" dirty="0">
                <a:solidFill>
                  <a:srgbClr val="16A34A"/>
                </a:solidFill>
                <a:latin typeface="Calibri" pitchFamily="34" charset="0"/>
                <a:ea typeface="Calibri" pitchFamily="34" charset="-122"/>
                <a:cs typeface="Calibri" pitchFamily="34" charset="-120"/>
              </a:rPr>
              <a:t>Q4.7</a:t>
            </a:r>
            <a:endParaRPr lang="en-US" sz="1000" dirty="0"/>
          </a:p>
        </p:txBody>
      </p:sp>
      <p:sp>
        <p:nvSpPr>
          <p:cNvPr id="9" name="Text 6"/>
          <p:cNvSpPr txBox="1"/>
          <p:nvPr/>
        </p:nvSpPr>
        <p:spPr>
          <a:xfrm>
            <a:off x="1234440" y="1737360"/>
            <a:ext cx="3108960" cy="274320"/>
          </a:xfrm>
          <a:prstGeom prst="rect">
            <a:avLst/>
          </a:prstGeom>
          <a:noFill/>
          <a:ln/>
        </p:spPr>
        <p:txBody>
          <a:bodyPr wrap="square" lIns="0" tIns="0" rIns="0" bIns="0" rtlCol="0" anchor="t"/>
          <a:lstStyle/>
          <a:p>
            <a:pPr indent="0" marL="0">
              <a:buNone/>
            </a:pPr>
            <a:r>
              <a:rPr lang="en-US" sz="1600" b="1" dirty="0">
                <a:solidFill>
                  <a:srgbClr val="0A0F0C"/>
                </a:solidFill>
                <a:latin typeface="Calibri" pitchFamily="34" charset="0"/>
                <a:ea typeface="Calibri" pitchFamily="34" charset="-122"/>
                <a:cs typeface="Calibri" pitchFamily="34" charset="-120"/>
              </a:rPr>
              <a:t>ATM Downtime Impact</a:t>
            </a:r>
            <a:endParaRPr lang="en-US" sz="1600" dirty="0"/>
          </a:p>
        </p:txBody>
      </p:sp>
      <p:sp>
        <p:nvSpPr>
          <p:cNvPr id="10" name="Text 7"/>
          <p:cNvSpPr txBox="1"/>
          <p:nvPr/>
        </p:nvSpPr>
        <p:spPr>
          <a:xfrm>
            <a:off x="640080" y="2286000"/>
            <a:ext cx="3657600" cy="640080"/>
          </a:xfrm>
          <a:prstGeom prst="rect">
            <a:avLst/>
          </a:prstGeom>
          <a:noFill/>
          <a:ln/>
        </p:spPr>
        <p:txBody>
          <a:bodyPr wrap="square" lIns="0" tIns="0" rIns="0" bIns="0" rtlCol="0" anchor="ctr"/>
          <a:lstStyle/>
          <a:p>
            <a:pPr indent="0" marL="0">
              <a:buNone/>
            </a:pPr>
            <a:r>
              <a:rPr lang="en-US" sz="4000" b="1" dirty="0">
                <a:solidFill>
                  <a:srgbClr val="0F6B32"/>
                </a:solidFill>
                <a:latin typeface="Cambria" pitchFamily="34" charset="0"/>
                <a:ea typeface="Cambria" pitchFamily="34" charset="-122"/>
                <a:cs typeface="Cambria" pitchFamily="34" charset="-120"/>
              </a:rPr>
              <a:t>&gt; 60 min</a:t>
            </a:r>
            <a:endParaRPr lang="en-US" sz="4000" dirty="0"/>
          </a:p>
        </p:txBody>
      </p:sp>
      <p:sp>
        <p:nvSpPr>
          <p:cNvPr id="11" name="Text 8"/>
          <p:cNvSpPr txBox="1"/>
          <p:nvPr/>
        </p:nvSpPr>
        <p:spPr>
          <a:xfrm>
            <a:off x="640080" y="2926080"/>
            <a:ext cx="3657600" cy="274320"/>
          </a:xfrm>
          <a:prstGeom prst="rect">
            <a:avLst/>
          </a:prstGeom>
          <a:noFill/>
          <a:ln/>
        </p:spPr>
        <p:txBody>
          <a:bodyPr wrap="square" lIns="0" tIns="0" rIns="0" bIns="0" rtlCol="0" anchor="t"/>
          <a:lstStyle/>
          <a:p>
            <a:pPr indent="0" marL="0">
              <a:buNone/>
            </a:pPr>
            <a:r>
              <a:rPr lang="en-US" sz="1200" dirty="0">
                <a:solidFill>
                  <a:srgbClr val="4B5563"/>
                </a:solidFill>
                <a:latin typeface="Calibri" pitchFamily="34" charset="0"/>
                <a:ea typeface="Calibri" pitchFamily="34" charset="-122"/>
                <a:cs typeface="Calibri" pitchFamily="34" charset="-120"/>
              </a:rPr>
              <a:t>average downtime triggers a "Critical Downtime" flag</a:t>
            </a:r>
            <a:endParaRPr lang="en-US" sz="1200" dirty="0"/>
          </a:p>
        </p:txBody>
      </p:sp>
      <p:sp>
        <p:nvSpPr>
          <p:cNvPr id="12" name="Text 9"/>
          <p:cNvSpPr txBox="1"/>
          <p:nvPr/>
        </p:nvSpPr>
        <p:spPr>
          <a:xfrm>
            <a:off x="640080" y="3429000"/>
            <a:ext cx="3657600" cy="109728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0A0F0C"/>
                </a:solidFill>
                <a:latin typeface="Calibri" pitchFamily="34" charset="0"/>
                <a:ea typeface="Calibri" pitchFamily="34" charset="-122"/>
                <a:cs typeface="Calibri" pitchFamily="34" charset="-120"/>
              </a:rPr>
              <a:t>Tracks ATM downtime minutes per branch per month</a:t>
            </a:r>
            <a:endParaRPr lang="en-US" sz="1250" dirty="0"/>
          </a:p>
          <a:p>
            <a:pPr marL="177800" indent="-177800">
              <a:spcAft>
                <a:spcPts val="600"/>
              </a:spcAft>
              <a:buSzPct val="100000"/>
              <a:buChar char="•"/>
            </a:pPr>
            <a:r>
              <a:rPr lang="en-US" sz="1250" dirty="0">
                <a:solidFill>
                  <a:srgbClr val="0A0F0C"/>
                </a:solidFill>
                <a:latin typeface="Calibri" pitchFamily="34" charset="0"/>
                <a:ea typeface="Calibri" pitchFamily="34" charset="-122"/>
                <a:cs typeface="Calibri" pitchFamily="34" charset="-120"/>
              </a:rPr>
              <a:t>Helps operations replace weak maintenance vendors or upgrade machines</a:t>
            </a:r>
            <a:endParaRPr lang="en-US" sz="1250" dirty="0"/>
          </a:p>
        </p:txBody>
      </p:sp>
      <p:sp>
        <p:nvSpPr>
          <p:cNvPr id="13" name="Shape 10"/>
          <p:cNvSpPr/>
          <p:nvPr/>
        </p:nvSpPr>
        <p:spPr>
          <a:xfrm>
            <a:off x="4663440" y="1371600"/>
            <a:ext cx="4023360" cy="3246120"/>
          </a:xfrm>
          <a:prstGeom prst="roundRect">
            <a:avLst>
              <a:gd name="adj" fmla="val 2254"/>
            </a:avLst>
          </a:prstGeom>
          <a:solidFill>
            <a:srgbClr val="0A0F0C"/>
          </a:solidFill>
          <a:ln/>
        </p:spPr>
      </p:sp>
      <p:sp>
        <p:nvSpPr>
          <p:cNvPr id="14" name="Shape 11"/>
          <p:cNvSpPr/>
          <p:nvPr/>
        </p:nvSpPr>
        <p:spPr>
          <a:xfrm>
            <a:off x="4846320" y="1536192"/>
            <a:ext cx="457200" cy="457200"/>
          </a:xfrm>
          <a:prstGeom prst="ellipse">
            <a:avLst/>
          </a:prstGeom>
          <a:solidFill>
            <a:srgbClr val="16A34A"/>
          </a:solidFill>
          <a:ln/>
        </p:spPr>
      </p:sp>
      <p:pic>
        <p:nvPicPr>
          <p:cNvPr id="15" name="Image 1" descr="preencoded.png">    </p:cNvPr>
          <p:cNvPicPr>
            <a:picLocks noChangeAspect="1"/>
          </p:cNvPicPr>
          <p:nvPr/>
        </p:nvPicPr>
        <p:blipFill>
          <a:blip r:embed="rId2"/>
          <a:stretch>
            <a:fillRect/>
          </a:stretch>
        </p:blipFill>
        <p:spPr>
          <a:xfrm>
            <a:off x="4960620" y="1650492"/>
            <a:ext cx="228600" cy="228600"/>
          </a:xfrm>
          <a:prstGeom prst="rect">
            <a:avLst/>
          </a:prstGeom>
        </p:spPr>
      </p:pic>
      <p:sp>
        <p:nvSpPr>
          <p:cNvPr id="16" name="Text 12"/>
          <p:cNvSpPr txBox="1"/>
          <p:nvPr/>
        </p:nvSpPr>
        <p:spPr>
          <a:xfrm>
            <a:off x="5440680" y="1536192"/>
            <a:ext cx="1371600" cy="201168"/>
          </a:xfrm>
          <a:prstGeom prst="rect">
            <a:avLst/>
          </a:prstGeom>
          <a:noFill/>
          <a:ln/>
        </p:spPr>
        <p:txBody>
          <a:bodyPr wrap="square" lIns="0" tIns="0" rIns="0" bIns="0" rtlCol="0" anchor="t"/>
          <a:lstStyle/>
          <a:p>
            <a:pPr indent="0" marL="0">
              <a:buNone/>
            </a:pPr>
            <a:r>
              <a:rPr lang="en-US" sz="1000" b="1" spc="200" kern="0" dirty="0">
                <a:solidFill>
                  <a:srgbClr val="86D19B"/>
                </a:solidFill>
                <a:latin typeface="Calibri" pitchFamily="34" charset="0"/>
                <a:ea typeface="Calibri" pitchFamily="34" charset="-122"/>
                <a:cs typeface="Calibri" pitchFamily="34" charset="-120"/>
              </a:rPr>
              <a:t>Q4.8</a:t>
            </a:r>
            <a:endParaRPr lang="en-US" sz="1000" dirty="0"/>
          </a:p>
        </p:txBody>
      </p:sp>
      <p:sp>
        <p:nvSpPr>
          <p:cNvPr id="17" name="Text 13"/>
          <p:cNvSpPr txBox="1"/>
          <p:nvPr/>
        </p:nvSpPr>
        <p:spPr>
          <a:xfrm>
            <a:off x="5440680" y="1737360"/>
            <a:ext cx="3108960" cy="27432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FX Currency Exposure</a:t>
            </a:r>
            <a:endParaRPr lang="en-US" sz="1600" dirty="0"/>
          </a:p>
        </p:txBody>
      </p:sp>
      <p:sp>
        <p:nvSpPr>
          <p:cNvPr id="18" name="Text 14"/>
          <p:cNvSpPr txBox="1"/>
          <p:nvPr/>
        </p:nvSpPr>
        <p:spPr>
          <a:xfrm>
            <a:off x="4846320" y="2286000"/>
            <a:ext cx="3657600" cy="640080"/>
          </a:xfrm>
          <a:prstGeom prst="rect">
            <a:avLst/>
          </a:prstGeom>
          <a:noFill/>
          <a:ln/>
        </p:spPr>
        <p:txBody>
          <a:bodyPr wrap="square" lIns="0" tIns="0" rIns="0" bIns="0" rtlCol="0" anchor="ctr"/>
          <a:lstStyle/>
          <a:p>
            <a:pPr indent="0" marL="0">
              <a:buNone/>
            </a:pPr>
            <a:r>
              <a:rPr lang="en-US" sz="4000" b="1" dirty="0">
                <a:solidFill>
                  <a:srgbClr val="22C55E"/>
                </a:solidFill>
                <a:latin typeface="Cambria" pitchFamily="34" charset="0"/>
                <a:ea typeface="Cambria" pitchFamily="34" charset="-122"/>
                <a:cs typeface="Cambria" pitchFamily="34" charset="-120"/>
              </a:rPr>
              <a:t>10 FX rates</a:t>
            </a:r>
            <a:endParaRPr lang="en-US" sz="4000" dirty="0"/>
          </a:p>
        </p:txBody>
      </p:sp>
      <p:sp>
        <p:nvSpPr>
          <p:cNvPr id="19" name="Text 15"/>
          <p:cNvSpPr txBox="1"/>
          <p:nvPr/>
        </p:nvSpPr>
        <p:spPr>
          <a:xfrm>
            <a:off x="4846320" y="2926080"/>
            <a:ext cx="3657600" cy="274320"/>
          </a:xfrm>
          <a:prstGeom prst="rect">
            <a:avLst/>
          </a:prstGeom>
          <a:noFill/>
          <a:ln/>
        </p:spPr>
        <p:txBody>
          <a:bodyPr wrap="square" lIns="0" tIns="0" rIns="0" bIns="0" rtlCol="0" anchor="t"/>
          <a:lstStyle/>
          <a:p>
            <a:pPr indent="0" marL="0">
              <a:buNone/>
            </a:pPr>
            <a:r>
              <a:rPr lang="en-US" sz="1200" dirty="0">
                <a:solidFill>
                  <a:srgbClr val="86D19B"/>
                </a:solidFill>
                <a:latin typeface="Calibri" pitchFamily="34" charset="0"/>
                <a:ea typeface="Calibri" pitchFamily="34" charset="-122"/>
                <a:cs typeface="Calibri" pitchFamily="34" charset="-120"/>
              </a:rPr>
              <a:t>drive multi-currency conversion to USD</a:t>
            </a:r>
            <a:endParaRPr lang="en-US" sz="1200" dirty="0"/>
          </a:p>
        </p:txBody>
      </p:sp>
      <p:sp>
        <p:nvSpPr>
          <p:cNvPr id="20" name="Text 16"/>
          <p:cNvSpPr txBox="1"/>
          <p:nvPr/>
        </p:nvSpPr>
        <p:spPr>
          <a:xfrm>
            <a:off x="4846320" y="3429000"/>
            <a:ext cx="3657600" cy="109728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FFFFFF"/>
                </a:solidFill>
                <a:latin typeface="Calibri" pitchFamily="34" charset="0"/>
                <a:ea typeface="Calibri" pitchFamily="34" charset="-122"/>
                <a:cs typeface="Calibri" pitchFamily="34" charset="-120"/>
              </a:rPr>
              <a:t>Shows which currencies the bank handles most</a:t>
            </a:r>
            <a:endParaRPr lang="en-US" sz="1250" dirty="0"/>
          </a:p>
          <a:p>
            <a:pPr marL="177800" indent="-177800">
              <a:spcAft>
                <a:spcPts val="600"/>
              </a:spcAft>
              <a:buSzPct val="100000"/>
              <a:buChar char="•"/>
            </a:pPr>
            <a:r>
              <a:rPr lang="en-US" sz="1250" dirty="0">
                <a:solidFill>
                  <a:srgbClr val="FFFFFF"/>
                </a:solidFill>
                <a:latin typeface="Calibri" pitchFamily="34" charset="0"/>
                <a:ea typeface="Calibri" pitchFamily="34" charset="-122"/>
                <a:cs typeface="Calibri" pitchFamily="34" charset="-120"/>
              </a:rPr>
              <a:t>Helps treasury manage currency reserves to avoid exchange-rate losses</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100" b="1" spc="300" kern="0" dirty="0">
                <a:solidFill>
                  <a:srgbClr val="16A34A"/>
                </a:solidFill>
                <a:latin typeface="Calibri" pitchFamily="34" charset="0"/>
                <a:ea typeface="Calibri" pitchFamily="34" charset="-122"/>
                <a:cs typeface="Calibri" pitchFamily="34" charset="-120"/>
              </a:rPr>
              <a:t>TECHNOLOGY</a:t>
            </a:r>
            <a:endParaRPr lang="en-US" sz="11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3200" b="1" dirty="0">
                <a:solidFill>
                  <a:srgbClr val="0A0F0C"/>
                </a:solidFill>
                <a:latin typeface="Cambria" pitchFamily="34" charset="0"/>
                <a:ea typeface="Cambria" pitchFamily="34" charset="-122"/>
                <a:cs typeface="Cambria" pitchFamily="34" charset="-120"/>
              </a:rPr>
              <a:t>Technology Stack</a:t>
            </a:r>
            <a:endParaRPr lang="en-US" sz="3200" dirty="0"/>
          </a:p>
        </p:txBody>
      </p:sp>
      <p:sp>
        <p:nvSpPr>
          <p:cNvPr id="4" name="Text 2"/>
          <p:cNvSpPr txBox="1"/>
          <p:nvPr/>
        </p:nvSpPr>
        <p:spPr>
          <a:xfrm>
            <a:off x="457200" y="4800600"/>
            <a:ext cx="82296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NexaBank Data Warehouse &amp; Analytics Pipeline   |   12</a:t>
            </a:r>
            <a:endParaRPr lang="en-US" sz="900" dirty="0"/>
          </a:p>
        </p:txBody>
      </p:sp>
      <p:sp>
        <p:nvSpPr>
          <p:cNvPr id="5" name="Shape 3"/>
          <p:cNvSpPr/>
          <p:nvPr/>
        </p:nvSpPr>
        <p:spPr>
          <a:xfrm>
            <a:off x="457200" y="1371600"/>
            <a:ext cx="2606040" cy="1508760"/>
          </a:xfrm>
          <a:prstGeom prst="roundRect">
            <a:avLst>
              <a:gd name="adj" fmla="val 4848"/>
            </a:avLst>
          </a:prstGeom>
          <a:solidFill>
            <a:srgbClr val="E8F5EC"/>
          </a:solidFill>
          <a:ln/>
        </p:spPr>
      </p:sp>
      <p:sp>
        <p:nvSpPr>
          <p:cNvPr id="6" name="Shape 4"/>
          <p:cNvSpPr/>
          <p:nvPr/>
        </p:nvSpPr>
        <p:spPr>
          <a:xfrm>
            <a:off x="640080" y="1554480"/>
            <a:ext cx="457200" cy="457200"/>
          </a:xfrm>
          <a:prstGeom prst="ellipse">
            <a:avLst/>
          </a:prstGeom>
          <a:solidFill>
            <a:srgbClr val="16A34A"/>
          </a:solidFill>
          <a:ln/>
        </p:spPr>
      </p:sp>
      <p:pic>
        <p:nvPicPr>
          <p:cNvPr id="7" name="Image 0" descr="preencoded.png">    </p:cNvPr>
          <p:cNvPicPr>
            <a:picLocks noChangeAspect="1"/>
          </p:cNvPicPr>
          <p:nvPr/>
        </p:nvPicPr>
        <p:blipFill>
          <a:blip r:embed="rId1"/>
          <a:stretch>
            <a:fillRect/>
          </a:stretch>
        </p:blipFill>
        <p:spPr>
          <a:xfrm>
            <a:off x="754380" y="1668780"/>
            <a:ext cx="228600" cy="228600"/>
          </a:xfrm>
          <a:prstGeom prst="rect">
            <a:avLst/>
          </a:prstGeom>
        </p:spPr>
      </p:pic>
      <p:sp>
        <p:nvSpPr>
          <p:cNvPr id="8" name="Text 5"/>
          <p:cNvSpPr txBox="1"/>
          <p:nvPr/>
        </p:nvSpPr>
        <p:spPr>
          <a:xfrm>
            <a:off x="1234440" y="1554480"/>
            <a:ext cx="1737360" cy="457200"/>
          </a:xfrm>
          <a:prstGeom prst="rect">
            <a:avLst/>
          </a:prstGeom>
          <a:noFill/>
          <a:ln/>
        </p:spPr>
        <p:txBody>
          <a:bodyPr wrap="square" lIns="0" tIns="0" rIns="0" bIns="0" rtlCol="0" anchor="ctr"/>
          <a:lstStyle/>
          <a:p>
            <a:pPr indent="0" marL="0">
              <a:buNone/>
            </a:pPr>
            <a:r>
              <a:rPr lang="en-US" sz="1000" b="1" spc="200" kern="0" dirty="0">
                <a:solidFill>
                  <a:srgbClr val="16A34A"/>
                </a:solidFill>
                <a:latin typeface="Calibri" pitchFamily="34" charset="0"/>
                <a:ea typeface="Calibri" pitchFamily="34" charset="-122"/>
                <a:cs typeface="Calibri" pitchFamily="34" charset="-120"/>
              </a:rPr>
              <a:t>DATABASE</a:t>
            </a:r>
            <a:endParaRPr lang="en-US" sz="1000" dirty="0"/>
          </a:p>
        </p:txBody>
      </p:sp>
      <p:sp>
        <p:nvSpPr>
          <p:cNvPr id="9" name="Text 6"/>
          <p:cNvSpPr txBox="1"/>
          <p:nvPr/>
        </p:nvSpPr>
        <p:spPr>
          <a:xfrm>
            <a:off x="640080" y="2121408"/>
            <a:ext cx="2286000" cy="320040"/>
          </a:xfrm>
          <a:prstGeom prst="rect">
            <a:avLst/>
          </a:prstGeom>
          <a:noFill/>
          <a:ln/>
        </p:spPr>
        <p:txBody>
          <a:bodyPr wrap="square" lIns="0" tIns="0" rIns="0" bIns="0" rtlCol="0" anchor="t"/>
          <a:lstStyle/>
          <a:p>
            <a:pPr indent="0" marL="0">
              <a:buNone/>
            </a:pPr>
            <a:r>
              <a:rPr lang="en-US" sz="1700" b="1" dirty="0">
                <a:solidFill>
                  <a:srgbClr val="0A0F0C"/>
                </a:solidFill>
                <a:latin typeface="Calibri" pitchFamily="34" charset="0"/>
                <a:ea typeface="Calibri" pitchFamily="34" charset="-122"/>
                <a:cs typeface="Calibri" pitchFamily="34" charset="-120"/>
              </a:rPr>
              <a:t>MySQL 8.0</a:t>
            </a:r>
            <a:endParaRPr lang="en-US" sz="1700" dirty="0"/>
          </a:p>
        </p:txBody>
      </p:sp>
      <p:sp>
        <p:nvSpPr>
          <p:cNvPr id="10" name="Text 7"/>
          <p:cNvSpPr txBox="1"/>
          <p:nvPr/>
        </p:nvSpPr>
        <p:spPr>
          <a:xfrm>
            <a:off x="640080" y="2441448"/>
            <a:ext cx="2286000" cy="384048"/>
          </a:xfrm>
          <a:prstGeom prst="rect">
            <a:avLst/>
          </a:prstGeom>
          <a:noFill/>
          <a:ln/>
        </p:spPr>
        <p:txBody>
          <a:bodyPr wrap="square" lIns="0" tIns="0" rIns="0" bIns="0" rtlCol="0" anchor="t"/>
          <a:lstStyle/>
          <a:p>
            <a:pPr indent="0" marL="0">
              <a:buNone/>
            </a:pPr>
            <a:r>
              <a:rPr lang="en-US" sz="1100" dirty="0">
                <a:solidFill>
                  <a:srgbClr val="4B5563"/>
                </a:solidFill>
                <a:latin typeface="Calibri" pitchFamily="34" charset="0"/>
                <a:ea typeface="Calibri" pitchFamily="34" charset="-122"/>
                <a:cs typeface="Calibri" pitchFamily="34" charset="-120"/>
              </a:rPr>
              <a:t>Data warehouse engine</a:t>
            </a:r>
            <a:endParaRPr lang="en-US" sz="1100" dirty="0"/>
          </a:p>
        </p:txBody>
      </p:sp>
      <p:sp>
        <p:nvSpPr>
          <p:cNvPr id="11" name="Shape 8"/>
          <p:cNvSpPr/>
          <p:nvPr/>
        </p:nvSpPr>
        <p:spPr>
          <a:xfrm>
            <a:off x="3268980" y="1371600"/>
            <a:ext cx="2606040" cy="1508760"/>
          </a:xfrm>
          <a:prstGeom prst="roundRect">
            <a:avLst>
              <a:gd name="adj" fmla="val 4848"/>
            </a:avLst>
          </a:prstGeom>
          <a:solidFill>
            <a:srgbClr val="E8F5EC"/>
          </a:solidFill>
          <a:ln/>
        </p:spPr>
      </p:sp>
      <p:sp>
        <p:nvSpPr>
          <p:cNvPr id="12" name="Shape 9"/>
          <p:cNvSpPr/>
          <p:nvPr/>
        </p:nvSpPr>
        <p:spPr>
          <a:xfrm>
            <a:off x="3451860" y="1554480"/>
            <a:ext cx="457200" cy="457200"/>
          </a:xfrm>
          <a:prstGeom prst="ellipse">
            <a:avLst/>
          </a:prstGeom>
          <a:solidFill>
            <a:srgbClr val="16A34A"/>
          </a:solidFill>
          <a:ln/>
        </p:spPr>
      </p:sp>
      <p:pic>
        <p:nvPicPr>
          <p:cNvPr id="13" name="Image 1" descr="preencoded.png">    </p:cNvPr>
          <p:cNvPicPr>
            <a:picLocks noChangeAspect="1"/>
          </p:cNvPicPr>
          <p:nvPr/>
        </p:nvPicPr>
        <p:blipFill>
          <a:blip r:embed="rId2"/>
          <a:stretch>
            <a:fillRect/>
          </a:stretch>
        </p:blipFill>
        <p:spPr>
          <a:xfrm>
            <a:off x="3566160" y="1668780"/>
            <a:ext cx="228600" cy="228600"/>
          </a:xfrm>
          <a:prstGeom prst="rect">
            <a:avLst/>
          </a:prstGeom>
        </p:spPr>
      </p:pic>
      <p:sp>
        <p:nvSpPr>
          <p:cNvPr id="14" name="Text 10"/>
          <p:cNvSpPr txBox="1"/>
          <p:nvPr/>
        </p:nvSpPr>
        <p:spPr>
          <a:xfrm>
            <a:off x="4046220" y="1554480"/>
            <a:ext cx="1737360" cy="457200"/>
          </a:xfrm>
          <a:prstGeom prst="rect">
            <a:avLst/>
          </a:prstGeom>
          <a:noFill/>
          <a:ln/>
        </p:spPr>
        <p:txBody>
          <a:bodyPr wrap="square" lIns="0" tIns="0" rIns="0" bIns="0" rtlCol="0" anchor="ctr"/>
          <a:lstStyle/>
          <a:p>
            <a:pPr indent="0" marL="0">
              <a:buNone/>
            </a:pPr>
            <a:r>
              <a:rPr lang="en-US" sz="1000" b="1" spc="200" kern="0" dirty="0">
                <a:solidFill>
                  <a:srgbClr val="16A34A"/>
                </a:solidFill>
                <a:latin typeface="Calibri" pitchFamily="34" charset="0"/>
                <a:ea typeface="Calibri" pitchFamily="34" charset="-122"/>
                <a:cs typeface="Calibri" pitchFamily="34" charset="-120"/>
              </a:rPr>
              <a:t>IDE</a:t>
            </a:r>
            <a:endParaRPr lang="en-US" sz="1000" dirty="0"/>
          </a:p>
        </p:txBody>
      </p:sp>
      <p:sp>
        <p:nvSpPr>
          <p:cNvPr id="15" name="Text 11"/>
          <p:cNvSpPr txBox="1"/>
          <p:nvPr/>
        </p:nvSpPr>
        <p:spPr>
          <a:xfrm>
            <a:off x="3451860" y="2121408"/>
            <a:ext cx="2286000" cy="320040"/>
          </a:xfrm>
          <a:prstGeom prst="rect">
            <a:avLst/>
          </a:prstGeom>
          <a:noFill/>
          <a:ln/>
        </p:spPr>
        <p:txBody>
          <a:bodyPr wrap="square" lIns="0" tIns="0" rIns="0" bIns="0" rtlCol="0" anchor="t"/>
          <a:lstStyle/>
          <a:p>
            <a:pPr indent="0" marL="0">
              <a:buNone/>
            </a:pPr>
            <a:r>
              <a:rPr lang="en-US" sz="1700" b="1" dirty="0">
                <a:solidFill>
                  <a:srgbClr val="0A0F0C"/>
                </a:solidFill>
                <a:latin typeface="Calibri" pitchFamily="34" charset="0"/>
                <a:ea typeface="Calibri" pitchFamily="34" charset="-122"/>
                <a:cs typeface="Calibri" pitchFamily="34" charset="-120"/>
              </a:rPr>
              <a:t>VS Code</a:t>
            </a:r>
            <a:endParaRPr lang="en-US" sz="1700" dirty="0"/>
          </a:p>
        </p:txBody>
      </p:sp>
      <p:sp>
        <p:nvSpPr>
          <p:cNvPr id="16" name="Text 12"/>
          <p:cNvSpPr txBox="1"/>
          <p:nvPr/>
        </p:nvSpPr>
        <p:spPr>
          <a:xfrm>
            <a:off x="3451860" y="2441448"/>
            <a:ext cx="2286000" cy="384048"/>
          </a:xfrm>
          <a:prstGeom prst="rect">
            <a:avLst/>
          </a:prstGeom>
          <a:noFill/>
          <a:ln/>
        </p:spPr>
        <p:txBody>
          <a:bodyPr wrap="square" lIns="0" tIns="0" rIns="0" bIns="0" rtlCol="0" anchor="t"/>
          <a:lstStyle/>
          <a:p>
            <a:pPr indent="0" marL="0">
              <a:buNone/>
            </a:pPr>
            <a:r>
              <a:rPr lang="en-US" sz="1100" dirty="0">
                <a:solidFill>
                  <a:srgbClr val="4B5563"/>
                </a:solidFill>
                <a:latin typeface="Calibri" pitchFamily="34" charset="0"/>
                <a:ea typeface="Calibri" pitchFamily="34" charset="-122"/>
                <a:cs typeface="Calibri" pitchFamily="34" charset="-120"/>
              </a:rPr>
              <a:t>With the SQLTools extension for writing code</a:t>
            </a:r>
            <a:endParaRPr lang="en-US" sz="1100" dirty="0"/>
          </a:p>
        </p:txBody>
      </p:sp>
      <p:sp>
        <p:nvSpPr>
          <p:cNvPr id="17" name="Shape 13"/>
          <p:cNvSpPr/>
          <p:nvPr/>
        </p:nvSpPr>
        <p:spPr>
          <a:xfrm>
            <a:off x="6080760" y="1371600"/>
            <a:ext cx="2606040" cy="1508760"/>
          </a:xfrm>
          <a:prstGeom prst="roundRect">
            <a:avLst>
              <a:gd name="adj" fmla="val 4848"/>
            </a:avLst>
          </a:prstGeom>
          <a:solidFill>
            <a:srgbClr val="E8F5EC"/>
          </a:solidFill>
          <a:ln/>
        </p:spPr>
      </p:sp>
      <p:sp>
        <p:nvSpPr>
          <p:cNvPr id="18" name="Shape 14"/>
          <p:cNvSpPr/>
          <p:nvPr/>
        </p:nvSpPr>
        <p:spPr>
          <a:xfrm>
            <a:off x="6263640" y="1554480"/>
            <a:ext cx="457200" cy="457200"/>
          </a:xfrm>
          <a:prstGeom prst="ellipse">
            <a:avLst/>
          </a:prstGeom>
          <a:solidFill>
            <a:srgbClr val="16A34A"/>
          </a:solidFill>
          <a:ln/>
        </p:spPr>
      </p:sp>
      <p:pic>
        <p:nvPicPr>
          <p:cNvPr id="19" name="Image 2" descr="preencoded.png">    </p:cNvPr>
          <p:cNvPicPr>
            <a:picLocks noChangeAspect="1"/>
          </p:cNvPicPr>
          <p:nvPr/>
        </p:nvPicPr>
        <p:blipFill>
          <a:blip r:embed="rId3"/>
          <a:stretch>
            <a:fillRect/>
          </a:stretch>
        </p:blipFill>
        <p:spPr>
          <a:xfrm>
            <a:off x="6377940" y="1668780"/>
            <a:ext cx="228600" cy="228600"/>
          </a:xfrm>
          <a:prstGeom prst="rect">
            <a:avLst/>
          </a:prstGeom>
        </p:spPr>
      </p:pic>
      <p:sp>
        <p:nvSpPr>
          <p:cNvPr id="20" name="Text 15"/>
          <p:cNvSpPr txBox="1"/>
          <p:nvPr/>
        </p:nvSpPr>
        <p:spPr>
          <a:xfrm>
            <a:off x="6858000" y="1554480"/>
            <a:ext cx="1737360" cy="457200"/>
          </a:xfrm>
          <a:prstGeom prst="rect">
            <a:avLst/>
          </a:prstGeom>
          <a:noFill/>
          <a:ln/>
        </p:spPr>
        <p:txBody>
          <a:bodyPr wrap="square" lIns="0" tIns="0" rIns="0" bIns="0" rtlCol="0" anchor="ctr"/>
          <a:lstStyle/>
          <a:p>
            <a:pPr indent="0" marL="0">
              <a:buNone/>
            </a:pPr>
            <a:r>
              <a:rPr lang="en-US" sz="1000" b="1" spc="200" kern="0" dirty="0">
                <a:solidFill>
                  <a:srgbClr val="16A34A"/>
                </a:solidFill>
                <a:latin typeface="Calibri" pitchFamily="34" charset="0"/>
                <a:ea typeface="Calibri" pitchFamily="34" charset="-122"/>
                <a:cs typeface="Calibri" pitchFamily="34" charset="-120"/>
              </a:rPr>
              <a:t>EXECUTION</a:t>
            </a:r>
            <a:endParaRPr lang="en-US" sz="1000" dirty="0"/>
          </a:p>
        </p:txBody>
      </p:sp>
      <p:sp>
        <p:nvSpPr>
          <p:cNvPr id="21" name="Text 16"/>
          <p:cNvSpPr txBox="1"/>
          <p:nvPr/>
        </p:nvSpPr>
        <p:spPr>
          <a:xfrm>
            <a:off x="6263640" y="2121408"/>
            <a:ext cx="2286000" cy="320040"/>
          </a:xfrm>
          <a:prstGeom prst="rect">
            <a:avLst/>
          </a:prstGeom>
          <a:noFill/>
          <a:ln/>
        </p:spPr>
        <p:txBody>
          <a:bodyPr wrap="square" lIns="0" tIns="0" rIns="0" bIns="0" rtlCol="0" anchor="t"/>
          <a:lstStyle/>
          <a:p>
            <a:pPr indent="0" marL="0">
              <a:buNone/>
            </a:pPr>
            <a:r>
              <a:rPr lang="en-US" sz="1700" b="1" dirty="0">
                <a:solidFill>
                  <a:srgbClr val="0A0F0C"/>
                </a:solidFill>
                <a:latin typeface="Calibri" pitchFamily="34" charset="0"/>
                <a:ea typeface="Calibri" pitchFamily="34" charset="-122"/>
                <a:cs typeface="Calibri" pitchFamily="34" charset="-120"/>
              </a:rPr>
              <a:t>MySQL Workbench</a:t>
            </a:r>
            <a:endParaRPr lang="en-US" sz="1700" dirty="0"/>
          </a:p>
        </p:txBody>
      </p:sp>
      <p:sp>
        <p:nvSpPr>
          <p:cNvPr id="22" name="Text 17"/>
          <p:cNvSpPr txBox="1"/>
          <p:nvPr/>
        </p:nvSpPr>
        <p:spPr>
          <a:xfrm>
            <a:off x="6263640" y="2441448"/>
            <a:ext cx="2286000" cy="384048"/>
          </a:xfrm>
          <a:prstGeom prst="rect">
            <a:avLst/>
          </a:prstGeom>
          <a:noFill/>
          <a:ln/>
        </p:spPr>
        <p:txBody>
          <a:bodyPr wrap="square" lIns="0" tIns="0" rIns="0" bIns="0" rtlCol="0" anchor="t"/>
          <a:lstStyle/>
          <a:p>
            <a:pPr indent="0" marL="0">
              <a:buNone/>
            </a:pPr>
            <a:r>
              <a:rPr lang="en-US" sz="1100" dirty="0">
                <a:solidFill>
                  <a:srgbClr val="4B5563"/>
                </a:solidFill>
                <a:latin typeface="Calibri" pitchFamily="34" charset="0"/>
                <a:ea typeface="Calibri" pitchFamily="34" charset="-122"/>
                <a:cs typeface="Calibri" pitchFamily="34" charset="-120"/>
              </a:rPr>
              <a:t>Runs scripts with file-loading support</a:t>
            </a:r>
            <a:endParaRPr lang="en-US" sz="1100" dirty="0"/>
          </a:p>
        </p:txBody>
      </p:sp>
      <p:sp>
        <p:nvSpPr>
          <p:cNvPr id="23" name="Shape 18"/>
          <p:cNvSpPr/>
          <p:nvPr/>
        </p:nvSpPr>
        <p:spPr>
          <a:xfrm>
            <a:off x="457200" y="3063240"/>
            <a:ext cx="2606040" cy="1508760"/>
          </a:xfrm>
          <a:prstGeom prst="roundRect">
            <a:avLst>
              <a:gd name="adj" fmla="val 4848"/>
            </a:avLst>
          </a:prstGeom>
          <a:solidFill>
            <a:srgbClr val="E8F5EC"/>
          </a:solidFill>
          <a:ln/>
        </p:spPr>
      </p:sp>
      <p:sp>
        <p:nvSpPr>
          <p:cNvPr id="24" name="Shape 19"/>
          <p:cNvSpPr/>
          <p:nvPr/>
        </p:nvSpPr>
        <p:spPr>
          <a:xfrm>
            <a:off x="640080" y="3246120"/>
            <a:ext cx="457200" cy="457200"/>
          </a:xfrm>
          <a:prstGeom prst="ellipse">
            <a:avLst/>
          </a:prstGeom>
          <a:solidFill>
            <a:srgbClr val="16A34A"/>
          </a:solidFill>
          <a:ln/>
        </p:spPr>
      </p:sp>
      <p:pic>
        <p:nvPicPr>
          <p:cNvPr id="25" name="Image 3" descr="preencoded.png">    </p:cNvPr>
          <p:cNvPicPr>
            <a:picLocks noChangeAspect="1"/>
          </p:cNvPicPr>
          <p:nvPr/>
        </p:nvPicPr>
        <p:blipFill>
          <a:blip r:embed="rId4"/>
          <a:stretch>
            <a:fillRect/>
          </a:stretch>
        </p:blipFill>
        <p:spPr>
          <a:xfrm>
            <a:off x="754380" y="3360420"/>
            <a:ext cx="228600" cy="228600"/>
          </a:xfrm>
          <a:prstGeom prst="rect">
            <a:avLst/>
          </a:prstGeom>
        </p:spPr>
      </p:pic>
      <p:sp>
        <p:nvSpPr>
          <p:cNvPr id="26" name="Text 20"/>
          <p:cNvSpPr txBox="1"/>
          <p:nvPr/>
        </p:nvSpPr>
        <p:spPr>
          <a:xfrm>
            <a:off x="1234440" y="3246120"/>
            <a:ext cx="1737360" cy="457200"/>
          </a:xfrm>
          <a:prstGeom prst="rect">
            <a:avLst/>
          </a:prstGeom>
          <a:noFill/>
          <a:ln/>
        </p:spPr>
        <p:txBody>
          <a:bodyPr wrap="square" lIns="0" tIns="0" rIns="0" bIns="0" rtlCol="0" anchor="ctr"/>
          <a:lstStyle/>
          <a:p>
            <a:pPr indent="0" marL="0">
              <a:buNone/>
            </a:pPr>
            <a:r>
              <a:rPr lang="en-US" sz="1000" b="1" spc="200" kern="0" dirty="0">
                <a:solidFill>
                  <a:srgbClr val="16A34A"/>
                </a:solidFill>
                <a:latin typeface="Calibri" pitchFamily="34" charset="0"/>
                <a:ea typeface="Calibri" pitchFamily="34" charset="-122"/>
                <a:cs typeface="Calibri" pitchFamily="34" charset="-120"/>
              </a:rPr>
              <a:t>LANGUAGE</a:t>
            </a:r>
            <a:endParaRPr lang="en-US" sz="1000" dirty="0"/>
          </a:p>
        </p:txBody>
      </p:sp>
      <p:sp>
        <p:nvSpPr>
          <p:cNvPr id="27" name="Text 21"/>
          <p:cNvSpPr txBox="1"/>
          <p:nvPr/>
        </p:nvSpPr>
        <p:spPr>
          <a:xfrm>
            <a:off x="640080" y="3813048"/>
            <a:ext cx="2286000" cy="320040"/>
          </a:xfrm>
          <a:prstGeom prst="rect">
            <a:avLst/>
          </a:prstGeom>
          <a:noFill/>
          <a:ln/>
        </p:spPr>
        <p:txBody>
          <a:bodyPr wrap="square" lIns="0" tIns="0" rIns="0" bIns="0" rtlCol="0" anchor="t"/>
          <a:lstStyle/>
          <a:p>
            <a:pPr indent="0" marL="0">
              <a:buNone/>
            </a:pPr>
            <a:r>
              <a:rPr lang="en-US" sz="1700" b="1" dirty="0">
                <a:solidFill>
                  <a:srgbClr val="0A0F0C"/>
                </a:solidFill>
                <a:latin typeface="Calibri" pitchFamily="34" charset="0"/>
                <a:ea typeface="Calibri" pitchFamily="34" charset="-122"/>
                <a:cs typeface="Calibri" pitchFamily="34" charset="-120"/>
              </a:rPr>
              <a:t>SQL</a:t>
            </a:r>
            <a:endParaRPr lang="en-US" sz="1700" dirty="0"/>
          </a:p>
        </p:txBody>
      </p:sp>
      <p:sp>
        <p:nvSpPr>
          <p:cNvPr id="28" name="Text 22"/>
          <p:cNvSpPr txBox="1"/>
          <p:nvPr/>
        </p:nvSpPr>
        <p:spPr>
          <a:xfrm>
            <a:off x="640080" y="4133088"/>
            <a:ext cx="2286000" cy="384048"/>
          </a:xfrm>
          <a:prstGeom prst="rect">
            <a:avLst/>
          </a:prstGeom>
          <a:noFill/>
          <a:ln/>
        </p:spPr>
        <p:txBody>
          <a:bodyPr wrap="square" lIns="0" tIns="0" rIns="0" bIns="0" rtlCol="0" anchor="t"/>
          <a:lstStyle/>
          <a:p>
            <a:pPr indent="0" marL="0">
              <a:buNone/>
            </a:pPr>
            <a:r>
              <a:rPr lang="en-US" sz="1100" dirty="0">
                <a:solidFill>
                  <a:srgbClr val="4B5563"/>
                </a:solidFill>
                <a:latin typeface="Calibri" pitchFamily="34" charset="0"/>
                <a:ea typeface="Calibri" pitchFamily="34" charset="-122"/>
                <a:cs typeface="Calibri" pitchFamily="34" charset="-120"/>
              </a:rPr>
              <a:t>100% of the pipeline</a:t>
            </a:r>
            <a:endParaRPr lang="en-US" sz="1100" dirty="0"/>
          </a:p>
        </p:txBody>
      </p:sp>
      <p:sp>
        <p:nvSpPr>
          <p:cNvPr id="29" name="Shape 23"/>
          <p:cNvSpPr/>
          <p:nvPr/>
        </p:nvSpPr>
        <p:spPr>
          <a:xfrm>
            <a:off x="3268980" y="3063240"/>
            <a:ext cx="2606040" cy="1508760"/>
          </a:xfrm>
          <a:prstGeom prst="roundRect">
            <a:avLst>
              <a:gd name="adj" fmla="val 4848"/>
            </a:avLst>
          </a:prstGeom>
          <a:solidFill>
            <a:srgbClr val="E8F5EC"/>
          </a:solidFill>
          <a:ln/>
        </p:spPr>
      </p:sp>
      <p:sp>
        <p:nvSpPr>
          <p:cNvPr id="30" name="Shape 24"/>
          <p:cNvSpPr/>
          <p:nvPr/>
        </p:nvSpPr>
        <p:spPr>
          <a:xfrm>
            <a:off x="3451860" y="3246120"/>
            <a:ext cx="457200" cy="457200"/>
          </a:xfrm>
          <a:prstGeom prst="ellipse">
            <a:avLst/>
          </a:prstGeom>
          <a:solidFill>
            <a:srgbClr val="16A34A"/>
          </a:solidFill>
          <a:ln/>
        </p:spPr>
      </p:sp>
      <p:pic>
        <p:nvPicPr>
          <p:cNvPr id="31" name="Image 4" descr="preencoded.png">    </p:cNvPr>
          <p:cNvPicPr>
            <a:picLocks noChangeAspect="1"/>
          </p:cNvPicPr>
          <p:nvPr/>
        </p:nvPicPr>
        <p:blipFill>
          <a:blip r:embed="rId5"/>
          <a:stretch>
            <a:fillRect/>
          </a:stretch>
        </p:blipFill>
        <p:spPr>
          <a:xfrm>
            <a:off x="3566160" y="3360420"/>
            <a:ext cx="228600" cy="228600"/>
          </a:xfrm>
          <a:prstGeom prst="rect">
            <a:avLst/>
          </a:prstGeom>
        </p:spPr>
      </p:pic>
      <p:sp>
        <p:nvSpPr>
          <p:cNvPr id="32" name="Text 25"/>
          <p:cNvSpPr txBox="1"/>
          <p:nvPr/>
        </p:nvSpPr>
        <p:spPr>
          <a:xfrm>
            <a:off x="4046220" y="3246120"/>
            <a:ext cx="1737360" cy="457200"/>
          </a:xfrm>
          <a:prstGeom prst="rect">
            <a:avLst/>
          </a:prstGeom>
          <a:noFill/>
          <a:ln/>
        </p:spPr>
        <p:txBody>
          <a:bodyPr wrap="square" lIns="0" tIns="0" rIns="0" bIns="0" rtlCol="0" anchor="ctr"/>
          <a:lstStyle/>
          <a:p>
            <a:pPr indent="0" marL="0">
              <a:buNone/>
            </a:pPr>
            <a:r>
              <a:rPr lang="en-US" sz="1000" b="1" spc="200" kern="0" dirty="0">
                <a:solidFill>
                  <a:srgbClr val="16A34A"/>
                </a:solidFill>
                <a:latin typeface="Calibri" pitchFamily="34" charset="0"/>
                <a:ea typeface="Calibri" pitchFamily="34" charset="-122"/>
                <a:cs typeface="Calibri" pitchFamily="34" charset="-120"/>
              </a:rPr>
              <a:t>DATA SOURCES</a:t>
            </a:r>
            <a:endParaRPr lang="en-US" sz="1000" dirty="0"/>
          </a:p>
        </p:txBody>
      </p:sp>
      <p:sp>
        <p:nvSpPr>
          <p:cNvPr id="33" name="Text 26"/>
          <p:cNvSpPr txBox="1"/>
          <p:nvPr/>
        </p:nvSpPr>
        <p:spPr>
          <a:xfrm>
            <a:off x="3451860" y="3813048"/>
            <a:ext cx="2286000" cy="320040"/>
          </a:xfrm>
          <a:prstGeom prst="rect">
            <a:avLst/>
          </a:prstGeom>
          <a:noFill/>
          <a:ln/>
        </p:spPr>
        <p:txBody>
          <a:bodyPr wrap="square" lIns="0" tIns="0" rIns="0" bIns="0" rtlCol="0" anchor="t"/>
          <a:lstStyle/>
          <a:p>
            <a:pPr indent="0" marL="0">
              <a:buNone/>
            </a:pPr>
            <a:r>
              <a:rPr lang="en-US" sz="1700" b="1" dirty="0">
                <a:solidFill>
                  <a:srgbClr val="0A0F0C"/>
                </a:solidFill>
                <a:latin typeface="Calibri" pitchFamily="34" charset="0"/>
                <a:ea typeface="Calibri" pitchFamily="34" charset="-122"/>
                <a:cs typeface="Calibri" pitchFamily="34" charset="-120"/>
              </a:rPr>
              <a:t>5 raw files</a:t>
            </a:r>
            <a:endParaRPr lang="en-US" sz="1700" dirty="0"/>
          </a:p>
        </p:txBody>
      </p:sp>
      <p:sp>
        <p:nvSpPr>
          <p:cNvPr id="34" name="Text 27"/>
          <p:cNvSpPr txBox="1"/>
          <p:nvPr/>
        </p:nvSpPr>
        <p:spPr>
          <a:xfrm>
            <a:off x="3451860" y="4133088"/>
            <a:ext cx="2286000" cy="384048"/>
          </a:xfrm>
          <a:prstGeom prst="rect">
            <a:avLst/>
          </a:prstGeom>
          <a:noFill/>
          <a:ln/>
        </p:spPr>
        <p:txBody>
          <a:bodyPr wrap="square" lIns="0" tIns="0" rIns="0" bIns="0" rtlCol="0" anchor="t"/>
          <a:lstStyle/>
          <a:p>
            <a:pPr indent="0" marL="0">
              <a:buNone/>
            </a:pPr>
            <a:r>
              <a:rPr lang="en-US" sz="1100" dirty="0">
                <a:solidFill>
                  <a:srgbClr val="4B5563"/>
                </a:solidFill>
                <a:latin typeface="Calibri" pitchFamily="34" charset="0"/>
                <a:ea typeface="Calibri" pitchFamily="34" charset="-122"/>
                <a:cs typeface="Calibri" pitchFamily="34" charset="-120"/>
              </a:rPr>
              <a:t>4 CSV files and 1 TSV file</a:t>
            </a:r>
            <a:endParaRPr lang="en-US" sz="1100" dirty="0"/>
          </a:p>
        </p:txBody>
      </p:sp>
      <p:sp>
        <p:nvSpPr>
          <p:cNvPr id="35" name="Shape 28"/>
          <p:cNvSpPr/>
          <p:nvPr/>
        </p:nvSpPr>
        <p:spPr>
          <a:xfrm>
            <a:off x="6080760" y="3063240"/>
            <a:ext cx="2606040" cy="1508760"/>
          </a:xfrm>
          <a:prstGeom prst="roundRect">
            <a:avLst>
              <a:gd name="adj" fmla="val 4848"/>
            </a:avLst>
          </a:prstGeom>
          <a:solidFill>
            <a:srgbClr val="0A0F0C"/>
          </a:solidFill>
          <a:ln/>
        </p:spPr>
      </p:sp>
      <p:sp>
        <p:nvSpPr>
          <p:cNvPr id="36" name="Shape 29"/>
          <p:cNvSpPr/>
          <p:nvPr/>
        </p:nvSpPr>
        <p:spPr>
          <a:xfrm>
            <a:off x="6263640" y="3246120"/>
            <a:ext cx="457200" cy="457200"/>
          </a:xfrm>
          <a:prstGeom prst="ellipse">
            <a:avLst/>
          </a:prstGeom>
          <a:solidFill>
            <a:srgbClr val="16A34A"/>
          </a:solidFill>
          <a:ln/>
        </p:spPr>
      </p:sp>
      <p:pic>
        <p:nvPicPr>
          <p:cNvPr id="37" name="Image 5" descr="preencoded.png">    </p:cNvPr>
          <p:cNvPicPr>
            <a:picLocks noChangeAspect="1"/>
          </p:cNvPicPr>
          <p:nvPr/>
        </p:nvPicPr>
        <p:blipFill>
          <a:blip r:embed="rId6"/>
          <a:stretch>
            <a:fillRect/>
          </a:stretch>
        </p:blipFill>
        <p:spPr>
          <a:xfrm>
            <a:off x="6377940" y="3360420"/>
            <a:ext cx="228600" cy="228600"/>
          </a:xfrm>
          <a:prstGeom prst="rect">
            <a:avLst/>
          </a:prstGeom>
        </p:spPr>
      </p:pic>
      <p:sp>
        <p:nvSpPr>
          <p:cNvPr id="38" name="Text 30"/>
          <p:cNvSpPr txBox="1"/>
          <p:nvPr/>
        </p:nvSpPr>
        <p:spPr>
          <a:xfrm>
            <a:off x="6858000" y="3246120"/>
            <a:ext cx="1737360" cy="457200"/>
          </a:xfrm>
          <a:prstGeom prst="rect">
            <a:avLst/>
          </a:prstGeom>
          <a:noFill/>
          <a:ln/>
        </p:spPr>
        <p:txBody>
          <a:bodyPr wrap="square" lIns="0" tIns="0" rIns="0" bIns="0" rtlCol="0" anchor="ctr"/>
          <a:lstStyle/>
          <a:p>
            <a:pPr indent="0" marL="0">
              <a:buNone/>
            </a:pPr>
            <a:r>
              <a:rPr lang="en-US" sz="1000" b="1" spc="200" kern="0" dirty="0">
                <a:solidFill>
                  <a:srgbClr val="86D19B"/>
                </a:solidFill>
                <a:latin typeface="Calibri" pitchFamily="34" charset="0"/>
                <a:ea typeface="Calibri" pitchFamily="34" charset="-122"/>
                <a:cs typeface="Calibri" pitchFamily="34" charset="-120"/>
              </a:rPr>
              <a:t>DATA PROCESSED</a:t>
            </a:r>
            <a:endParaRPr lang="en-US" sz="1000" dirty="0"/>
          </a:p>
        </p:txBody>
      </p:sp>
      <p:sp>
        <p:nvSpPr>
          <p:cNvPr id="39" name="Text 31"/>
          <p:cNvSpPr txBox="1"/>
          <p:nvPr/>
        </p:nvSpPr>
        <p:spPr>
          <a:xfrm>
            <a:off x="6263640" y="3813048"/>
            <a:ext cx="2286000" cy="320040"/>
          </a:xfrm>
          <a:prstGeom prst="rect">
            <a:avLst/>
          </a:prstGeom>
          <a:noFill/>
          <a:ln/>
        </p:spPr>
        <p:txBody>
          <a:bodyPr wrap="square" lIns="0" tIns="0" rIns="0" bIns="0" rtlCol="0" anchor="t"/>
          <a:lstStyle/>
          <a:p>
            <a:pPr indent="0" marL="0">
              <a:buNone/>
            </a:pPr>
            <a:r>
              <a:rPr lang="en-US" sz="1700" b="1" dirty="0">
                <a:solidFill>
                  <a:srgbClr val="22C55E"/>
                </a:solidFill>
                <a:latin typeface="Calibri" pitchFamily="34" charset="0"/>
                <a:ea typeface="Calibri" pitchFamily="34" charset="-122"/>
                <a:cs typeface="Calibri" pitchFamily="34" charset="-120"/>
              </a:rPr>
              <a:t>26,360+ records</a:t>
            </a:r>
            <a:endParaRPr lang="en-US" sz="1700" dirty="0"/>
          </a:p>
        </p:txBody>
      </p:sp>
      <p:sp>
        <p:nvSpPr>
          <p:cNvPr id="40" name="Text 32"/>
          <p:cNvSpPr txBox="1"/>
          <p:nvPr/>
        </p:nvSpPr>
        <p:spPr>
          <a:xfrm>
            <a:off x="6263640" y="4133088"/>
            <a:ext cx="2286000" cy="384048"/>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Across 6 tables</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100" b="1" spc="300" kern="0" dirty="0">
                <a:solidFill>
                  <a:srgbClr val="16A34A"/>
                </a:solidFill>
                <a:latin typeface="Calibri" pitchFamily="34" charset="0"/>
                <a:ea typeface="Calibri" pitchFamily="34" charset="-122"/>
                <a:cs typeface="Calibri" pitchFamily="34" charset="-120"/>
              </a:rPr>
              <a:t>AUTOMATION</a:t>
            </a:r>
            <a:endParaRPr lang="en-US" sz="11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3200" b="1" dirty="0">
                <a:solidFill>
                  <a:srgbClr val="0A0F0C"/>
                </a:solidFill>
                <a:latin typeface="Cambria" pitchFamily="34" charset="0"/>
                <a:ea typeface="Cambria" pitchFamily="34" charset="-122"/>
                <a:cs typeface="Cambria" pitchFamily="34" charset="-120"/>
              </a:rPr>
              <a:t>How the Automation Works</a:t>
            </a:r>
            <a:endParaRPr lang="en-US" sz="3200" dirty="0"/>
          </a:p>
        </p:txBody>
      </p:sp>
      <p:sp>
        <p:nvSpPr>
          <p:cNvPr id="4" name="Text 2"/>
          <p:cNvSpPr txBox="1"/>
          <p:nvPr/>
        </p:nvSpPr>
        <p:spPr>
          <a:xfrm>
            <a:off x="457200" y="4800600"/>
            <a:ext cx="82296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NexaBank Data Warehouse &amp; Analytics Pipeline   |   13</a:t>
            </a:r>
            <a:endParaRPr lang="en-US" sz="900" dirty="0"/>
          </a:p>
        </p:txBody>
      </p:sp>
      <p:sp>
        <p:nvSpPr>
          <p:cNvPr id="5" name="Text 3"/>
          <p:cNvSpPr txBox="1"/>
          <p:nvPr/>
        </p:nvSpPr>
        <p:spPr>
          <a:xfrm>
            <a:off x="457200" y="1325880"/>
            <a:ext cx="3840480" cy="274320"/>
          </a:xfrm>
          <a:prstGeom prst="rect">
            <a:avLst/>
          </a:prstGeom>
          <a:noFill/>
          <a:ln/>
        </p:spPr>
        <p:txBody>
          <a:bodyPr wrap="square" lIns="0" tIns="0" rIns="0" bIns="0" rtlCol="0" anchor="t"/>
          <a:lstStyle/>
          <a:p>
            <a:pPr indent="0" marL="0">
              <a:buNone/>
            </a:pPr>
            <a:r>
              <a:rPr lang="en-US" sz="1500" b="1" dirty="0">
                <a:solidFill>
                  <a:srgbClr val="0F6B32"/>
                </a:solidFill>
                <a:latin typeface="Calibri" pitchFamily="34" charset="0"/>
                <a:ea typeface="Calibri" pitchFamily="34" charset="-122"/>
                <a:cs typeface="Calibri" pitchFamily="34" charset="-120"/>
              </a:rPr>
              <a:t>When new data arrives</a:t>
            </a:r>
            <a:endParaRPr lang="en-US" sz="1500" dirty="0"/>
          </a:p>
        </p:txBody>
      </p:sp>
      <p:sp>
        <p:nvSpPr>
          <p:cNvPr id="6" name="Shape 4"/>
          <p:cNvSpPr/>
          <p:nvPr/>
        </p:nvSpPr>
        <p:spPr>
          <a:xfrm>
            <a:off x="457200" y="1810512"/>
            <a:ext cx="457200" cy="457200"/>
          </a:xfrm>
          <a:prstGeom prst="ellipse">
            <a:avLst/>
          </a:prstGeom>
          <a:solidFill>
            <a:srgbClr val="16A34A"/>
          </a:solidFill>
          <a:ln/>
        </p:spPr>
      </p:sp>
      <p:sp>
        <p:nvSpPr>
          <p:cNvPr id="7" name="Text 5"/>
          <p:cNvSpPr txBox="1"/>
          <p:nvPr/>
        </p:nvSpPr>
        <p:spPr>
          <a:xfrm>
            <a:off x="457200" y="1810512"/>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8" name="Text 6"/>
          <p:cNvSpPr txBox="1"/>
          <p:nvPr/>
        </p:nvSpPr>
        <p:spPr>
          <a:xfrm>
            <a:off x="1097280" y="1737360"/>
            <a:ext cx="3200400" cy="603504"/>
          </a:xfrm>
          <a:prstGeom prst="rect">
            <a:avLst/>
          </a:prstGeom>
          <a:noFill/>
          <a:ln/>
        </p:spPr>
        <p:txBody>
          <a:bodyPr wrap="square" lIns="0" tIns="0" rIns="0" bIns="0" rtlCol="0" anchor="ctr"/>
          <a:lstStyle/>
          <a:p>
            <a:pPr indent="0" marL="0">
              <a:buNone/>
            </a:pPr>
            <a:r>
              <a:rPr lang="en-US" sz="1350" dirty="0">
                <a:solidFill>
                  <a:srgbClr val="0A0F0C"/>
                </a:solidFill>
                <a:latin typeface="Calibri" pitchFamily="34" charset="0"/>
                <a:ea typeface="Calibri" pitchFamily="34" charset="-122"/>
                <a:cs typeface="Calibri" pitchFamily="34" charset="-120"/>
              </a:rPr>
              <a:t>Drop the new CSV files into the input/ folder, replacing the old ones</a:t>
            </a:r>
            <a:endParaRPr lang="en-US" sz="1350" dirty="0"/>
          </a:p>
        </p:txBody>
      </p:sp>
      <p:sp>
        <p:nvSpPr>
          <p:cNvPr id="9" name="Shape 7"/>
          <p:cNvSpPr/>
          <p:nvPr/>
        </p:nvSpPr>
        <p:spPr>
          <a:xfrm>
            <a:off x="457200" y="2587752"/>
            <a:ext cx="457200" cy="457200"/>
          </a:xfrm>
          <a:prstGeom prst="ellipse">
            <a:avLst/>
          </a:prstGeom>
          <a:solidFill>
            <a:srgbClr val="16A34A"/>
          </a:solidFill>
          <a:ln/>
        </p:spPr>
      </p:sp>
      <p:sp>
        <p:nvSpPr>
          <p:cNvPr id="10" name="Text 8"/>
          <p:cNvSpPr txBox="1"/>
          <p:nvPr/>
        </p:nvSpPr>
        <p:spPr>
          <a:xfrm>
            <a:off x="457200" y="2587752"/>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1" name="Text 9"/>
          <p:cNvSpPr txBox="1"/>
          <p:nvPr/>
        </p:nvSpPr>
        <p:spPr>
          <a:xfrm>
            <a:off x="1097280" y="2514600"/>
            <a:ext cx="3200400" cy="603504"/>
          </a:xfrm>
          <a:prstGeom prst="rect">
            <a:avLst/>
          </a:prstGeom>
          <a:noFill/>
          <a:ln/>
        </p:spPr>
        <p:txBody>
          <a:bodyPr wrap="square" lIns="0" tIns="0" rIns="0" bIns="0" rtlCol="0" anchor="ctr"/>
          <a:lstStyle/>
          <a:p>
            <a:pPr indent="0" marL="0">
              <a:buNone/>
            </a:pPr>
            <a:r>
              <a:rPr lang="en-US" sz="1350" dirty="0">
                <a:solidFill>
                  <a:srgbClr val="0A0F0C"/>
                </a:solidFill>
                <a:latin typeface="Calibri" pitchFamily="34" charset="0"/>
                <a:ea typeface="Calibri" pitchFamily="34" charset="-122"/>
                <a:cs typeface="Calibri" pitchFamily="34" charset="-120"/>
              </a:rPr>
              <a:t>Keep the exact same file names as before</a:t>
            </a:r>
            <a:endParaRPr lang="en-US" sz="1350" dirty="0"/>
          </a:p>
        </p:txBody>
      </p:sp>
      <p:sp>
        <p:nvSpPr>
          <p:cNvPr id="12" name="Shape 10"/>
          <p:cNvSpPr/>
          <p:nvPr/>
        </p:nvSpPr>
        <p:spPr>
          <a:xfrm>
            <a:off x="457200" y="3364992"/>
            <a:ext cx="457200" cy="457200"/>
          </a:xfrm>
          <a:prstGeom prst="ellipse">
            <a:avLst/>
          </a:prstGeom>
          <a:solidFill>
            <a:srgbClr val="16A34A"/>
          </a:solidFill>
          <a:ln/>
        </p:spPr>
      </p:sp>
      <p:sp>
        <p:nvSpPr>
          <p:cNvPr id="13" name="Text 11"/>
          <p:cNvSpPr txBox="1"/>
          <p:nvPr/>
        </p:nvSpPr>
        <p:spPr>
          <a:xfrm>
            <a:off x="457200" y="3364992"/>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4" name="Text 12"/>
          <p:cNvSpPr txBox="1"/>
          <p:nvPr/>
        </p:nvSpPr>
        <p:spPr>
          <a:xfrm>
            <a:off x="1097280" y="3291840"/>
            <a:ext cx="3200400" cy="603504"/>
          </a:xfrm>
          <a:prstGeom prst="rect">
            <a:avLst/>
          </a:prstGeom>
          <a:noFill/>
          <a:ln/>
        </p:spPr>
        <p:txBody>
          <a:bodyPr wrap="square" lIns="0" tIns="0" rIns="0" bIns="0" rtlCol="0" anchor="ctr"/>
          <a:lstStyle/>
          <a:p>
            <a:pPr indent="0" marL="0">
              <a:buNone/>
            </a:pPr>
            <a:r>
              <a:rPr lang="en-US" sz="1350" dirty="0">
                <a:solidFill>
                  <a:srgbClr val="0A0F0C"/>
                </a:solidFill>
                <a:latin typeface="Calibri" pitchFamily="34" charset="0"/>
                <a:ea typeface="Calibri" pitchFamily="34" charset="-122"/>
                <a:cs typeface="Calibri" pitchFamily="34" charset="-120"/>
              </a:rPr>
              <a:t>Run the Master Script in MySQL Workbench</a:t>
            </a:r>
            <a:endParaRPr lang="en-US" sz="1350" dirty="0"/>
          </a:p>
        </p:txBody>
      </p:sp>
      <p:sp>
        <p:nvSpPr>
          <p:cNvPr id="15" name="Shape 13"/>
          <p:cNvSpPr/>
          <p:nvPr/>
        </p:nvSpPr>
        <p:spPr>
          <a:xfrm>
            <a:off x="4572000" y="1371600"/>
            <a:ext cx="4114800" cy="2514600"/>
          </a:xfrm>
          <a:prstGeom prst="roundRect">
            <a:avLst>
              <a:gd name="adj" fmla="val 2909"/>
            </a:avLst>
          </a:prstGeom>
          <a:solidFill>
            <a:srgbClr val="0A0F0C"/>
          </a:solidFill>
          <a:ln/>
        </p:spPr>
      </p:sp>
      <p:sp>
        <p:nvSpPr>
          <p:cNvPr id="16" name="Text 14"/>
          <p:cNvSpPr txBox="1"/>
          <p:nvPr/>
        </p:nvSpPr>
        <p:spPr>
          <a:xfrm>
            <a:off x="4800600" y="1508760"/>
            <a:ext cx="3657600" cy="274320"/>
          </a:xfrm>
          <a:prstGeom prst="rect">
            <a:avLst/>
          </a:prstGeom>
          <a:noFill/>
          <a:ln/>
        </p:spPr>
        <p:txBody>
          <a:bodyPr wrap="square" lIns="0" tIns="0" rIns="0" bIns="0" rtlCol="0" anchor="t"/>
          <a:lstStyle/>
          <a:p>
            <a:pPr indent="0" marL="0">
              <a:buNone/>
            </a:pPr>
            <a:r>
              <a:rPr lang="en-US" sz="1400" b="1" dirty="0">
                <a:solidFill>
                  <a:srgbClr val="22C55E"/>
                </a:solidFill>
                <a:latin typeface="Courier New" pitchFamily="34" charset="0"/>
                <a:ea typeface="Courier New" pitchFamily="34" charset="-122"/>
                <a:cs typeface="Courier New" pitchFamily="34" charset="-120"/>
              </a:rPr>
              <a:t>master_pipeline.sql</a:t>
            </a:r>
            <a:endParaRPr lang="en-US" sz="1400" dirty="0"/>
          </a:p>
        </p:txBody>
      </p:sp>
      <p:sp>
        <p:nvSpPr>
          <p:cNvPr id="17" name="Shape 15"/>
          <p:cNvSpPr/>
          <p:nvPr/>
        </p:nvSpPr>
        <p:spPr>
          <a:xfrm>
            <a:off x="4800600" y="1956816"/>
            <a:ext cx="274320" cy="274320"/>
          </a:xfrm>
          <a:prstGeom prst="ellipse">
            <a:avLst/>
          </a:prstGeom>
          <a:solidFill>
            <a:srgbClr val="16A34A"/>
          </a:solidFill>
          <a:ln/>
        </p:spPr>
      </p:sp>
      <p:sp>
        <p:nvSpPr>
          <p:cNvPr id="18" name="Text 16"/>
          <p:cNvSpPr txBox="1"/>
          <p:nvPr/>
        </p:nvSpPr>
        <p:spPr>
          <a:xfrm>
            <a:off x="4800600" y="195681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9" name="Text 17"/>
          <p:cNvSpPr txBox="1"/>
          <p:nvPr/>
        </p:nvSpPr>
        <p:spPr>
          <a:xfrm>
            <a:off x="5257800" y="1920240"/>
            <a:ext cx="3200400" cy="347472"/>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Archive old data</a:t>
            </a:r>
            <a:endParaRPr lang="en-US" sz="1400" dirty="0"/>
          </a:p>
        </p:txBody>
      </p:sp>
      <p:sp>
        <p:nvSpPr>
          <p:cNvPr id="20" name="Shape 18"/>
          <p:cNvSpPr/>
          <p:nvPr/>
        </p:nvSpPr>
        <p:spPr>
          <a:xfrm>
            <a:off x="4800600" y="2340864"/>
            <a:ext cx="274320" cy="274320"/>
          </a:xfrm>
          <a:prstGeom prst="ellipse">
            <a:avLst/>
          </a:prstGeom>
          <a:solidFill>
            <a:srgbClr val="16A34A"/>
          </a:solidFill>
          <a:ln/>
        </p:spPr>
      </p:sp>
      <p:sp>
        <p:nvSpPr>
          <p:cNvPr id="21" name="Text 19"/>
          <p:cNvSpPr txBox="1"/>
          <p:nvPr/>
        </p:nvSpPr>
        <p:spPr>
          <a:xfrm>
            <a:off x="4800600" y="234086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2" name="Text 20"/>
          <p:cNvSpPr txBox="1"/>
          <p:nvPr/>
        </p:nvSpPr>
        <p:spPr>
          <a:xfrm>
            <a:off x="5257800" y="2304288"/>
            <a:ext cx="3200400" cy="347472"/>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Wipe the database</a:t>
            </a:r>
            <a:endParaRPr lang="en-US" sz="1400" dirty="0"/>
          </a:p>
        </p:txBody>
      </p:sp>
      <p:sp>
        <p:nvSpPr>
          <p:cNvPr id="23" name="Shape 21"/>
          <p:cNvSpPr/>
          <p:nvPr/>
        </p:nvSpPr>
        <p:spPr>
          <a:xfrm>
            <a:off x="4800600" y="2724912"/>
            <a:ext cx="274320" cy="274320"/>
          </a:xfrm>
          <a:prstGeom prst="ellipse">
            <a:avLst/>
          </a:prstGeom>
          <a:solidFill>
            <a:srgbClr val="16A34A"/>
          </a:solidFill>
          <a:ln/>
        </p:spPr>
      </p:sp>
      <p:sp>
        <p:nvSpPr>
          <p:cNvPr id="24" name="Text 22"/>
          <p:cNvSpPr txBox="1"/>
          <p:nvPr/>
        </p:nvSpPr>
        <p:spPr>
          <a:xfrm>
            <a:off x="4800600" y="272491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5" name="Text 23"/>
          <p:cNvSpPr txBox="1"/>
          <p:nvPr/>
        </p:nvSpPr>
        <p:spPr>
          <a:xfrm>
            <a:off x="5257800" y="2688336"/>
            <a:ext cx="3200400" cy="347472"/>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Load new files</a:t>
            </a:r>
            <a:endParaRPr lang="en-US" sz="1400" dirty="0"/>
          </a:p>
        </p:txBody>
      </p:sp>
      <p:sp>
        <p:nvSpPr>
          <p:cNvPr id="26" name="Shape 24"/>
          <p:cNvSpPr/>
          <p:nvPr/>
        </p:nvSpPr>
        <p:spPr>
          <a:xfrm>
            <a:off x="4800600" y="3108960"/>
            <a:ext cx="274320" cy="274320"/>
          </a:xfrm>
          <a:prstGeom prst="ellipse">
            <a:avLst/>
          </a:prstGeom>
          <a:solidFill>
            <a:srgbClr val="16A34A"/>
          </a:solidFill>
          <a:ln/>
        </p:spPr>
      </p:sp>
      <p:sp>
        <p:nvSpPr>
          <p:cNvPr id="27" name="Text 25"/>
          <p:cNvSpPr txBox="1"/>
          <p:nvPr/>
        </p:nvSpPr>
        <p:spPr>
          <a:xfrm>
            <a:off x="4800600" y="310896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8" name="Text 26"/>
          <p:cNvSpPr txBox="1"/>
          <p:nvPr/>
        </p:nvSpPr>
        <p:spPr>
          <a:xfrm>
            <a:off x="5257800" y="3072384"/>
            <a:ext cx="3200400" cy="347472"/>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Clean the data</a:t>
            </a:r>
            <a:endParaRPr lang="en-US" sz="1400" dirty="0"/>
          </a:p>
        </p:txBody>
      </p:sp>
      <p:sp>
        <p:nvSpPr>
          <p:cNvPr id="29" name="Shape 27"/>
          <p:cNvSpPr/>
          <p:nvPr/>
        </p:nvSpPr>
        <p:spPr>
          <a:xfrm>
            <a:off x="4800600" y="3493008"/>
            <a:ext cx="274320" cy="274320"/>
          </a:xfrm>
          <a:prstGeom prst="ellipse">
            <a:avLst/>
          </a:prstGeom>
          <a:solidFill>
            <a:srgbClr val="16A34A"/>
          </a:solidFill>
          <a:ln/>
        </p:spPr>
      </p:sp>
      <p:sp>
        <p:nvSpPr>
          <p:cNvPr id="30" name="Text 28"/>
          <p:cNvSpPr txBox="1"/>
          <p:nvPr/>
        </p:nvSpPr>
        <p:spPr>
          <a:xfrm>
            <a:off x="4800600" y="349300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31" name="Text 29"/>
          <p:cNvSpPr txBox="1"/>
          <p:nvPr/>
        </p:nvSpPr>
        <p:spPr>
          <a:xfrm>
            <a:off x="5257800" y="3456432"/>
            <a:ext cx="3200400" cy="347472"/>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Run analytics</a:t>
            </a:r>
            <a:endParaRPr lang="en-US" sz="1400" dirty="0"/>
          </a:p>
        </p:txBody>
      </p:sp>
      <p:sp>
        <p:nvSpPr>
          <p:cNvPr id="32" name="Shape 30"/>
          <p:cNvSpPr/>
          <p:nvPr/>
        </p:nvSpPr>
        <p:spPr>
          <a:xfrm>
            <a:off x="457200" y="4069080"/>
            <a:ext cx="8229600" cy="594360"/>
          </a:xfrm>
          <a:prstGeom prst="roundRect">
            <a:avLst>
              <a:gd name="adj" fmla="val 12308"/>
            </a:avLst>
          </a:prstGeom>
          <a:solidFill>
            <a:srgbClr val="E8F5EC"/>
          </a:solidFill>
          <a:ln w="12700">
            <a:solidFill>
              <a:srgbClr val="16A34A"/>
            </a:solidFill>
            <a:prstDash val="solid"/>
          </a:ln>
        </p:spPr>
      </p:sp>
      <p:sp>
        <p:nvSpPr>
          <p:cNvPr id="33" name="Shape 31"/>
          <p:cNvSpPr/>
          <p:nvPr/>
        </p:nvSpPr>
        <p:spPr>
          <a:xfrm>
            <a:off x="621792" y="4142232"/>
            <a:ext cx="457200" cy="457200"/>
          </a:xfrm>
          <a:prstGeom prst="ellipse">
            <a:avLst/>
          </a:prstGeom>
          <a:solidFill>
            <a:srgbClr val="16A34A"/>
          </a:solidFill>
          <a:ln/>
        </p:spPr>
      </p:sp>
      <p:pic>
        <p:nvPicPr>
          <p:cNvPr id="34" name="Image 0" descr="preencoded.png">    </p:cNvPr>
          <p:cNvPicPr>
            <a:picLocks noChangeAspect="1"/>
          </p:cNvPicPr>
          <p:nvPr/>
        </p:nvPicPr>
        <p:blipFill>
          <a:blip r:embed="rId1"/>
          <a:stretch>
            <a:fillRect/>
          </a:stretch>
        </p:blipFill>
        <p:spPr>
          <a:xfrm>
            <a:off x="736092" y="4256532"/>
            <a:ext cx="228600" cy="228600"/>
          </a:xfrm>
          <a:prstGeom prst="rect">
            <a:avLst/>
          </a:prstGeom>
        </p:spPr>
      </p:pic>
      <p:sp>
        <p:nvSpPr>
          <p:cNvPr id="35" name="Text 32"/>
          <p:cNvSpPr txBox="1"/>
          <p:nvPr/>
        </p:nvSpPr>
        <p:spPr>
          <a:xfrm>
            <a:off x="1234440" y="4069080"/>
            <a:ext cx="7315200" cy="594360"/>
          </a:xfrm>
          <a:prstGeom prst="rect">
            <a:avLst/>
          </a:prstGeom>
          <a:noFill/>
          <a:ln/>
        </p:spPr>
        <p:txBody>
          <a:bodyPr wrap="square" lIns="0" tIns="0" rIns="0" bIns="0" rtlCol="0" anchor="ctr"/>
          <a:lstStyle/>
          <a:p>
            <a:pPr indent="0" marL="0">
              <a:buNone/>
            </a:pPr>
            <a:r>
              <a:rPr lang="en-US" sz="1400" b="1" dirty="0">
                <a:solidFill>
                  <a:srgbClr val="0F6B32"/>
                </a:solidFill>
                <a:latin typeface="Calibri" pitchFamily="34" charset="0"/>
                <a:ea typeface="Calibri" pitchFamily="34" charset="-122"/>
                <a:cs typeface="Calibri" pitchFamily="34" charset="-120"/>
              </a:rPr>
              <a:t>In production: </a:t>
            </a:r>
            <a:pPr indent="0" marL="0">
              <a:buNone/>
            </a:pPr>
            <a:r>
              <a:rPr lang="en-US" sz="1400" dirty="0">
                <a:solidFill>
                  <a:srgbClr val="0A0F0C"/>
                </a:solidFill>
                <a:latin typeface="Calibri" pitchFamily="34" charset="0"/>
                <a:ea typeface="Calibri" pitchFamily="34" charset="-122"/>
                <a:cs typeface="Calibri" pitchFamily="34" charset="-120"/>
              </a:rPr>
              <a:t>scheduled to run every night at 2:00 AM with a cron job or scheduler</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100" b="1" spc="300" kern="0" dirty="0">
                <a:solidFill>
                  <a:srgbClr val="16A34A"/>
                </a:solidFill>
                <a:latin typeface="Calibri" pitchFamily="34" charset="0"/>
                <a:ea typeface="Calibri" pitchFamily="34" charset="-122"/>
                <a:cs typeface="Calibri" pitchFamily="34" charset="-120"/>
              </a:rPr>
              <a:t>WHAT IS NEXT</a:t>
            </a:r>
            <a:endParaRPr lang="en-US" sz="11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3200" b="1" dirty="0">
                <a:solidFill>
                  <a:srgbClr val="0A0F0C"/>
                </a:solidFill>
                <a:latin typeface="Cambria" pitchFamily="34" charset="0"/>
                <a:ea typeface="Cambria" pitchFamily="34" charset="-122"/>
                <a:cs typeface="Cambria" pitchFamily="34" charset="-120"/>
              </a:rPr>
              <a:t>Future Improvements</a:t>
            </a:r>
            <a:endParaRPr lang="en-US" sz="3200" dirty="0"/>
          </a:p>
        </p:txBody>
      </p:sp>
      <p:sp>
        <p:nvSpPr>
          <p:cNvPr id="4" name="Text 2"/>
          <p:cNvSpPr txBox="1"/>
          <p:nvPr/>
        </p:nvSpPr>
        <p:spPr>
          <a:xfrm>
            <a:off x="457200" y="4800600"/>
            <a:ext cx="82296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NexaBank Data Warehouse &amp; Analytics Pipeline   |   14</a:t>
            </a:r>
            <a:endParaRPr lang="en-US" sz="900" dirty="0"/>
          </a:p>
        </p:txBody>
      </p:sp>
      <p:sp>
        <p:nvSpPr>
          <p:cNvPr id="5" name="Shape 3"/>
          <p:cNvSpPr/>
          <p:nvPr/>
        </p:nvSpPr>
        <p:spPr>
          <a:xfrm>
            <a:off x="457200" y="1371600"/>
            <a:ext cx="2651760" cy="1554480"/>
          </a:xfrm>
          <a:prstGeom prst="roundRect">
            <a:avLst>
              <a:gd name="adj" fmla="val 4706"/>
            </a:avLst>
          </a:prstGeom>
          <a:solidFill>
            <a:srgbClr val="0A0F0C"/>
          </a:solidFill>
          <a:ln/>
        </p:spPr>
      </p:sp>
      <p:sp>
        <p:nvSpPr>
          <p:cNvPr id="6" name="Shape 4"/>
          <p:cNvSpPr/>
          <p:nvPr/>
        </p:nvSpPr>
        <p:spPr>
          <a:xfrm>
            <a:off x="640080" y="1536192"/>
            <a:ext cx="457200" cy="457200"/>
          </a:xfrm>
          <a:prstGeom prst="ellipse">
            <a:avLst/>
          </a:prstGeom>
          <a:solidFill>
            <a:srgbClr val="16A34A"/>
          </a:solidFill>
          <a:ln/>
        </p:spPr>
      </p:sp>
      <p:pic>
        <p:nvPicPr>
          <p:cNvPr id="7" name="Image 0" descr="preencoded.png">    </p:cNvPr>
          <p:cNvPicPr>
            <a:picLocks noChangeAspect="1"/>
          </p:cNvPicPr>
          <p:nvPr/>
        </p:nvPicPr>
        <p:blipFill>
          <a:blip r:embed="rId1"/>
          <a:stretch>
            <a:fillRect/>
          </a:stretch>
        </p:blipFill>
        <p:spPr>
          <a:xfrm>
            <a:off x="754380" y="1650492"/>
            <a:ext cx="228600" cy="228600"/>
          </a:xfrm>
          <a:prstGeom prst="rect">
            <a:avLst/>
          </a:prstGeom>
        </p:spPr>
      </p:pic>
      <p:sp>
        <p:nvSpPr>
          <p:cNvPr id="8" name="Text 5"/>
          <p:cNvSpPr txBox="1"/>
          <p:nvPr/>
        </p:nvSpPr>
        <p:spPr>
          <a:xfrm>
            <a:off x="1234440" y="1536192"/>
            <a:ext cx="1737360" cy="457200"/>
          </a:xfrm>
          <a:prstGeom prst="rect">
            <a:avLst/>
          </a:prstGeom>
          <a:noFill/>
          <a:ln/>
        </p:spPr>
        <p:txBody>
          <a:bodyPr wrap="square" lIns="0" tIns="0" rIns="0" bIns="0" rtlCol="0" anchor="ctr"/>
          <a:lstStyle/>
          <a:p>
            <a:pPr indent="0" marL="0">
              <a:buNone/>
            </a:pPr>
            <a:r>
              <a:rPr lang="en-US" sz="1450" b="1" dirty="0">
                <a:solidFill>
                  <a:srgbClr val="22C55E"/>
                </a:solidFill>
                <a:latin typeface="Calibri" pitchFamily="34" charset="0"/>
                <a:ea typeface="Calibri" pitchFamily="34" charset="-122"/>
                <a:cs typeface="Calibri" pitchFamily="34" charset="-120"/>
              </a:rPr>
              <a:t>SCD Type 2</a:t>
            </a:r>
            <a:endParaRPr lang="en-US" sz="1450" dirty="0"/>
          </a:p>
        </p:txBody>
      </p:sp>
      <p:sp>
        <p:nvSpPr>
          <p:cNvPr id="9" name="Text 6"/>
          <p:cNvSpPr txBox="1"/>
          <p:nvPr/>
        </p:nvSpPr>
        <p:spPr>
          <a:xfrm>
            <a:off x="640080" y="2148840"/>
            <a:ext cx="2286000" cy="73152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Keep historical records instead of overwriting, e.g. income $50K to $80K, with start and end dates</a:t>
            </a:r>
            <a:endParaRPr lang="en-US" sz="1200" dirty="0"/>
          </a:p>
        </p:txBody>
      </p:sp>
      <p:sp>
        <p:nvSpPr>
          <p:cNvPr id="10" name="Shape 7"/>
          <p:cNvSpPr/>
          <p:nvPr/>
        </p:nvSpPr>
        <p:spPr>
          <a:xfrm>
            <a:off x="3246120" y="1371600"/>
            <a:ext cx="2651760" cy="1554480"/>
          </a:xfrm>
          <a:prstGeom prst="roundRect">
            <a:avLst>
              <a:gd name="adj" fmla="val 4706"/>
            </a:avLst>
          </a:prstGeom>
          <a:solidFill>
            <a:srgbClr val="E8F5EC"/>
          </a:solidFill>
          <a:ln/>
        </p:spPr>
      </p:sp>
      <p:sp>
        <p:nvSpPr>
          <p:cNvPr id="11" name="Shape 8"/>
          <p:cNvSpPr/>
          <p:nvPr/>
        </p:nvSpPr>
        <p:spPr>
          <a:xfrm>
            <a:off x="3429000" y="1536192"/>
            <a:ext cx="457200" cy="457200"/>
          </a:xfrm>
          <a:prstGeom prst="ellipse">
            <a:avLst/>
          </a:prstGeom>
          <a:solidFill>
            <a:srgbClr val="16A34A"/>
          </a:solidFill>
          <a:ln/>
        </p:spPr>
      </p:sp>
      <p:pic>
        <p:nvPicPr>
          <p:cNvPr id="12" name="Image 1" descr="preencoded.png">    </p:cNvPr>
          <p:cNvPicPr>
            <a:picLocks noChangeAspect="1"/>
          </p:cNvPicPr>
          <p:nvPr/>
        </p:nvPicPr>
        <p:blipFill>
          <a:blip r:embed="rId2"/>
          <a:stretch>
            <a:fillRect/>
          </a:stretch>
        </p:blipFill>
        <p:spPr>
          <a:xfrm>
            <a:off x="3543300" y="1650492"/>
            <a:ext cx="228600" cy="228600"/>
          </a:xfrm>
          <a:prstGeom prst="rect">
            <a:avLst/>
          </a:prstGeom>
        </p:spPr>
      </p:pic>
      <p:sp>
        <p:nvSpPr>
          <p:cNvPr id="13" name="Text 9"/>
          <p:cNvSpPr txBox="1"/>
          <p:nvPr/>
        </p:nvSpPr>
        <p:spPr>
          <a:xfrm>
            <a:off x="4023360" y="1536192"/>
            <a:ext cx="1737360" cy="457200"/>
          </a:xfrm>
          <a:prstGeom prst="rect">
            <a:avLst/>
          </a:prstGeom>
          <a:noFill/>
          <a:ln/>
        </p:spPr>
        <p:txBody>
          <a:bodyPr wrap="square" lIns="0" tIns="0" rIns="0" bIns="0" rtlCol="0" anchor="ctr"/>
          <a:lstStyle/>
          <a:p>
            <a:pPr indent="0" marL="0">
              <a:buNone/>
            </a:pPr>
            <a:r>
              <a:rPr lang="en-US" sz="1450" b="1" dirty="0">
                <a:solidFill>
                  <a:srgbClr val="0A0F0C"/>
                </a:solidFill>
                <a:latin typeface="Calibri" pitchFamily="34" charset="0"/>
                <a:ea typeface="Calibri" pitchFamily="34" charset="-122"/>
                <a:cs typeface="Calibri" pitchFamily="34" charset="-120"/>
              </a:rPr>
              <a:t>Automated Scheduling</a:t>
            </a:r>
            <a:endParaRPr lang="en-US" sz="1450" dirty="0"/>
          </a:p>
        </p:txBody>
      </p:sp>
      <p:sp>
        <p:nvSpPr>
          <p:cNvPr id="14" name="Text 10"/>
          <p:cNvSpPr txBox="1"/>
          <p:nvPr/>
        </p:nvSpPr>
        <p:spPr>
          <a:xfrm>
            <a:off x="3429000" y="2148840"/>
            <a:ext cx="2286000" cy="731520"/>
          </a:xfrm>
          <a:prstGeom prst="rect">
            <a:avLst/>
          </a:prstGeom>
          <a:noFill/>
          <a:ln/>
        </p:spPr>
        <p:txBody>
          <a:bodyPr wrap="square" lIns="0" tIns="0" rIns="0" bIns="0" rtlCol="0" anchor="t"/>
          <a:lstStyle/>
          <a:p>
            <a:pPr indent="0" marL="0">
              <a:buNone/>
            </a:pPr>
            <a:r>
              <a:rPr lang="en-US" sz="1200" dirty="0">
                <a:solidFill>
                  <a:srgbClr val="4B5563"/>
                </a:solidFill>
                <a:latin typeface="Calibri" pitchFamily="34" charset="0"/>
                <a:ea typeface="Calibri" pitchFamily="34" charset="-122"/>
                <a:cs typeface="Calibri" pitchFamily="34" charset="-120"/>
              </a:rPr>
              <a:t>Cron jobs run the pipeline automatically every night</a:t>
            </a:r>
            <a:endParaRPr lang="en-US" sz="1200" dirty="0"/>
          </a:p>
        </p:txBody>
      </p:sp>
      <p:sp>
        <p:nvSpPr>
          <p:cNvPr id="15" name="Shape 11"/>
          <p:cNvSpPr/>
          <p:nvPr/>
        </p:nvSpPr>
        <p:spPr>
          <a:xfrm>
            <a:off x="6035040" y="1371600"/>
            <a:ext cx="2651760" cy="1554480"/>
          </a:xfrm>
          <a:prstGeom prst="roundRect">
            <a:avLst>
              <a:gd name="adj" fmla="val 4706"/>
            </a:avLst>
          </a:prstGeom>
          <a:solidFill>
            <a:srgbClr val="E8F5EC"/>
          </a:solidFill>
          <a:ln/>
        </p:spPr>
      </p:sp>
      <p:sp>
        <p:nvSpPr>
          <p:cNvPr id="16" name="Shape 12"/>
          <p:cNvSpPr/>
          <p:nvPr/>
        </p:nvSpPr>
        <p:spPr>
          <a:xfrm>
            <a:off x="6217920" y="1536192"/>
            <a:ext cx="457200" cy="457200"/>
          </a:xfrm>
          <a:prstGeom prst="ellipse">
            <a:avLst/>
          </a:prstGeom>
          <a:solidFill>
            <a:srgbClr val="16A34A"/>
          </a:solidFill>
          <a:ln/>
        </p:spPr>
      </p:sp>
      <p:pic>
        <p:nvPicPr>
          <p:cNvPr id="17" name="Image 2" descr="preencoded.png">    </p:cNvPr>
          <p:cNvPicPr>
            <a:picLocks noChangeAspect="1"/>
          </p:cNvPicPr>
          <p:nvPr/>
        </p:nvPicPr>
        <p:blipFill>
          <a:blip r:embed="rId3"/>
          <a:stretch>
            <a:fillRect/>
          </a:stretch>
        </p:blipFill>
        <p:spPr>
          <a:xfrm>
            <a:off x="6332220" y="1650492"/>
            <a:ext cx="228600" cy="228600"/>
          </a:xfrm>
          <a:prstGeom prst="rect">
            <a:avLst/>
          </a:prstGeom>
        </p:spPr>
      </p:pic>
      <p:sp>
        <p:nvSpPr>
          <p:cNvPr id="18" name="Text 13"/>
          <p:cNvSpPr txBox="1"/>
          <p:nvPr/>
        </p:nvSpPr>
        <p:spPr>
          <a:xfrm>
            <a:off x="6812280" y="1536192"/>
            <a:ext cx="1737360" cy="457200"/>
          </a:xfrm>
          <a:prstGeom prst="rect">
            <a:avLst/>
          </a:prstGeom>
          <a:noFill/>
          <a:ln/>
        </p:spPr>
        <p:txBody>
          <a:bodyPr wrap="square" lIns="0" tIns="0" rIns="0" bIns="0" rtlCol="0" anchor="ctr"/>
          <a:lstStyle/>
          <a:p>
            <a:pPr indent="0" marL="0">
              <a:buNone/>
            </a:pPr>
            <a:r>
              <a:rPr lang="en-US" sz="1450" b="1" dirty="0">
                <a:solidFill>
                  <a:srgbClr val="0A0F0C"/>
                </a:solidFill>
                <a:latin typeface="Calibri" pitchFamily="34" charset="0"/>
                <a:ea typeface="Calibri" pitchFamily="34" charset="-122"/>
                <a:cs typeface="Calibri" pitchFamily="34" charset="-120"/>
              </a:rPr>
              <a:t>Visualization Dashboard</a:t>
            </a:r>
            <a:endParaRPr lang="en-US" sz="1450" dirty="0"/>
          </a:p>
        </p:txBody>
      </p:sp>
      <p:sp>
        <p:nvSpPr>
          <p:cNvPr id="19" name="Text 14"/>
          <p:cNvSpPr txBox="1"/>
          <p:nvPr/>
        </p:nvSpPr>
        <p:spPr>
          <a:xfrm>
            <a:off x="6217920" y="2148840"/>
            <a:ext cx="2286000" cy="731520"/>
          </a:xfrm>
          <a:prstGeom prst="rect">
            <a:avLst/>
          </a:prstGeom>
          <a:noFill/>
          <a:ln/>
        </p:spPr>
        <p:txBody>
          <a:bodyPr wrap="square" lIns="0" tIns="0" rIns="0" bIns="0" rtlCol="0" anchor="t"/>
          <a:lstStyle/>
          <a:p>
            <a:pPr indent="0" marL="0">
              <a:buNone/>
            </a:pPr>
            <a:r>
              <a:rPr lang="en-US" sz="1200" dirty="0">
                <a:solidFill>
                  <a:srgbClr val="4B5563"/>
                </a:solidFill>
                <a:latin typeface="Calibri" pitchFamily="34" charset="0"/>
                <a:ea typeface="Calibri" pitchFamily="34" charset="-122"/>
                <a:cs typeface="Calibri" pitchFamily="34" charset="-120"/>
              </a:rPr>
              <a:t>Connect to Tableau or Power BI for real-time dashboards</a:t>
            </a:r>
            <a:endParaRPr lang="en-US" sz="1200" dirty="0"/>
          </a:p>
        </p:txBody>
      </p:sp>
      <p:sp>
        <p:nvSpPr>
          <p:cNvPr id="20" name="Shape 15"/>
          <p:cNvSpPr/>
          <p:nvPr/>
        </p:nvSpPr>
        <p:spPr>
          <a:xfrm>
            <a:off x="457200" y="3063240"/>
            <a:ext cx="4046220" cy="1554480"/>
          </a:xfrm>
          <a:prstGeom prst="roundRect">
            <a:avLst>
              <a:gd name="adj" fmla="val 4706"/>
            </a:avLst>
          </a:prstGeom>
          <a:solidFill>
            <a:srgbClr val="E8F5EC"/>
          </a:solidFill>
          <a:ln/>
        </p:spPr>
      </p:sp>
      <p:sp>
        <p:nvSpPr>
          <p:cNvPr id="21" name="Shape 16"/>
          <p:cNvSpPr/>
          <p:nvPr/>
        </p:nvSpPr>
        <p:spPr>
          <a:xfrm>
            <a:off x="640080" y="3227832"/>
            <a:ext cx="457200" cy="457200"/>
          </a:xfrm>
          <a:prstGeom prst="ellipse">
            <a:avLst/>
          </a:prstGeom>
          <a:solidFill>
            <a:srgbClr val="16A34A"/>
          </a:solidFill>
          <a:ln/>
        </p:spPr>
      </p:sp>
      <p:pic>
        <p:nvPicPr>
          <p:cNvPr id="22" name="Image 3" descr="preencoded.png">    </p:cNvPr>
          <p:cNvPicPr>
            <a:picLocks noChangeAspect="1"/>
          </p:cNvPicPr>
          <p:nvPr/>
        </p:nvPicPr>
        <p:blipFill>
          <a:blip r:embed="rId4"/>
          <a:stretch>
            <a:fillRect/>
          </a:stretch>
        </p:blipFill>
        <p:spPr>
          <a:xfrm>
            <a:off x="754380" y="3342132"/>
            <a:ext cx="228600" cy="228600"/>
          </a:xfrm>
          <a:prstGeom prst="rect">
            <a:avLst/>
          </a:prstGeom>
        </p:spPr>
      </p:pic>
      <p:sp>
        <p:nvSpPr>
          <p:cNvPr id="23" name="Text 17"/>
          <p:cNvSpPr txBox="1"/>
          <p:nvPr/>
        </p:nvSpPr>
        <p:spPr>
          <a:xfrm>
            <a:off x="1234440" y="3227832"/>
            <a:ext cx="3131820" cy="457200"/>
          </a:xfrm>
          <a:prstGeom prst="rect">
            <a:avLst/>
          </a:prstGeom>
          <a:noFill/>
          <a:ln/>
        </p:spPr>
        <p:txBody>
          <a:bodyPr wrap="square" lIns="0" tIns="0" rIns="0" bIns="0" rtlCol="0" anchor="ctr"/>
          <a:lstStyle/>
          <a:p>
            <a:pPr indent="0" marL="0">
              <a:buNone/>
            </a:pPr>
            <a:r>
              <a:rPr lang="en-US" sz="1450" b="1" dirty="0">
                <a:solidFill>
                  <a:srgbClr val="0A0F0C"/>
                </a:solidFill>
                <a:latin typeface="Calibri" pitchFamily="34" charset="0"/>
                <a:ea typeface="Calibri" pitchFamily="34" charset="-122"/>
                <a:cs typeface="Calibri" pitchFamily="34" charset="-120"/>
              </a:rPr>
              <a:t>Data Validation Layer</a:t>
            </a:r>
            <a:endParaRPr lang="en-US" sz="1450" dirty="0"/>
          </a:p>
        </p:txBody>
      </p:sp>
      <p:sp>
        <p:nvSpPr>
          <p:cNvPr id="24" name="Text 18"/>
          <p:cNvSpPr txBox="1"/>
          <p:nvPr/>
        </p:nvSpPr>
        <p:spPr>
          <a:xfrm>
            <a:off x="640080" y="3840480"/>
            <a:ext cx="3680460" cy="731520"/>
          </a:xfrm>
          <a:prstGeom prst="rect">
            <a:avLst/>
          </a:prstGeom>
          <a:noFill/>
          <a:ln/>
        </p:spPr>
        <p:txBody>
          <a:bodyPr wrap="square" lIns="0" tIns="0" rIns="0" bIns="0" rtlCol="0" anchor="t"/>
          <a:lstStyle/>
          <a:p>
            <a:pPr indent="0" marL="0">
              <a:buNone/>
            </a:pPr>
            <a:r>
              <a:rPr lang="en-US" sz="1200" dirty="0">
                <a:solidFill>
                  <a:srgbClr val="4B5563"/>
                </a:solidFill>
                <a:latin typeface="Calibri" pitchFamily="34" charset="0"/>
                <a:ea typeface="Calibri" pitchFamily="34" charset="-122"/>
                <a:cs typeface="Calibri" pitchFamily="34" charset="-120"/>
              </a:rPr>
              <a:t>Automated checks reject files that miss quality standards before loading</a:t>
            </a:r>
            <a:endParaRPr lang="en-US" sz="1200" dirty="0"/>
          </a:p>
        </p:txBody>
      </p:sp>
      <p:sp>
        <p:nvSpPr>
          <p:cNvPr id="25" name="Shape 19"/>
          <p:cNvSpPr/>
          <p:nvPr/>
        </p:nvSpPr>
        <p:spPr>
          <a:xfrm>
            <a:off x="4640580" y="3063240"/>
            <a:ext cx="4046220" cy="1554480"/>
          </a:xfrm>
          <a:prstGeom prst="roundRect">
            <a:avLst>
              <a:gd name="adj" fmla="val 4706"/>
            </a:avLst>
          </a:prstGeom>
          <a:solidFill>
            <a:srgbClr val="E8F5EC"/>
          </a:solidFill>
          <a:ln/>
        </p:spPr>
      </p:sp>
      <p:sp>
        <p:nvSpPr>
          <p:cNvPr id="26" name="Shape 20"/>
          <p:cNvSpPr/>
          <p:nvPr/>
        </p:nvSpPr>
        <p:spPr>
          <a:xfrm>
            <a:off x="4823460" y="3227832"/>
            <a:ext cx="457200" cy="457200"/>
          </a:xfrm>
          <a:prstGeom prst="ellipse">
            <a:avLst/>
          </a:prstGeom>
          <a:solidFill>
            <a:srgbClr val="16A34A"/>
          </a:solidFill>
          <a:ln/>
        </p:spPr>
      </p:sp>
      <p:pic>
        <p:nvPicPr>
          <p:cNvPr id="27" name="Image 4" descr="preencoded.png">    </p:cNvPr>
          <p:cNvPicPr>
            <a:picLocks noChangeAspect="1"/>
          </p:cNvPicPr>
          <p:nvPr/>
        </p:nvPicPr>
        <p:blipFill>
          <a:blip r:embed="rId5"/>
          <a:stretch>
            <a:fillRect/>
          </a:stretch>
        </p:blipFill>
        <p:spPr>
          <a:xfrm>
            <a:off x="4937760" y="3342132"/>
            <a:ext cx="228600" cy="228600"/>
          </a:xfrm>
          <a:prstGeom prst="rect">
            <a:avLst/>
          </a:prstGeom>
        </p:spPr>
      </p:pic>
      <p:sp>
        <p:nvSpPr>
          <p:cNvPr id="28" name="Text 21"/>
          <p:cNvSpPr txBox="1"/>
          <p:nvPr/>
        </p:nvSpPr>
        <p:spPr>
          <a:xfrm>
            <a:off x="5417820" y="3227832"/>
            <a:ext cx="3131820" cy="457200"/>
          </a:xfrm>
          <a:prstGeom prst="rect">
            <a:avLst/>
          </a:prstGeom>
          <a:noFill/>
          <a:ln/>
        </p:spPr>
        <p:txBody>
          <a:bodyPr wrap="square" lIns="0" tIns="0" rIns="0" bIns="0" rtlCol="0" anchor="ctr"/>
          <a:lstStyle/>
          <a:p>
            <a:pPr indent="0" marL="0">
              <a:buNone/>
            </a:pPr>
            <a:r>
              <a:rPr lang="en-US" sz="1450" b="1" dirty="0">
                <a:solidFill>
                  <a:srgbClr val="0A0F0C"/>
                </a:solidFill>
                <a:latin typeface="Calibri" pitchFamily="34" charset="0"/>
                <a:ea typeface="Calibri" pitchFamily="34" charset="-122"/>
                <a:cs typeface="Calibri" pitchFamily="34" charset="-120"/>
              </a:rPr>
              <a:t>Cloud Migration</a:t>
            </a:r>
            <a:endParaRPr lang="en-US" sz="1450" dirty="0"/>
          </a:p>
        </p:txBody>
      </p:sp>
      <p:sp>
        <p:nvSpPr>
          <p:cNvPr id="29" name="Text 22"/>
          <p:cNvSpPr txBox="1"/>
          <p:nvPr/>
        </p:nvSpPr>
        <p:spPr>
          <a:xfrm>
            <a:off x="4823460" y="3840480"/>
            <a:ext cx="3680460" cy="731520"/>
          </a:xfrm>
          <a:prstGeom prst="rect">
            <a:avLst/>
          </a:prstGeom>
          <a:noFill/>
          <a:ln/>
        </p:spPr>
        <p:txBody>
          <a:bodyPr wrap="square" lIns="0" tIns="0" rIns="0" bIns="0" rtlCol="0" anchor="t"/>
          <a:lstStyle/>
          <a:p>
            <a:pPr indent="0" marL="0">
              <a:buNone/>
            </a:pPr>
            <a:r>
              <a:rPr lang="en-US" sz="1200" dirty="0">
                <a:solidFill>
                  <a:srgbClr val="4B5563"/>
                </a:solidFill>
                <a:latin typeface="Calibri" pitchFamily="34" charset="0"/>
                <a:ea typeface="Calibri" pitchFamily="34" charset="-122"/>
                <a:cs typeface="Calibri" pitchFamily="34" charset="-120"/>
              </a:rPr>
              <a:t>Move from local MySQL to AWS RDS or Google Cloud SQL for scalability</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0F0C"/>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100" b="1" spc="300" kern="0" dirty="0">
                <a:solidFill>
                  <a:srgbClr val="86D19B"/>
                </a:solidFill>
                <a:latin typeface="Calibri" pitchFamily="34" charset="0"/>
                <a:ea typeface="Calibri" pitchFamily="34" charset="-122"/>
                <a:cs typeface="Calibri" pitchFamily="34" charset="-120"/>
              </a:rPr>
              <a:t>WRAP-UP</a:t>
            </a:r>
            <a:endParaRPr lang="en-US" sz="11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Conclusion</a:t>
            </a:r>
            <a:endParaRPr lang="en-US" sz="3200" dirty="0"/>
          </a:p>
        </p:txBody>
      </p:sp>
      <p:sp>
        <p:nvSpPr>
          <p:cNvPr id="4" name="Shape 2"/>
          <p:cNvSpPr/>
          <p:nvPr/>
        </p:nvSpPr>
        <p:spPr>
          <a:xfrm>
            <a:off x="457200" y="1417320"/>
            <a:ext cx="384048" cy="384048"/>
          </a:xfrm>
          <a:prstGeom prst="ellipse">
            <a:avLst/>
          </a:prstGeom>
          <a:solidFill>
            <a:srgbClr val="16A34A"/>
          </a:solidFill>
          <a:ln/>
        </p:spPr>
      </p:sp>
      <p:pic>
        <p:nvPicPr>
          <p:cNvPr id="5" name="Image 0" descr="preencoded.png">    </p:cNvPr>
          <p:cNvPicPr>
            <a:picLocks noChangeAspect="1"/>
          </p:cNvPicPr>
          <p:nvPr/>
        </p:nvPicPr>
        <p:blipFill>
          <a:blip r:embed="rId1"/>
          <a:stretch>
            <a:fillRect/>
          </a:stretch>
        </p:blipFill>
        <p:spPr>
          <a:xfrm>
            <a:off x="553212" y="1513332"/>
            <a:ext cx="192024" cy="192024"/>
          </a:xfrm>
          <a:prstGeom prst="rect">
            <a:avLst/>
          </a:prstGeom>
        </p:spPr>
      </p:pic>
      <p:sp>
        <p:nvSpPr>
          <p:cNvPr id="6" name="Text 3"/>
          <p:cNvSpPr txBox="1"/>
          <p:nvPr/>
        </p:nvSpPr>
        <p:spPr>
          <a:xfrm>
            <a:off x="1005840" y="1371600"/>
            <a:ext cx="4754880" cy="50292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A production-ready ETL pipeline that handles real-world messy data</a:t>
            </a:r>
            <a:endParaRPr lang="en-US" sz="1400" dirty="0"/>
          </a:p>
        </p:txBody>
      </p:sp>
      <p:sp>
        <p:nvSpPr>
          <p:cNvPr id="7" name="Shape 4"/>
          <p:cNvSpPr/>
          <p:nvPr/>
        </p:nvSpPr>
        <p:spPr>
          <a:xfrm>
            <a:off x="457200" y="2057400"/>
            <a:ext cx="384048" cy="384048"/>
          </a:xfrm>
          <a:prstGeom prst="ellipse">
            <a:avLst/>
          </a:prstGeom>
          <a:solidFill>
            <a:srgbClr val="16A34A"/>
          </a:solidFill>
          <a:ln/>
        </p:spPr>
      </p:sp>
      <p:pic>
        <p:nvPicPr>
          <p:cNvPr id="8" name="Image 1" descr="preencoded.png">    </p:cNvPr>
          <p:cNvPicPr>
            <a:picLocks noChangeAspect="1"/>
          </p:cNvPicPr>
          <p:nvPr/>
        </p:nvPicPr>
        <p:blipFill>
          <a:blip r:embed="rId2"/>
          <a:stretch>
            <a:fillRect/>
          </a:stretch>
        </p:blipFill>
        <p:spPr>
          <a:xfrm>
            <a:off x="553212" y="2153412"/>
            <a:ext cx="192024" cy="192024"/>
          </a:xfrm>
          <a:prstGeom prst="rect">
            <a:avLst/>
          </a:prstGeom>
        </p:spPr>
      </p:pic>
      <p:sp>
        <p:nvSpPr>
          <p:cNvPr id="9" name="Text 5"/>
          <p:cNvSpPr txBox="1"/>
          <p:nvPr/>
        </p:nvSpPr>
        <p:spPr>
          <a:xfrm>
            <a:off x="1005840" y="2011680"/>
            <a:ext cx="4754880" cy="50292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Processed 26,360+ records from 5 different sources automatically</a:t>
            </a:r>
            <a:endParaRPr lang="en-US" sz="1400" dirty="0"/>
          </a:p>
        </p:txBody>
      </p:sp>
      <p:sp>
        <p:nvSpPr>
          <p:cNvPr id="10" name="Shape 6"/>
          <p:cNvSpPr/>
          <p:nvPr/>
        </p:nvSpPr>
        <p:spPr>
          <a:xfrm>
            <a:off x="457200" y="2697480"/>
            <a:ext cx="384048" cy="384048"/>
          </a:xfrm>
          <a:prstGeom prst="ellipse">
            <a:avLst/>
          </a:prstGeom>
          <a:solidFill>
            <a:srgbClr val="16A34A"/>
          </a:solidFill>
          <a:ln/>
        </p:spPr>
      </p:sp>
      <p:pic>
        <p:nvPicPr>
          <p:cNvPr id="11" name="Image 2" descr="preencoded.png">    </p:cNvPr>
          <p:cNvPicPr>
            <a:picLocks noChangeAspect="1"/>
          </p:cNvPicPr>
          <p:nvPr/>
        </p:nvPicPr>
        <p:blipFill>
          <a:blip r:embed="rId3"/>
          <a:stretch>
            <a:fillRect/>
          </a:stretch>
        </p:blipFill>
        <p:spPr>
          <a:xfrm>
            <a:off x="553212" y="2793492"/>
            <a:ext cx="192024" cy="192024"/>
          </a:xfrm>
          <a:prstGeom prst="rect">
            <a:avLst/>
          </a:prstGeom>
        </p:spPr>
      </p:pic>
      <p:sp>
        <p:nvSpPr>
          <p:cNvPr id="12" name="Text 7"/>
          <p:cNvSpPr txBox="1"/>
          <p:nvPr/>
        </p:nvSpPr>
        <p:spPr>
          <a:xfrm>
            <a:off x="1005840" y="2651760"/>
            <a:ext cx="4754880" cy="50292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Delivered 8 business intelligence queries: revenue, risk, customers, channels and operations</a:t>
            </a:r>
            <a:endParaRPr lang="en-US" sz="1400" dirty="0"/>
          </a:p>
        </p:txBody>
      </p:sp>
      <p:sp>
        <p:nvSpPr>
          <p:cNvPr id="13" name="Shape 8"/>
          <p:cNvSpPr/>
          <p:nvPr/>
        </p:nvSpPr>
        <p:spPr>
          <a:xfrm>
            <a:off x="457200" y="3337560"/>
            <a:ext cx="384048" cy="384048"/>
          </a:xfrm>
          <a:prstGeom prst="ellipse">
            <a:avLst/>
          </a:prstGeom>
          <a:solidFill>
            <a:srgbClr val="16A34A"/>
          </a:solidFill>
          <a:ln/>
        </p:spPr>
      </p:sp>
      <p:pic>
        <p:nvPicPr>
          <p:cNvPr id="14" name="Image 3" descr="preencoded.png">    </p:cNvPr>
          <p:cNvPicPr>
            <a:picLocks noChangeAspect="1"/>
          </p:cNvPicPr>
          <p:nvPr/>
        </p:nvPicPr>
        <p:blipFill>
          <a:blip r:embed="rId4"/>
          <a:stretch>
            <a:fillRect/>
          </a:stretch>
        </p:blipFill>
        <p:spPr>
          <a:xfrm>
            <a:off x="553212" y="3433572"/>
            <a:ext cx="192024" cy="192024"/>
          </a:xfrm>
          <a:prstGeom prst="rect">
            <a:avLst/>
          </a:prstGeom>
        </p:spPr>
      </p:pic>
      <p:sp>
        <p:nvSpPr>
          <p:cNvPr id="15" name="Text 9"/>
          <p:cNvSpPr txBox="1"/>
          <p:nvPr/>
        </p:nvSpPr>
        <p:spPr>
          <a:xfrm>
            <a:off x="1005840" y="3291840"/>
            <a:ext cx="4754880" cy="50292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Saves the bank from hiring multiple analysts for manual data cleaning</a:t>
            </a:r>
            <a:endParaRPr lang="en-US" sz="1400" dirty="0"/>
          </a:p>
        </p:txBody>
      </p:sp>
      <p:sp>
        <p:nvSpPr>
          <p:cNvPr id="16" name="Shape 10"/>
          <p:cNvSpPr/>
          <p:nvPr/>
        </p:nvSpPr>
        <p:spPr>
          <a:xfrm>
            <a:off x="457200" y="3977640"/>
            <a:ext cx="384048" cy="384048"/>
          </a:xfrm>
          <a:prstGeom prst="ellipse">
            <a:avLst/>
          </a:prstGeom>
          <a:solidFill>
            <a:srgbClr val="16A34A"/>
          </a:solidFill>
          <a:ln/>
        </p:spPr>
      </p:sp>
      <p:pic>
        <p:nvPicPr>
          <p:cNvPr id="17" name="Image 4" descr="preencoded.png">    </p:cNvPr>
          <p:cNvPicPr>
            <a:picLocks noChangeAspect="1"/>
          </p:cNvPicPr>
          <p:nvPr/>
        </p:nvPicPr>
        <p:blipFill>
          <a:blip r:embed="rId5"/>
          <a:stretch>
            <a:fillRect/>
          </a:stretch>
        </p:blipFill>
        <p:spPr>
          <a:xfrm>
            <a:off x="553212" y="4073652"/>
            <a:ext cx="192024" cy="192024"/>
          </a:xfrm>
          <a:prstGeom prst="rect">
            <a:avLst/>
          </a:prstGeom>
        </p:spPr>
      </p:pic>
      <p:sp>
        <p:nvSpPr>
          <p:cNvPr id="18" name="Text 11"/>
          <p:cNvSpPr txBox="1"/>
          <p:nvPr/>
        </p:nvSpPr>
        <p:spPr>
          <a:xfrm>
            <a:off x="1005840" y="3931920"/>
            <a:ext cx="4754880" cy="50292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Turns raw, unusable data into a strategic competitive advantage</a:t>
            </a:r>
            <a:endParaRPr lang="en-US" sz="1400" dirty="0"/>
          </a:p>
        </p:txBody>
      </p:sp>
      <p:sp>
        <p:nvSpPr>
          <p:cNvPr id="19" name="Shape 12"/>
          <p:cNvSpPr/>
          <p:nvPr/>
        </p:nvSpPr>
        <p:spPr>
          <a:xfrm>
            <a:off x="6035040" y="1371600"/>
            <a:ext cx="2651760" cy="960120"/>
          </a:xfrm>
          <a:prstGeom prst="roundRect">
            <a:avLst>
              <a:gd name="adj" fmla="val 7619"/>
            </a:avLst>
          </a:prstGeom>
          <a:solidFill>
            <a:srgbClr val="17201A"/>
          </a:solidFill>
          <a:ln w="19050">
            <a:solidFill>
              <a:srgbClr val="16A34A"/>
            </a:solidFill>
            <a:prstDash val="solid"/>
          </a:ln>
        </p:spPr>
      </p:sp>
      <p:sp>
        <p:nvSpPr>
          <p:cNvPr id="20" name="Text 13"/>
          <p:cNvSpPr txBox="1"/>
          <p:nvPr/>
        </p:nvSpPr>
        <p:spPr>
          <a:xfrm>
            <a:off x="6035040" y="1444752"/>
            <a:ext cx="2651760" cy="548640"/>
          </a:xfrm>
          <a:prstGeom prst="rect">
            <a:avLst/>
          </a:prstGeom>
          <a:noFill/>
          <a:ln/>
        </p:spPr>
        <p:txBody>
          <a:bodyPr wrap="square" lIns="0" tIns="0" rIns="0" bIns="0" rtlCol="0" anchor="ctr"/>
          <a:lstStyle/>
          <a:p>
            <a:pPr algn="ctr" indent="0" marL="0">
              <a:buNone/>
            </a:pPr>
            <a:r>
              <a:rPr lang="en-US" sz="3200" b="1" dirty="0">
                <a:solidFill>
                  <a:srgbClr val="22C55E"/>
                </a:solidFill>
                <a:latin typeface="Cambria" pitchFamily="34" charset="0"/>
                <a:ea typeface="Cambria" pitchFamily="34" charset="-122"/>
                <a:cs typeface="Cambria" pitchFamily="34" charset="-120"/>
              </a:rPr>
              <a:t>26,360+</a:t>
            </a:r>
            <a:endParaRPr lang="en-US" sz="3200" dirty="0"/>
          </a:p>
        </p:txBody>
      </p:sp>
      <p:sp>
        <p:nvSpPr>
          <p:cNvPr id="21" name="Text 14"/>
          <p:cNvSpPr txBox="1"/>
          <p:nvPr/>
        </p:nvSpPr>
        <p:spPr>
          <a:xfrm>
            <a:off x="6035040" y="1993392"/>
            <a:ext cx="2651760" cy="274320"/>
          </a:xfrm>
          <a:prstGeom prst="rect">
            <a:avLst/>
          </a:prstGeom>
          <a:noFill/>
          <a:ln/>
        </p:spPr>
        <p:txBody>
          <a:bodyPr wrap="square" lIns="0" tIns="0" rIns="0" bIns="0" rtlCol="0" anchor="t"/>
          <a:lstStyle/>
          <a:p>
            <a:pPr algn="ctr" indent="0" marL="0">
              <a:buNone/>
            </a:pPr>
            <a:r>
              <a:rPr lang="en-US" sz="1200" dirty="0">
                <a:solidFill>
                  <a:srgbClr val="FFFFFF"/>
                </a:solidFill>
                <a:latin typeface="Calibri" pitchFamily="34" charset="0"/>
                <a:ea typeface="Calibri" pitchFamily="34" charset="-122"/>
                <a:cs typeface="Calibri" pitchFamily="34" charset="-120"/>
              </a:rPr>
              <a:t>records processed</a:t>
            </a:r>
            <a:endParaRPr lang="en-US" sz="1200" dirty="0"/>
          </a:p>
        </p:txBody>
      </p:sp>
      <p:sp>
        <p:nvSpPr>
          <p:cNvPr id="22" name="Shape 15"/>
          <p:cNvSpPr/>
          <p:nvPr/>
        </p:nvSpPr>
        <p:spPr>
          <a:xfrm>
            <a:off x="6035040" y="2468880"/>
            <a:ext cx="2651760" cy="960120"/>
          </a:xfrm>
          <a:prstGeom prst="roundRect">
            <a:avLst>
              <a:gd name="adj" fmla="val 7619"/>
            </a:avLst>
          </a:prstGeom>
          <a:solidFill>
            <a:srgbClr val="17201A"/>
          </a:solidFill>
          <a:ln w="19050">
            <a:solidFill>
              <a:srgbClr val="16A34A"/>
            </a:solidFill>
            <a:prstDash val="solid"/>
          </a:ln>
        </p:spPr>
      </p:sp>
      <p:sp>
        <p:nvSpPr>
          <p:cNvPr id="23" name="Text 16"/>
          <p:cNvSpPr txBox="1"/>
          <p:nvPr/>
        </p:nvSpPr>
        <p:spPr>
          <a:xfrm>
            <a:off x="6035040" y="2542032"/>
            <a:ext cx="2651760" cy="548640"/>
          </a:xfrm>
          <a:prstGeom prst="rect">
            <a:avLst/>
          </a:prstGeom>
          <a:noFill/>
          <a:ln/>
        </p:spPr>
        <p:txBody>
          <a:bodyPr wrap="square" lIns="0" tIns="0" rIns="0" bIns="0" rtlCol="0" anchor="ctr"/>
          <a:lstStyle/>
          <a:p>
            <a:pPr algn="ctr" indent="0" marL="0">
              <a:buNone/>
            </a:pPr>
            <a:r>
              <a:rPr lang="en-US" sz="3200" b="1" dirty="0">
                <a:solidFill>
                  <a:srgbClr val="22C55E"/>
                </a:solidFill>
                <a:latin typeface="Cambria" pitchFamily="34" charset="0"/>
                <a:ea typeface="Cambria" pitchFamily="34" charset="-122"/>
                <a:cs typeface="Cambria" pitchFamily="34" charset="-120"/>
              </a:rPr>
              <a:t>5</a:t>
            </a:r>
            <a:endParaRPr lang="en-US" sz="3200" dirty="0"/>
          </a:p>
        </p:txBody>
      </p:sp>
      <p:sp>
        <p:nvSpPr>
          <p:cNvPr id="24" name="Text 17"/>
          <p:cNvSpPr txBox="1"/>
          <p:nvPr/>
        </p:nvSpPr>
        <p:spPr>
          <a:xfrm>
            <a:off x="6035040" y="3090672"/>
            <a:ext cx="2651760" cy="274320"/>
          </a:xfrm>
          <a:prstGeom prst="rect">
            <a:avLst/>
          </a:prstGeom>
          <a:noFill/>
          <a:ln/>
        </p:spPr>
        <p:txBody>
          <a:bodyPr wrap="square" lIns="0" tIns="0" rIns="0" bIns="0" rtlCol="0" anchor="t"/>
          <a:lstStyle/>
          <a:p>
            <a:pPr algn="ctr" indent="0" marL="0">
              <a:buNone/>
            </a:pPr>
            <a:r>
              <a:rPr lang="en-US" sz="1200" dirty="0">
                <a:solidFill>
                  <a:srgbClr val="FFFFFF"/>
                </a:solidFill>
                <a:latin typeface="Calibri" pitchFamily="34" charset="0"/>
                <a:ea typeface="Calibri" pitchFamily="34" charset="-122"/>
                <a:cs typeface="Calibri" pitchFamily="34" charset="-120"/>
              </a:rPr>
              <a:t>data sources unified</a:t>
            </a:r>
            <a:endParaRPr lang="en-US" sz="1200" dirty="0"/>
          </a:p>
        </p:txBody>
      </p:sp>
      <p:sp>
        <p:nvSpPr>
          <p:cNvPr id="25" name="Shape 18"/>
          <p:cNvSpPr/>
          <p:nvPr/>
        </p:nvSpPr>
        <p:spPr>
          <a:xfrm>
            <a:off x="6035040" y="3566160"/>
            <a:ext cx="2651760" cy="960120"/>
          </a:xfrm>
          <a:prstGeom prst="roundRect">
            <a:avLst>
              <a:gd name="adj" fmla="val 7619"/>
            </a:avLst>
          </a:prstGeom>
          <a:solidFill>
            <a:srgbClr val="17201A"/>
          </a:solidFill>
          <a:ln w="19050">
            <a:solidFill>
              <a:srgbClr val="16A34A"/>
            </a:solidFill>
            <a:prstDash val="solid"/>
          </a:ln>
        </p:spPr>
      </p:sp>
      <p:sp>
        <p:nvSpPr>
          <p:cNvPr id="26" name="Text 19"/>
          <p:cNvSpPr txBox="1"/>
          <p:nvPr/>
        </p:nvSpPr>
        <p:spPr>
          <a:xfrm>
            <a:off x="6035040" y="3639312"/>
            <a:ext cx="2651760" cy="548640"/>
          </a:xfrm>
          <a:prstGeom prst="rect">
            <a:avLst/>
          </a:prstGeom>
          <a:noFill/>
          <a:ln/>
        </p:spPr>
        <p:txBody>
          <a:bodyPr wrap="square" lIns="0" tIns="0" rIns="0" bIns="0" rtlCol="0" anchor="ctr"/>
          <a:lstStyle/>
          <a:p>
            <a:pPr algn="ctr" indent="0" marL="0">
              <a:buNone/>
            </a:pPr>
            <a:r>
              <a:rPr lang="en-US" sz="3200" b="1" dirty="0">
                <a:solidFill>
                  <a:srgbClr val="22C55E"/>
                </a:solidFill>
                <a:latin typeface="Cambria" pitchFamily="34" charset="0"/>
                <a:ea typeface="Cambria" pitchFamily="34" charset="-122"/>
                <a:cs typeface="Cambria" pitchFamily="34" charset="-120"/>
              </a:rPr>
              <a:t>8</a:t>
            </a:r>
            <a:endParaRPr lang="en-US" sz="3200" dirty="0"/>
          </a:p>
        </p:txBody>
      </p:sp>
      <p:sp>
        <p:nvSpPr>
          <p:cNvPr id="27" name="Text 20"/>
          <p:cNvSpPr txBox="1"/>
          <p:nvPr/>
        </p:nvSpPr>
        <p:spPr>
          <a:xfrm>
            <a:off x="6035040" y="4187952"/>
            <a:ext cx="2651760" cy="274320"/>
          </a:xfrm>
          <a:prstGeom prst="rect">
            <a:avLst/>
          </a:prstGeom>
          <a:noFill/>
          <a:ln/>
        </p:spPr>
        <p:txBody>
          <a:bodyPr wrap="square" lIns="0" tIns="0" rIns="0" bIns="0" rtlCol="0" anchor="t"/>
          <a:lstStyle/>
          <a:p>
            <a:pPr algn="ctr" indent="0" marL="0">
              <a:buNone/>
            </a:pPr>
            <a:r>
              <a:rPr lang="en-US" sz="1200" dirty="0">
                <a:solidFill>
                  <a:srgbClr val="FFFFFF"/>
                </a:solidFill>
                <a:latin typeface="Calibri" pitchFamily="34" charset="0"/>
                <a:ea typeface="Calibri" pitchFamily="34" charset="-122"/>
                <a:cs typeface="Calibri" pitchFamily="34" charset="-120"/>
              </a:rPr>
              <a:t>BI queries delivered</a:t>
            </a:r>
            <a:endParaRPr lang="en-US" sz="1200" dirty="0"/>
          </a:p>
        </p:txBody>
      </p:sp>
      <p:sp>
        <p:nvSpPr>
          <p:cNvPr id="28" name="Text 21"/>
          <p:cNvSpPr txBox="1"/>
          <p:nvPr/>
        </p:nvSpPr>
        <p:spPr>
          <a:xfrm>
            <a:off x="457200" y="4617720"/>
            <a:ext cx="5486400" cy="274320"/>
          </a:xfrm>
          <a:prstGeom prst="rect">
            <a:avLst/>
          </a:prstGeom>
          <a:noFill/>
          <a:ln/>
        </p:spPr>
        <p:txBody>
          <a:bodyPr wrap="square" lIns="0" tIns="0" rIns="0" bIns="0" rtlCol="0" anchor="t"/>
          <a:lstStyle/>
          <a:p>
            <a:pPr indent="0" marL="0">
              <a:buNone/>
            </a:pPr>
            <a:r>
              <a:rPr lang="en-US" sz="1400" b="1" dirty="0">
                <a:solidFill>
                  <a:srgbClr val="86D19B"/>
                </a:solidFill>
                <a:latin typeface="Calibri" pitchFamily="34" charset="0"/>
                <a:ea typeface="Calibri" pitchFamily="34" charset="-122"/>
                <a:cs typeface="Calibri" pitchFamily="34" charset="-120"/>
              </a:rPr>
              <a:t>Thank you  |  Questions?</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NexaBank Data Warehouse &amp; Analytics Pipeline</dc:title>
  <dc:subject>PptxGenJS Presentation</dc:subject>
  <dc:creator>PptxGenJS</dc:creator>
  <cp:lastModifiedBy>PptxGenJS</cp:lastModifiedBy>
  <cp:revision>1</cp:revision>
  <dcterms:created xsi:type="dcterms:W3CDTF">2026-09-24T10:30:50Z</dcterms:created>
  <dcterms:modified xsi:type="dcterms:W3CDTF">2026-09-24T10:30:50Z</dcterms:modified>
</cp:coreProperties>
</file>